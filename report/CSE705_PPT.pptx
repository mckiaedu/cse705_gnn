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305"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[0:40]  slide 1 of 18</a:t>
            </a:r>
          </a:p>
          <a:p>
            <a:r>
              <a:rPr dirty="0"/>
              <a:t>Good afternoon. My name is Kiarash Ara, and this is joint work with Yiheng Wu at McMaster University.</a:t>
            </a:r>
          </a:p>
          <a:p>
            <a:r>
              <a:rPr dirty="0"/>
              <a:t>Our project studies what happens to graph neural networks when they get deeper. The short version is this. Depth does not fail in one single way. It fails differently depending on the architecture.</a:t>
            </a:r>
          </a:p>
          <a:p>
            <a:r>
              <a:rPr dirty="0"/>
              <a:t>We measured that on the Cora citation network, across four architectures, five depths, and ten random seeds. Over the next twenty minutes I will show you how we separated those failure modes, and why accuracy alone cannot do it.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[1:00]  slide 2 of 18</a:t>
            </a:r>
          </a:p>
          <a:p>
            <a:r>
              <a:rPr dirty="0"/>
              <a:t>Let me start with why depth matters at all.</a:t>
            </a:r>
          </a:p>
          <a:p>
            <a:r>
              <a:rPr dirty="0"/>
              <a:t>A graph neural network passes messages between connected nodes. Each layer lets a node see one hop further into the graph. So depth is how the model widens its view.</a:t>
            </a:r>
          </a:p>
          <a:p>
            <a:r>
              <a:rPr dirty="0"/>
              <a:t>For a graph convolutional network, one layer looks like the equation on the screen. We multiply by a normalized propagation operator, multiply by a weight matrix, and apply a nonlinearity.</a:t>
            </a:r>
          </a:p>
          <a:p>
            <a:r>
              <a:rPr dirty="0"/>
              <a:t>The problem is that applying that operator again and again pulls node representations toward one another. Nodes that started out different become similar.</a:t>
            </a:r>
          </a:p>
          <a:p>
            <a:r>
              <a:rPr dirty="0"/>
              <a:t>The panel on the left illustrates that on a small toy graph. It is only an illustration. Every claim I make after this slide comes from measurements on Cora. The question we asked is whether that contraction looks the same for every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[1:05]  slide 3 of 18</a:t>
            </a:r>
          </a:p>
          <a:p>
            <a:r>
              <a:rPr dirty="0"/>
              <a:t>This slide is the reason the project is designed the way it is.</a:t>
            </a:r>
          </a:p>
          <a:p>
            <a:r>
              <a:rPr dirty="0"/>
              <a:t>Suppose a deep model performs badly. There are two very different explanations.</a:t>
            </a:r>
          </a:p>
          <a:p>
            <a:r>
              <a:rPr dirty="0"/>
              <a:t>The first is that the model never trained. The optimizer never moved the weights. Whatever the representation looks like, it is what random propagation produced, not what learning produced.</a:t>
            </a:r>
          </a:p>
          <a:p>
            <a:r>
              <a:rPr dirty="0"/>
              <a:t>The second is that the model did train, and then repeated propagation contracted what it had learned.</a:t>
            </a:r>
          </a:p>
          <a:p>
            <a:r>
              <a:rPr dirty="0"/>
              <a:t>Here is the difficulty. Both of these end up at roughly the same accuracy, near the majority-class floor. If you only look at the final accuracy number, the two are indistinguishable.</a:t>
            </a:r>
          </a:p>
          <a:p>
            <a:r>
              <a:rPr dirty="0"/>
              <a:t>The only way to tell them apart is to look inside the model, and to look before training as well as after. That is exactly what our measurement design does.</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[1:00]  slide 4 of 18</a:t>
            </a:r>
          </a:p>
          <a:p>
            <a:r>
              <a:rPr dirty="0"/>
              <a:t>So the primary question is this. How does depth change both predictive behavior and the geometry of the hidden representations?</a:t>
            </a:r>
          </a:p>
          <a:p>
            <a:r>
              <a:rPr dirty="0"/>
              <a:t>We compare across two to thirty-two layers, holding the data and the training protocol fixed, so that depth is the only thing that moves.</a:t>
            </a:r>
          </a:p>
          <a:p>
            <a:r>
              <a:rPr dirty="0"/>
              <a:t>We test three hypotheses. The first is that accuracy degrades unevenly across architectures. The second is that geometric collapse is not the same thing in every model. The third is that the mitigation which works depends on which failure mechanism is actually present.</a:t>
            </a:r>
          </a:p>
          <a:p>
            <a:r>
              <a:rPr dirty="0"/>
              <a:t>These are stated in advance. They tell you what would count as a result before you see any of the numbers.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[0:55]  slide 5 of 18</a:t>
            </a:r>
          </a:p>
          <a:p>
            <a:r>
              <a:rPr dirty="0"/>
              <a:t>All experiments run on Cora. It is a citation network. Each node is a scientific paper, and each edge is a citation between two papers.</a:t>
            </a:r>
          </a:p>
          <a:p>
            <a:r>
              <a:rPr dirty="0"/>
              <a:t>There are two thousand seven hundred and eight papers, five thousand two hundred and seventy-eight citation links, and seven research topics to predict. Each paper is described by one thousand four hundred and thirty-three binary word features.</a:t>
            </a:r>
          </a:p>
          <a:p>
            <a:r>
              <a:rPr dirty="0"/>
              <a:t>We use the standard public split. One hundred and forty labeled nodes for training, five hundred for validation, and one thousand for testing.</a:t>
            </a:r>
          </a:p>
          <a:p>
            <a:r>
              <a:rPr dirty="0"/>
              <a:t>One hundred and forty labels is a very small number. That is deliberate. It makes the quality of the learned representation matter.</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[1:00]  slide 6 of 18</a:t>
            </a:r>
          </a:p>
          <a:p>
            <a:r>
              <a:rPr dirty="0"/>
              <a:t>We compare four architectures, chosen because they aggregate information in genuinely different ways.</a:t>
            </a:r>
          </a:p>
          <a:p>
            <a:r>
              <a:rPr dirty="0"/>
              <a:t>GCN uses symmetric normalized propagation. It is our reference point for depth-induced contraction.</a:t>
            </a:r>
          </a:p>
          <a:p>
            <a:r>
              <a:rPr dirty="0"/>
              <a:t>GraphSAGE keeps the node's own features in a separate term from the neighborhood average, so self information and neighbor information are handled separately.</a:t>
            </a:r>
          </a:p>
          <a:p>
            <a:r>
              <a:rPr dirty="0"/>
              <a:t>GAT learns attention weights over neighbors. That lets us ask whether adaptive weighting delays collapse.</a:t>
            </a:r>
          </a:p>
          <a:p>
            <a:r>
              <a:rPr dirty="0"/>
              <a:t>GCNII is different in kind. It reintroduces the initial representation at every layer and adds an identity mapping. It was designed specifically to make depth work. So GCNII is not simply a fourth baseline. It is a control that tells us what happens when information is deliberately preserved.</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[1:05]  slide 7 of 18</a:t>
            </a:r>
          </a:p>
          <a:p>
            <a:r>
              <a:rPr dirty="0"/>
              <a:t>The experimental design has three parts.</a:t>
            </a:r>
          </a:p>
          <a:p>
            <a:r>
              <a:rPr dirty="0"/>
              <a:t>The first is the depth sweep. Four architectures, five depths from two to thirty-two, and ten independent random seeds for every configuration. Every number I report is a mean over ten seeds.</a:t>
            </a:r>
          </a:p>
          <a:p>
            <a:r>
              <a:rPr dirty="0"/>
              <a:t>The second is the diagnostics. Alongside test accuracy we record two representation measures, mean average distance and Dirichlet energy. We record them at three points in every run: at initialization before any gradient step, at the checkpoint we actually report, and at the final epoch.</a:t>
            </a:r>
          </a:p>
          <a:p>
            <a:r>
              <a:rPr dirty="0"/>
              <a:t>The third is the interventions. We test residual connections, PairNorm, and Jumping Knowledge on top of GCN, and we treat GCNII as the architectural control.</a:t>
            </a:r>
          </a:p>
          <a:p>
            <a:r>
              <a:rPr dirty="0"/>
              <a:t>In total this is five hundred and thirty-four training runs, and every figure in the report regenerates from the stored records.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[1:15]  slide 8 of 18</a:t>
            </a:r>
          </a:p>
          <a:p>
            <a:r>
              <a:rPr dirty="0"/>
              <a:t>These are the two instruments. The important thing is that they do not measure the same property.</a:t>
            </a:r>
          </a:p>
          <a:p>
            <a:r>
              <a:rPr dirty="0"/>
              <a:t>Mean average distance, which I will call MAD, is built from cosine distance between node representations. It asks whether nodes point in the same direction. It is scale invariant. If you multiply every node representation by a positive number, MAD does not change.</a:t>
            </a:r>
          </a:p>
          <a:p>
            <a:r>
              <a:rPr dirty="0"/>
              <a:t>Dirichlet energy asks something different. It measures how much representations differ across the edges of the graph, with degree normalization. It is quadratic in magnitude. If you scale the representation by c, the energy scales by c squared.</a:t>
            </a:r>
          </a:p>
          <a:p>
            <a:r>
              <a:rPr dirty="0"/>
              <a:t>So one metric sees direction and ignores size. The other sees both.</a:t>
            </a:r>
          </a:p>
          <a:p>
            <a:r>
              <a:rPr dirty="0"/>
              <a:t>That difference is deliberate. It means that when the two metrics disagree, the disagreement is informative rather than contradictory. Later in the talk I will show you a case where they disagree completely, and where that disagreement is the finding.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[1:15]  slide 9 of 18</a:t>
            </a:r>
          </a:p>
          <a:p>
            <a:r>
              <a:rPr dirty="0"/>
              <a:t>Here is the first result.</a:t>
            </a:r>
          </a:p>
          <a:p>
            <a:r>
              <a:rPr dirty="0"/>
              <a:t>All three conventional architectures peak at depth two. By depth four they have already lost between four and eight accuracy points. Beyond that they fall steeply.</a:t>
            </a:r>
          </a:p>
          <a:p>
            <a:r>
              <a:rPr dirty="0"/>
              <a:t>At depth thirty-two, all three sit below thirty-one point nine percent. That number is the majority-class floor. It is the accuracy you get by ignoring the input entirely and always predicting the most common class. So these deep models are worse than a rule that does not look at the data at all.</a:t>
            </a:r>
          </a:p>
          <a:p>
            <a:r>
              <a:rPr dirty="0"/>
              <a:t>Macro-F1 is worse still. GCN reaches zero point two one, GraphSAGE zero point zero five, GAT zero point zero five. That tells us the predictions concentrate onto a few classes rather than spreading errors evenly.</a:t>
            </a:r>
          </a:p>
          <a:p>
            <a:r>
              <a:rPr dirty="0"/>
              <a:t>And then there is GCNII, on the right: eighty-three point three percent at thirty-two layers. That is its best result, at the greatest depth we tested. So depth is not uniformly harmful. It depends on the architecture.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[1:05]  slide 10 of 18</a:t>
            </a:r>
          </a:p>
          <a:p>
            <a:r>
              <a:rPr dirty="0"/>
              <a:t>Now the same runs, viewed through geometry rather than accuracy.</a:t>
            </a:r>
          </a:p>
          <a:p>
            <a:r>
              <a:rPr dirty="0"/>
              <a:t>This is MAD against depth. GraphSAGE and GAT fall to essentially zero. Their node representations end up pointing in the same direction. That is directional collapse.</a:t>
            </a:r>
          </a:p>
          <a:p>
            <a:r>
              <a:rPr dirty="0"/>
              <a:t>GCN does not. It holds around zero point one eight even at thirty-two layers.</a:t>
            </a:r>
          </a:p>
          <a:p>
            <a:r>
              <a:rPr dirty="0"/>
              <a:t>But look back at the previous slide. All three lost roughly the same amount of accuracy.</a:t>
            </a:r>
          </a:p>
          <a:p>
            <a:r>
              <a:rPr dirty="0"/>
              <a:t>So we have architectures with similar accuracy and completely different internal states. Accuracy is not telling us what happened inside the model. This is the point where a study that reported accuracy alone would have to stop.</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[1:30]  slide 11 of 18</a:t>
            </a:r>
          </a:p>
          <a:p>
            <a:r>
              <a:rPr dirty="0"/>
              <a:t>This is the central result of the project. At depth thirty-two, GraphSAGE and GAT do not train at all.</a:t>
            </a:r>
          </a:p>
          <a:p>
            <a:r>
              <a:rPr dirty="0"/>
              <a:t>The number on the left is the natural logarithm of seven, about one point nine five. That is the cross-entropy loss of a model that outputs a uniform guess over seven classes. It is the loss of knowing nothing.</a:t>
            </a:r>
          </a:p>
          <a:p>
            <a:r>
              <a:rPr dirty="0"/>
              <a:t>GraphSAGE bottoms out at one point nine three. GAT at one point nine four. That is a movement of one or two hundredths of a nat. In practical terms, the loss does not move.</a:t>
            </a:r>
          </a:p>
          <a:p>
            <a:r>
              <a:rPr dirty="0"/>
              <a:t>The second signal is early stopping. We allow one hundred epochs of patience. GraphSAGE and GAT exhaust it almost immediately, between one hundred and one hundred and sixty-eight epochs. GCN, by comparison, runs for three hundred to nearly nine hundred.</a:t>
            </a:r>
          </a:p>
          <a:p>
            <a:r>
              <a:rPr dirty="0"/>
              <a:t>The third signal is the representation itself. Their MAD at the checkpoint is the same as their MAD before training started.</a:t>
            </a:r>
          </a:p>
          <a:p>
            <a:r>
              <a:rPr dirty="0"/>
              <a:t>Three measurements, none of them computed from the others, all saying the same thing. The weights never moved. So calling this oversmoothing would be wrong. Nothing was learned, so there was nothing to oversmooth.</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[1:10]  slide 12 of 18</a:t>
            </a:r>
          </a:p>
          <a:p>
            <a:r>
              <a:rPr dirty="0"/>
              <a:t>Let me now separate what the architecture does from what training does.</a:t>
            </a:r>
          </a:p>
          <a:p>
            <a:r>
              <a:rPr dirty="0"/>
              <a:t>The epoch-zero capture is taken before any gradient step. The weights are random. So anything we see here is caused by the propagation operator and the initialization, not by learning.</a:t>
            </a:r>
          </a:p>
          <a:p>
            <a:r>
              <a:rPr dirty="0"/>
              <a:t>At epoch zero, GCN and GAT lose both direction and magnitude as depth increases. Their energy ratio falls by about twelve and ten orders of magnitude by depth thirty-two.</a:t>
            </a:r>
          </a:p>
          <a:p>
            <a:r>
              <a:rPr dirty="0"/>
              <a:t>GraphSAGE behaves differently. Its MAD collapses, but its energy does not vanish. It settles around nineteen.</a:t>
            </a:r>
          </a:p>
          <a:p>
            <a:r>
              <a:rPr dirty="0"/>
              <a:t>That is a strange combination, and it is the subject of the next slide. The checkpoint and final captures then tell us what training changed.</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[1:20]  slide 13 of 18</a:t>
            </a:r>
          </a:p>
          <a:p>
            <a:r>
              <a:rPr dirty="0"/>
              <a:t>So why do GraphSAGE's two metrics disagree?</a:t>
            </a:r>
          </a:p>
          <a:p>
            <a:r>
              <a:rPr dirty="0"/>
              <a:t>We ran a singular value decomposition on its representations at depth sixteen, across three seeds.</a:t>
            </a:r>
          </a:p>
          <a:p>
            <a:r>
              <a:rPr dirty="0"/>
              <a:t>The result is that the representation is exactly rank one. The top singular value carries the entire energy, a fraction of one point zero zero zero zero. Every node lies on a single line.</a:t>
            </a:r>
          </a:p>
          <a:p>
            <a:r>
              <a:rPr dirty="0"/>
              <a:t>The question is which line. Its top singular vector matches the constant direction with cosine one point zero zero zero zero. Against the square root of degree direction it is zero point nine five.</a:t>
            </a:r>
          </a:p>
          <a:p>
            <a:r>
              <a:rPr dirty="0"/>
              <a:t>Here is why that matters. Dirichlet energy is zero only on the null space of the graph Laplacian. On Cora, node degrees range from two to one hundred and sixty-nine. Because the graph is irregular, that null space is the square root of degree direction, not the constant vector.</a:t>
            </a:r>
          </a:p>
          <a:p>
            <a:r>
              <a:rPr dirty="0"/>
              <a:t>So GraphSAGE collapses onto a direction where energy is not zero. Its representations align completely, MAD goes to zero, and the energy stays high. Both metrics are correct. They are answering different questions.</a:t>
            </a:r>
          </a:p>
          <a:p>
            <a:endParaRPr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[1:10]  slide 14 of 18</a:t>
            </a:r>
          </a:p>
          <a:p>
            <a:r>
              <a:rPr dirty="0"/>
              <a:t>GCN at depth thirty-two does something different again.</a:t>
            </a:r>
          </a:p>
          <a:p>
            <a:r>
              <a:rPr dirty="0"/>
              <a:t>If we look at energy layer by layer at the checkpoint, the early layers have essentially collapsed. Their energy sits below our numerical floor of ten to the minus twelve, typically for the first twenty-two to twenty-eight of the thirty-one measured layers.</a:t>
            </a:r>
          </a:p>
          <a:p>
            <a:r>
              <a:rPr dirty="0"/>
              <a:t>Then, near the output, the energy grows by many orders of magnitude. So the model contracts and then amplifies. Across the whole band the energy ratio spans twenty-six orders of magnitude between seeds.</a:t>
            </a:r>
          </a:p>
          <a:p>
            <a:r>
              <a:rPr dirty="0"/>
              <a:t>Nine of the ten seeds show this pattern, so it is reproducible rather than one unlucky run.</a:t>
            </a:r>
          </a:p>
          <a:p>
            <a:r>
              <a:rPr dirty="0"/>
              <a:t>I want to be careful here. We can see the pattern clearly. We did not record per-layer gradients, so we cannot tell you the parameter-level cause. That is recorded as an open question.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[1:05]  slide 15 of 18</a:t>
            </a:r>
          </a:p>
          <a:p>
            <a:r>
              <a:rPr dirty="0"/>
              <a:t>Given all of that, what actually helps?</a:t>
            </a:r>
          </a:p>
          <a:p>
            <a:r>
              <a:rPr dirty="0"/>
              <a:t>We tested three mitigations on GCN at depth thirty-two, against an unmitigated baseline of twenty-four percent.</a:t>
            </a:r>
          </a:p>
          <a:p>
            <a:r>
              <a:rPr dirty="0"/>
              <a:t>Jumping Knowledge is the clear winner at seventy-three percent. It changes the readout rather than the propagation, so the classifier can draw on earlier layers instead of only the deepest one.</a:t>
            </a:r>
          </a:p>
          <a:p>
            <a:r>
              <a:rPr dirty="0"/>
              <a:t>PairNorm reaches fifty-eight percent. It works directly on the geometry, rescaling representations so their spread does not shrink with depth.</a:t>
            </a:r>
          </a:p>
          <a:p>
            <a:r>
              <a:rPr dirty="0"/>
              <a:t>Residual connections alone reach nineteen percent, which is below the baseline. Combining PairNorm with residual is also worse than PairNorm by itself.</a:t>
            </a:r>
          </a:p>
          <a:p>
            <a:r>
              <a:rPr dirty="0"/>
              <a:t>So these are not interchangeable tools. They target different mechanisms, and combining them does not simply add their benefits.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[1:15]  slide 16 of 18</a:t>
            </a:r>
          </a:p>
          <a:p>
            <a:r>
              <a:rPr dirty="0"/>
              <a:t>Jumping Knowledge won on GCN, so we carried it to the other two architectures. Same mitigation, same protocol, ten seeds each.</a:t>
            </a:r>
          </a:p>
          <a:p>
            <a:r>
              <a:rPr dirty="0"/>
              <a:t>On GAT it works. Seventy-two percent, essentially matching GCN's seventy-three. The macro-F1 values are almost identical as well.</a:t>
            </a:r>
          </a:p>
          <a:p>
            <a:r>
              <a:rPr dirty="0"/>
              <a:t>On GraphSAGE it does not. It reaches forty percent. That is a real improvement, and all ten seeds sit above the majority-class floor, so I do not want to dismiss it. But it is about a third of what the same mitigation achieves on the other two.</a:t>
            </a:r>
          </a:p>
          <a:p>
            <a:r>
              <a:rPr dirty="0"/>
              <a:t>The macro-F1 tells you more. Zero point two six, against zero point seven two for the other two. So even the accuracy it does recover is not spread evenly across the seven classes.</a:t>
            </a:r>
          </a:p>
          <a:p>
            <a:r>
              <a:rPr dirty="0"/>
              <a:t>The conclusion is that you cannot choose a mitigation from the depth alone. It depends on which architecture you are trying to fix.</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[1:05]  slide 17 of 18</a:t>
            </a:r>
          </a:p>
          <a:p>
            <a:r>
              <a:rPr dirty="0"/>
              <a:t>That brings me back to GCNII, the one architecture that improved with depth.</a:t>
            </a:r>
          </a:p>
          <a:p>
            <a:r>
              <a:rPr dirty="0"/>
              <a:t>GCNII does two things. It reintroduces the original input representation at every layer, and it adds an identity mapping that limits how much each layer can transform its input.</a:t>
            </a:r>
          </a:p>
          <a:p>
            <a:r>
              <a:rPr dirty="0"/>
              <a:t>The outcome is eighty-three point three percent at thirty-two layers. That is its best result, at the greatest depth tested, and with the tightest spread across seeds of any depth.</a:t>
            </a:r>
          </a:p>
          <a:p>
            <a:r>
              <a:rPr dirty="0"/>
              <a:t>Its contraction slope also stays flat, within roughly plus or minus zero point four at every depth, where GCN's runs from about plus one point six to plus two point five.</a:t>
            </a:r>
          </a:p>
          <a:p>
            <a:r>
              <a:rPr dirty="0"/>
              <a:t>This is consistent with the idea that preserving information across layers is what makes depth usable. I want to say clearly that it is consistent with, and not proof of. We did not inspect GCNII's own gradients.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[1:05]  slide 18 of 18</a:t>
            </a:r>
          </a:p>
          <a:p>
            <a:r>
              <a:rPr dirty="0"/>
              <a:t>Three conclusions.</a:t>
            </a:r>
          </a:p>
          <a:p>
            <a:r>
              <a:rPr dirty="0"/>
              <a:t>First, depth-related failure is architecture-specific. Two of our architectures never trained at depth thirty-two. One trained and then developed a contract-then-amplify signature. Treating those as the same phenomenon would be a mistake.</a:t>
            </a:r>
          </a:p>
          <a:p>
            <a:r>
              <a:rPr dirty="0"/>
              <a:t>Second, accuracy and representation geometry have to be read together, and measured before training as well as after. That is what allowed us to separate a model that never learned from one that learned and then collapsed.</a:t>
            </a:r>
          </a:p>
          <a:p>
            <a:r>
              <a:rPr dirty="0"/>
              <a:t>Third, the effective mitigation depends on the architecture. Jumping Knowledge transferred to GAT and not to GraphSAGE.</a:t>
            </a:r>
          </a:p>
          <a:p>
            <a:r>
              <a:rPr dirty="0"/>
              <a:t>On scope, this is one dataset, one split, and ten seeds. We do not claim a universal depth limit. What we think transfers is the method, not the numbers.</a:t>
            </a:r>
          </a:p>
          <a:p>
            <a:r>
              <a:rPr dirty="0"/>
              <a:t>Thank you. I am happy to take questions.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5" name="cover-kicker">
            <a:extLst>
              <a:ext uri="{FF2B5EF4-FFF2-40B4-BE49-F238E27FC236}">
                <a16:creationId xmlns:a16="http://schemas.microsoft.com/office/drawing/2014/main" id="{98B71F65-2938-4749-9F2A-05E769D8064E}"/>
              </a:ext>
            </a:extLst>
          </p:cNvPr>
          <p:cNvSpPr>
            <a:spLocks noGrp="1"/>
          </p:cNvSpPr>
          <p:nvPr/>
        </p:nvSpPr>
        <p:spPr>
          <a:xfrm>
            <a:off x="571500" y="495300"/>
            <a:ext cx="54292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800" b="1">
                <a:solidFill>
                  <a:srgbClr val="3D8DFF"/>
                </a:solidFill>
                <a:latin typeface="Arial"/>
                <a:ea typeface="Arial"/>
                <a:cs typeface="Arial"/>
              </a:defRPr>
            </a:pPr>
            <a:r>
              <a:rPr sz="1500" b="1" dirty="0">
                <a:solidFill>
                  <a:srgbClr val="38BDF8"/>
                </a:solidFill>
                <a:latin typeface="Arial"/>
                <a:ea typeface="Arial"/>
                <a:cs typeface="Arial"/>
              </a:rPr>
              <a:t>CSE 705 · </a:t>
            </a:r>
            <a:r>
              <a:rPr lang="en-US" sz="1500" b="1" dirty="0">
                <a:solidFill>
                  <a:srgbClr val="38BDF8"/>
                </a:solidFill>
                <a:latin typeface="Arial"/>
                <a:ea typeface="Arial"/>
                <a:cs typeface="Arial"/>
              </a:rPr>
              <a:t>Deep Learning</a:t>
            </a:r>
            <a:endParaRPr sz="1500" b="1" dirty="0">
              <a:solidFill>
                <a:srgbClr val="38BDF8"/>
              </a:solidFill>
              <a:latin typeface="Arial"/>
              <a:ea typeface="Arial"/>
              <a:cs typeface="Arial"/>
            </a:endParaRPr>
          </a:p>
        </p:txBody>
      </p:sp>
      <p:sp>
        <p:nvSpPr>
          <p:cNvPr id="2" name="cover-title">
            <a:extLst>
              <a:ext uri="{FF2B5EF4-FFF2-40B4-BE49-F238E27FC236}">
                <a16:creationId xmlns:a16="http://schemas.microsoft.com/office/drawing/2014/main" id="{EA2C7C3B-5FEE-499C-9393-EDBA4AFAAA4C}"/>
              </a:ext>
            </a:extLst>
          </p:cNvPr>
          <p:cNvSpPr>
            <a:spLocks noGrp="1"/>
          </p:cNvSpPr>
          <p:nvPr/>
        </p:nvSpPr>
        <p:spPr>
          <a:xfrm>
            <a:off x="571500" y="1504950"/>
            <a:ext cx="9239250" cy="2381250"/>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5400" b="1">
                <a:solidFill>
                  <a:srgbClr val="111111"/>
                </a:solidFill>
                <a:latin typeface="Arial"/>
                <a:ea typeface="Arial"/>
                <a:cs typeface="Arial"/>
              </a:defRPr>
            </a:pPr>
            <a:r>
              <a:rPr sz="5850" b="1">
                <a:solidFill>
                  <a:srgbClr val="F8FAFC"/>
                </a:solidFill>
                <a:latin typeface="Arial"/>
                <a:ea typeface="Arial"/>
                <a:cs typeface="Arial"/>
              </a:rPr>
              <a:t>Architecture-dependent</a:t>
            </a:r>
          </a:p>
          <a:p>
            <a:pPr algn="l">
              <a:buNone/>
              <a:defRPr sz="5400" b="1">
                <a:solidFill>
                  <a:srgbClr val="111111"/>
                </a:solidFill>
                <a:latin typeface="Arial"/>
                <a:ea typeface="Arial"/>
                <a:cs typeface="Arial"/>
              </a:defRPr>
            </a:pPr>
            <a:r>
              <a:rPr sz="5850" b="1">
                <a:solidFill>
                  <a:srgbClr val="F8FAFC"/>
                </a:solidFill>
                <a:latin typeface="Arial"/>
                <a:ea typeface="Arial"/>
                <a:cs typeface="Arial"/>
              </a:rPr>
              <a:t>deep GNN oversmoothing</a:t>
            </a:r>
          </a:p>
        </p:txBody>
      </p:sp>
      <p:sp>
        <p:nvSpPr>
          <p:cNvPr id="3" name="cover-accent">
            <a:extLst>
              <a:ext uri="{FF2B5EF4-FFF2-40B4-BE49-F238E27FC236}">
                <a16:creationId xmlns:a16="http://schemas.microsoft.com/office/drawing/2014/main" id="{69102AEB-C7DB-493F-B3C2-08EDB0D3E81F}"/>
              </a:ext>
            </a:extLst>
          </p:cNvPr>
          <p:cNvSpPr>
            <a:spLocks noGrp="1"/>
          </p:cNvSpPr>
          <p:nvPr/>
        </p:nvSpPr>
        <p:spPr>
          <a:xfrm>
            <a:off x="571500" y="4248150"/>
            <a:ext cx="2571750" cy="66675"/>
          </a:xfrm>
          <a:prstGeom prst="rect">
            <a:avLst/>
          </a:prstGeom>
          <a:solidFill>
            <a:srgbClr val="9B87F5"/>
          </a:solidFill>
          <a:ln w="0">
            <a:solidFill>
              <a:srgbClr val="000000">
                <a:alpha val="0"/>
              </a:srgbClr>
            </a:solidFill>
            <a:prstDash val="solid"/>
          </a:ln>
        </p:spPr>
      </p:sp>
      <p:sp>
        <p:nvSpPr>
          <p:cNvPr id="4" name="cover-subtitle">
            <a:extLst>
              <a:ext uri="{FF2B5EF4-FFF2-40B4-BE49-F238E27FC236}">
                <a16:creationId xmlns:a16="http://schemas.microsoft.com/office/drawing/2014/main" id="{2C111EF6-24E2-40F9-8844-C153C9D3299F}"/>
              </a:ext>
            </a:extLst>
          </p:cNvPr>
          <p:cNvSpPr>
            <a:spLocks noGrp="1"/>
          </p:cNvSpPr>
          <p:nvPr/>
        </p:nvSpPr>
        <p:spPr>
          <a:xfrm>
            <a:off x="571500" y="4667250"/>
            <a:ext cx="9048750" cy="1066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950" b="0">
                <a:solidFill>
                  <a:srgbClr val="5F6368"/>
                </a:solidFill>
                <a:latin typeface="Arial"/>
                <a:ea typeface="Arial"/>
                <a:cs typeface="Arial"/>
              </a:defRPr>
            </a:pPr>
            <a:r>
              <a:rPr sz="1800" b="0">
                <a:solidFill>
                  <a:srgbClr val="D6E0ED"/>
                </a:solidFill>
                <a:latin typeface="Arial"/>
                <a:ea typeface="Arial"/>
                <a:cs typeface="Arial"/>
              </a:rPr>
              <a:t>A controlled analysis of depth, representation geometry, and mitigation on Cora</a:t>
            </a:r>
          </a:p>
          <a:p>
            <a:pPr algn="l">
              <a:buNone/>
              <a:defRPr sz="1950" b="0">
                <a:solidFill>
                  <a:srgbClr val="5F6368"/>
                </a:solidFill>
                <a:latin typeface="Arial"/>
                <a:ea typeface="Arial"/>
                <a:cs typeface="Arial"/>
              </a:defRPr>
            </a:pPr>
            <a:r>
              <a:rPr sz="1800" b="0">
                <a:solidFill>
                  <a:srgbClr val="D6E0ED"/>
                </a:solidFill>
                <a:latin typeface="Arial"/>
                <a:ea typeface="Arial"/>
                <a:cs typeface="Arial"/>
              </a:rPr>
              <a:t>Kiarash Ara · Yiheng Wu · McMaster University</a:t>
            </a:r>
          </a:p>
        </p:txBody>
      </p:sp>
    </p:spTree>
    <p:extLst>
      <p:ext uri="{BB962C8B-B14F-4D97-AF65-F5344CB8AC3E}">
        <p14:creationId xmlns:p14="http://schemas.microsoft.com/office/powerpoint/2010/main" val="954353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0" name="s2-title">
            <a:extLst>
              <a:ext uri="{FF2B5EF4-FFF2-40B4-BE49-F238E27FC236}">
                <a16:creationId xmlns:a16="http://schemas.microsoft.com/office/drawing/2014/main" id="{FC8CD823-6301-4DB5-87F4-29C4A60BE07F}"/>
              </a:ext>
            </a:extLst>
          </p:cNvPr>
          <p:cNvSpPr>
            <a:spLocks noGrp="1"/>
          </p:cNvSpPr>
          <p:nvPr/>
        </p:nvSpPr>
        <p:spPr>
          <a:xfrm>
            <a:off x="476250" y="304800"/>
            <a:ext cx="55245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850" b="1">
                <a:solidFill>
                  <a:srgbClr val="111111"/>
                </a:solidFill>
                <a:latin typeface="Arial"/>
                <a:ea typeface="Arial"/>
                <a:cs typeface="Arial"/>
              </a:defRPr>
            </a:pPr>
            <a:r>
              <a:rPr sz="2775" b="1">
                <a:solidFill>
                  <a:srgbClr val="F8FAFC"/>
                </a:solidFill>
                <a:latin typeface="Arial"/>
                <a:ea typeface="Arial"/>
                <a:cs typeface="Arial"/>
              </a:rPr>
              <a:t>The depth–expressivity trade-off in message-passing GNNs</a:t>
            </a:r>
          </a:p>
        </p:txBody>
      </p:sp>
      <p:sp>
        <p:nvSpPr>
          <p:cNvPr id="2" name="s2-accent">
            <a:extLst>
              <a:ext uri="{FF2B5EF4-FFF2-40B4-BE49-F238E27FC236}">
                <a16:creationId xmlns:a16="http://schemas.microsoft.com/office/drawing/2014/main" id="{8B18254D-06F5-4F14-BD88-11C5000CCC13}"/>
              </a:ext>
            </a:extLst>
          </p:cNvPr>
          <p:cNvSpPr>
            <a:spLocks noGrp="1"/>
          </p:cNvSpPr>
          <p:nvPr/>
        </p:nvSpPr>
        <p:spPr>
          <a:xfrm>
            <a:off x="476250" y="1381125"/>
            <a:ext cx="1200150" cy="47625"/>
          </a:xfrm>
          <a:prstGeom prst="rect">
            <a:avLst/>
          </a:prstGeom>
          <a:solidFill>
            <a:srgbClr val="38BDF8"/>
          </a:solidFill>
          <a:ln w="0">
            <a:solidFill>
              <a:srgbClr val="000000">
                <a:alpha val="0"/>
              </a:srgbClr>
            </a:solidFill>
            <a:prstDash val="solid"/>
          </a:ln>
        </p:spPr>
      </p:sp>
      <mc:AlternateContent xmlns:mc="http://schemas.openxmlformats.org/markup-compatibility/2006">
        <mc:Choice xmlns:a14="http://schemas.microsoft.com/office/drawing/2010/main" Requires="a14">
          <p:sp>
            <p:nvSpPr>
              <p:cNvPr id="3" name="s2-body">
                <a:extLst>
                  <a:ext uri="{FF2B5EF4-FFF2-40B4-BE49-F238E27FC236}">
                    <a16:creationId xmlns:a16="http://schemas.microsoft.com/office/drawing/2014/main" id="{7C8D0AC0-55AD-4AA1-9DA8-9DDBC0B05040}"/>
                  </a:ext>
                </a:extLst>
              </p:cNvPr>
              <p:cNvSpPr>
                <a:spLocks noGrp="1"/>
              </p:cNvSpPr>
              <p:nvPr/>
            </p:nvSpPr>
            <p:spPr>
              <a:xfrm>
                <a:off x="476250" y="1714500"/>
                <a:ext cx="5095875" cy="3667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0">
                    <a:solidFill>
                      <a:srgbClr val="111111"/>
                    </a:solidFill>
                    <a:latin typeface="Arial"/>
                    <a:ea typeface="Arial"/>
                    <a:cs typeface="Arial"/>
                  </a:defRPr>
                </a:pPr>
                <a:r>
                  <a:rPr sz="1725" b="0" dirty="0">
                    <a:solidFill>
                      <a:srgbClr val="D6E0ED"/>
                    </a:solidFill>
                    <a:latin typeface="Arial"/>
                    <a:ea typeface="Arial"/>
                    <a:cs typeface="Arial"/>
                  </a:rPr>
                  <a:t>Message passing expands the receptive field by one hop per layer.</a:t>
                </a:r>
              </a:p>
              <a:p>
                <a:endParaRPr sz="1725" b="0" dirty="0">
                  <a:solidFill>
                    <a:srgbClr val="D6E0ED"/>
                  </a:solidFill>
                  <a:latin typeface="Arial"/>
                  <a:ea typeface="Arial"/>
                  <a:cs typeface="Arial"/>
                </a:endParaRPr>
              </a:p>
              <a:p>
                <a:r>
                  <a:rPr sz="1725" b="0" dirty="0">
                    <a:solidFill>
                      <a:srgbClr val="D6E0ED"/>
                    </a:solidFill>
                    <a:latin typeface="Arial"/>
                    <a:ea typeface="Arial"/>
                    <a:cs typeface="Arial"/>
                  </a:rPr>
                  <a:t>For a GCN, </a:t>
                </a:r>
                <a:endParaRPr lang="en-CA" sz="1725" b="0" dirty="0">
                  <a:solidFill>
                    <a:srgbClr val="D6E0ED"/>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p>
                        <m:sSupPr>
                          <m:ctrlPr>
                            <a:rPr lang="en-CA" sz="1725" b="0" smtClean="0">
                              <a:solidFill>
                                <a:srgbClr val="D6E0ED"/>
                              </a:solidFill>
                              <a:latin typeface="Cambria Math" panose="02040503050406030204" pitchFamily="18" charset="0"/>
                            </a:rPr>
                          </m:ctrlPr>
                        </m:sSupPr>
                        <m:e>
                          <m:r>
                            <a:rPr lang="en-CA" sz="1725" b="0" i="1" smtClean="0">
                              <a:solidFill>
                                <a:srgbClr val="D6E0ED"/>
                              </a:solidFill>
                              <a:latin typeface="Cambria Math" panose="02040503050406030204" pitchFamily="18" charset="0"/>
                            </a:rPr>
                            <m:t>𝐻</m:t>
                          </m:r>
                        </m:e>
                        <m:sup>
                          <m:d>
                            <m:dPr>
                              <m:ctrlPr>
                                <a:rPr lang="en-CA" sz="1725" b="0" i="1" smtClean="0">
                                  <a:solidFill>
                                    <a:srgbClr val="D6E0ED"/>
                                  </a:solidFill>
                                  <a:latin typeface="Cambria Math" panose="02040503050406030204" pitchFamily="18" charset="0"/>
                                </a:rPr>
                              </m:ctrlPr>
                            </m:dPr>
                            <m:e>
                              <m:r>
                                <a:rPr lang="en-CA" sz="1725" b="0" i="0" smtClean="0">
                                  <a:solidFill>
                                    <a:srgbClr val="D6E0ED"/>
                                  </a:solidFill>
                                  <a:latin typeface="Cambria Math" panose="02040503050406030204" pitchFamily="18" charset="0"/>
                                </a:rPr>
                                <m:t>ℓ+1</m:t>
                              </m:r>
                            </m:e>
                          </m:d>
                        </m:sup>
                      </m:sSup>
                      <m:r>
                        <a:rPr lang="en-CA" sz="1725" b="0" i="0" smtClean="0">
                          <a:solidFill>
                            <a:srgbClr val="D6E0ED"/>
                          </a:solidFill>
                          <a:latin typeface="Cambria Math" panose="02040503050406030204" pitchFamily="18" charset="0"/>
                        </a:rPr>
                        <m:t>=</m:t>
                      </m:r>
                      <m:r>
                        <a:rPr lang="en-CA" sz="1725" b="0" i="1" smtClean="0">
                          <a:solidFill>
                            <a:srgbClr val="D6E0ED"/>
                          </a:solidFill>
                          <a:latin typeface="Cambria Math" panose="02040503050406030204" pitchFamily="18" charset="0"/>
                        </a:rPr>
                        <m:t>𝜎</m:t>
                      </m:r>
                      <m:r>
                        <a:rPr lang="en-CA" sz="1725" b="0" i="0" smtClean="0">
                          <a:solidFill>
                            <a:srgbClr val="D6E0ED"/>
                          </a:solidFill>
                          <a:latin typeface="Cambria Math" panose="02040503050406030204" pitchFamily="18" charset="0"/>
                        </a:rPr>
                        <m:t>​</m:t>
                      </m:r>
                      <m:d>
                        <m:dPr>
                          <m:ctrlPr>
                            <a:rPr lang="en-CA" sz="1725" b="0" i="1" smtClean="0">
                              <a:solidFill>
                                <a:srgbClr val="D6E0ED"/>
                              </a:solidFill>
                              <a:latin typeface="Cambria Math" panose="02040503050406030204" pitchFamily="18" charset="0"/>
                            </a:rPr>
                          </m:ctrlPr>
                        </m:dPr>
                        <m:e>
                          <m:acc>
                            <m:accPr>
                              <m:chr m:val="̂"/>
                              <m:ctrlPr>
                                <a:rPr lang="en-CA" sz="1725" b="0" i="1" smtClean="0">
                                  <a:solidFill>
                                    <a:srgbClr val="D6E0ED"/>
                                  </a:solidFill>
                                  <a:latin typeface="Cambria Math" panose="02040503050406030204" pitchFamily="18" charset="0"/>
                                </a:rPr>
                              </m:ctrlPr>
                            </m:accPr>
                            <m:e>
                              <m:r>
                                <a:rPr lang="en-CA" sz="1725" b="0" i="1" smtClean="0">
                                  <a:solidFill>
                                    <a:srgbClr val="D6E0ED"/>
                                  </a:solidFill>
                                  <a:latin typeface="Cambria Math" panose="02040503050406030204" pitchFamily="18" charset="0"/>
                                </a:rPr>
                                <m:t>𝐴</m:t>
                              </m:r>
                            </m:e>
                          </m:acc>
                          <m:r>
                            <a:rPr lang="en-CA" sz="1725" b="0" i="0" smtClean="0">
                              <a:solidFill>
                                <a:srgbClr val="D6E0ED"/>
                              </a:solidFill>
                              <a:latin typeface="Cambria Math" panose="02040503050406030204" pitchFamily="18" charset="0"/>
                            </a:rPr>
                            <m:t> </m:t>
                          </m:r>
                          <m:sSup>
                            <m:sSupPr>
                              <m:ctrlPr>
                                <a:rPr lang="en-CA" sz="1725" b="0" i="1" smtClean="0">
                                  <a:solidFill>
                                    <a:srgbClr val="D6E0ED"/>
                                  </a:solidFill>
                                  <a:latin typeface="Cambria Math" panose="02040503050406030204" pitchFamily="18" charset="0"/>
                                </a:rPr>
                              </m:ctrlPr>
                            </m:sSupPr>
                            <m:e>
                              <m:r>
                                <a:rPr lang="en-CA" sz="1725" b="0" i="1" smtClean="0">
                                  <a:solidFill>
                                    <a:srgbClr val="D6E0ED"/>
                                  </a:solidFill>
                                  <a:latin typeface="Cambria Math" panose="02040503050406030204" pitchFamily="18" charset="0"/>
                                </a:rPr>
                                <m:t>𝐻</m:t>
                              </m:r>
                            </m:e>
                            <m:sup>
                              <m:d>
                                <m:dPr>
                                  <m:ctrlPr>
                                    <a:rPr lang="en-CA" sz="1725" b="0" i="1" smtClean="0">
                                      <a:solidFill>
                                        <a:srgbClr val="D6E0ED"/>
                                      </a:solidFill>
                                      <a:latin typeface="Cambria Math" panose="02040503050406030204" pitchFamily="18" charset="0"/>
                                    </a:rPr>
                                  </m:ctrlPr>
                                </m:dPr>
                                <m:e>
                                  <m:r>
                                    <a:rPr lang="en-CA" sz="1725" b="0" i="0" smtClean="0">
                                      <a:solidFill>
                                        <a:srgbClr val="D6E0ED"/>
                                      </a:solidFill>
                                      <a:latin typeface="Cambria Math" panose="02040503050406030204" pitchFamily="18" charset="0"/>
                                    </a:rPr>
                                    <m:t>ℓ</m:t>
                                  </m:r>
                                </m:e>
                              </m:d>
                            </m:sup>
                          </m:sSup>
                          <m:sSup>
                            <m:sSupPr>
                              <m:ctrlPr>
                                <a:rPr lang="en-CA" sz="1725" b="0" i="1" smtClean="0">
                                  <a:solidFill>
                                    <a:srgbClr val="D6E0ED"/>
                                  </a:solidFill>
                                  <a:latin typeface="Cambria Math" panose="02040503050406030204" pitchFamily="18" charset="0"/>
                                </a:rPr>
                              </m:ctrlPr>
                            </m:sSupPr>
                            <m:e>
                              <m:r>
                                <a:rPr lang="en-CA" sz="1725" b="0" i="1" smtClean="0">
                                  <a:solidFill>
                                    <a:srgbClr val="D6E0ED"/>
                                  </a:solidFill>
                                  <a:latin typeface="Cambria Math" panose="02040503050406030204" pitchFamily="18" charset="0"/>
                                </a:rPr>
                                <m:t>𝑊</m:t>
                              </m:r>
                            </m:e>
                            <m:sup>
                              <m:d>
                                <m:dPr>
                                  <m:ctrlPr>
                                    <a:rPr lang="en-CA" sz="1725" b="0" i="1" smtClean="0">
                                      <a:solidFill>
                                        <a:srgbClr val="D6E0ED"/>
                                      </a:solidFill>
                                      <a:latin typeface="Cambria Math" panose="02040503050406030204" pitchFamily="18" charset="0"/>
                                    </a:rPr>
                                  </m:ctrlPr>
                                </m:dPr>
                                <m:e>
                                  <m:r>
                                    <a:rPr lang="en-CA" sz="1725" b="0" i="0" smtClean="0">
                                      <a:solidFill>
                                        <a:srgbClr val="D6E0ED"/>
                                      </a:solidFill>
                                      <a:latin typeface="Cambria Math" panose="02040503050406030204" pitchFamily="18" charset="0"/>
                                    </a:rPr>
                                    <m:t>ℓ</m:t>
                                  </m:r>
                                </m:e>
                              </m:d>
                            </m:sup>
                          </m:sSup>
                        </m:e>
                      </m:d>
                      <m:r>
                        <a:rPr lang="en-CA" sz="1725" b="0" i="0" smtClean="0">
                          <a:solidFill>
                            <a:srgbClr val="D6E0ED"/>
                          </a:solidFill>
                          <a:latin typeface="Cambria Math" panose="02040503050406030204" pitchFamily="18" charset="0"/>
                        </a:rPr>
                        <m:t>.</m:t>
                      </m:r>
                    </m:oMath>
                  </m:oMathPara>
                </a14:m>
                <a:endParaRPr lang="en-CA" sz="1725" b="0">
                  <a:solidFill>
                    <a:srgbClr val="D6E0ED"/>
                  </a:solidFill>
                  <a:latin typeface="Arial"/>
                </a:endParaRPr>
              </a:p>
              <a:p>
                <a:pPr algn="l">
                  <a:buNone/>
                  <a:defRPr sz="1875" b="0">
                    <a:solidFill>
                      <a:srgbClr val="111111"/>
                    </a:solidFill>
                    <a:latin typeface="Arial"/>
                    <a:ea typeface="Arial"/>
                    <a:cs typeface="Arial"/>
                  </a:defRPr>
                </a:pPr>
                <a:r>
                  <a:rPr sz="1725" b="0" dirty="0">
                    <a:solidFill>
                      <a:srgbClr val="D6E0ED"/>
                    </a:solidFill>
                    <a:latin typeface="Arial"/>
                    <a:ea typeface="Arial"/>
                    <a:cs typeface="Arial"/>
                  </a:rPr>
                  <a:t>repeated application of the normalized propagation operator can contract node-level variation.</a:t>
                </a:r>
              </a:p>
              <a:p>
                <a:endParaRPr sz="1725" b="0" dirty="0">
                  <a:solidFill>
                    <a:srgbClr val="D6E0ED"/>
                  </a:solidFill>
                  <a:latin typeface="Arial"/>
                  <a:ea typeface="Arial"/>
                  <a:cs typeface="Arial"/>
                </a:endParaRPr>
              </a:p>
              <a:p>
                <a:pPr algn="l">
                  <a:buNone/>
                  <a:defRPr sz="1875" b="0">
                    <a:solidFill>
                      <a:srgbClr val="111111"/>
                    </a:solidFill>
                    <a:latin typeface="Arial"/>
                    <a:ea typeface="Arial"/>
                    <a:cs typeface="Arial"/>
                  </a:defRPr>
                </a:pPr>
                <a:r>
                  <a:rPr sz="1725" b="0" dirty="0">
                    <a:solidFill>
                      <a:srgbClr val="D6E0ED"/>
                    </a:solidFill>
                    <a:latin typeface="Arial"/>
                    <a:ea typeface="Arial"/>
                    <a:cs typeface="Arial"/>
                  </a:rPr>
                  <a:t>The empirical question is whether this contraction produces the same failure signature across architectures.</a:t>
                </a:r>
              </a:p>
            </p:txBody>
          </p:sp>
        </mc:Choice>
        <mc:Fallback>
          <p:sp>
            <p:nvSpPr>
              <p:cNvPr id="3" name="s2-body">
                <a:extLst>
                  <a:ext uri="{FF2B5EF4-FFF2-40B4-BE49-F238E27FC236}">
                    <a16:creationId xmlns:a16="http://schemas.microsoft.com/office/drawing/2014/main" id="{7C8D0AC0-55AD-4AA1-9DA8-9DDBC0B05040}"/>
                  </a:ext>
                </a:extLst>
              </p:cNvPr>
              <p:cNvSpPr>
                <a:spLocks noGrp="1" noRot="1" noChangeAspect="1" noMove="1" noResize="1" noEditPoints="1" noAdjustHandles="1" noChangeArrowheads="1" noChangeShapeType="1" noTextEdit="1"/>
              </p:cNvSpPr>
              <p:nvPr/>
            </p:nvSpPr>
            <p:spPr>
              <a:xfrm>
                <a:off x="476250" y="1714500"/>
                <a:ext cx="5095875" cy="3667125"/>
              </a:xfrm>
              <a:prstGeom prst="rect">
                <a:avLst/>
              </a:prstGeom>
              <a:blipFill>
                <a:blip r:embed="rId3"/>
                <a:stretch>
                  <a:fillRect l="-2628" t="-1824" r="-717"/>
                </a:stretch>
              </a:blipFill>
              <a:ln w="0">
                <a:solidFill>
                  <a:srgbClr val="000000">
                    <a:alpha val="0"/>
                  </a:srgbClr>
                </a:solidFill>
                <a:prstDash val="solid"/>
              </a:ln>
            </p:spPr>
            <p:txBody>
              <a:bodyPr/>
              <a:lstStyle/>
              <a:p>
                <a:r>
                  <a:rPr lang="en-CA">
                    <a:noFill/>
                  </a:rPr>
                  <a:t> </a:t>
                </a:r>
              </a:p>
            </p:txBody>
          </p:sp>
        </mc:Fallback>
      </mc:AlternateContent>
      <p:sp>
        <p:nvSpPr>
          <p:cNvPr id="4" name="s2-image-panel">
            <a:extLst>
              <a:ext uri="{FF2B5EF4-FFF2-40B4-BE49-F238E27FC236}">
                <a16:creationId xmlns:a16="http://schemas.microsoft.com/office/drawing/2014/main" id="{76A042D1-5931-422E-AD38-7FBB4FAF7570}"/>
              </a:ext>
            </a:extLst>
          </p:cNvPr>
          <p:cNvSpPr>
            <a:spLocks noGrp="1"/>
          </p:cNvSpPr>
          <p:nvPr/>
        </p:nvSpPr>
        <p:spPr>
          <a:xfrm>
            <a:off x="6096000" y="685800"/>
            <a:ext cx="5705475" cy="5095875"/>
          </a:xfrm>
          <a:prstGeom prst="roundRect">
            <a:avLst>
              <a:gd name="adj" fmla="val 1495"/>
            </a:avLst>
          </a:prstGeom>
          <a:solidFill>
            <a:srgbClr val="0F1B2D"/>
          </a:solidFill>
          <a:ln w="14288">
            <a:solidFill>
              <a:srgbClr val="2B3C59"/>
            </a:solidFill>
            <a:prstDash val="solid"/>
          </a:ln>
        </p:spPr>
      </p:sp>
      <p:pic>
        <p:nvPicPr>
          <p:cNvPr id="16" name="Picture 15"/>
          <p:cNvPicPr>
            <a:picLocks noChangeAspect="1"/>
          </p:cNvPicPr>
          <p:nvPr/>
        </p:nvPicPr>
        <p:blipFill>
          <a:blip r:embed="rId4"/>
          <a:stretch/>
        </p:blipFill>
        <p:spPr>
          <a:xfrm>
            <a:off x="6381750" y="2533217"/>
            <a:ext cx="5143500" cy="1124816"/>
          </a:xfrm>
          <a:prstGeom prst="rect">
            <a:avLst/>
          </a:prstGeom>
        </p:spPr>
      </p:pic>
      <p:sp>
        <p:nvSpPr>
          <p:cNvPr id="6" name="s2-caption">
            <a:extLst>
              <a:ext uri="{FF2B5EF4-FFF2-40B4-BE49-F238E27FC236}">
                <a16:creationId xmlns:a16="http://schemas.microsoft.com/office/drawing/2014/main" id="{1B479A70-C4D1-4D14-B632-6D2A504BEC76}"/>
              </a:ext>
            </a:extLst>
          </p:cNvPr>
          <p:cNvSpPr>
            <a:spLocks noGrp="1"/>
          </p:cNvSpPr>
          <p:nvPr/>
        </p:nvSpPr>
        <p:spPr>
          <a:xfrm>
            <a:off x="6477000" y="4857750"/>
            <a:ext cx="4905375"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350" b="0">
                <a:solidFill>
                  <a:srgbClr val="5F6368"/>
                </a:solidFill>
                <a:latin typeface="Arial"/>
                <a:ea typeface="Arial"/>
                <a:cs typeface="Arial"/>
              </a:defRPr>
            </a:pPr>
            <a:r>
              <a:rPr sz="1275" b="0">
                <a:solidFill>
                  <a:srgbClr val="94A3B8"/>
                </a:solidFill>
                <a:latin typeface="Arial"/>
                <a:ea typeface="Arial"/>
                <a:cs typeface="Arial"/>
              </a:rPr>
              <a:t>Illustrative embedding trajectories. All substantive claims are evaluated on Cora across architectures, depths, and random seeds.</a:t>
            </a:r>
          </a:p>
        </p:txBody>
      </p:sp>
      <p:sp>
        <p:nvSpPr>
          <p:cNvPr id="7" name="footer-rule-2">
            <a:extLst>
              <a:ext uri="{FF2B5EF4-FFF2-40B4-BE49-F238E27FC236}">
                <a16:creationId xmlns:a16="http://schemas.microsoft.com/office/drawing/2014/main" id="{96966D20-EC45-4FD3-BCF5-A244EA402989}"/>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8" name="footer-label-2">
            <a:extLst>
              <a:ext uri="{FF2B5EF4-FFF2-40B4-BE49-F238E27FC236}">
                <a16:creationId xmlns:a16="http://schemas.microsoft.com/office/drawing/2014/main" id="{5969EA9F-39E5-4DA8-A7DE-63290C7D447D}"/>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9" name="footer-page-2">
            <a:extLst>
              <a:ext uri="{FF2B5EF4-FFF2-40B4-BE49-F238E27FC236}">
                <a16:creationId xmlns:a16="http://schemas.microsoft.com/office/drawing/2014/main" id="{8FC84E26-C335-4C35-A5D3-F24A6667176B}"/>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02</a:t>
            </a:r>
          </a:p>
        </p:txBody>
      </p:sp>
    </p:spTree>
    <p:extLst>
      <p:ext uri="{BB962C8B-B14F-4D97-AF65-F5344CB8AC3E}">
        <p14:creationId xmlns:p14="http://schemas.microsoft.com/office/powerpoint/2010/main" val="219935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7" name="title-10">
            <a:extLst>
              <a:ext uri="{FF2B5EF4-FFF2-40B4-BE49-F238E27FC236}">
                <a16:creationId xmlns:a16="http://schemas.microsoft.com/office/drawing/2014/main" id="{CA72F320-1163-4A71-AE3E-37C3C92C4679}"/>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The attribution problem — accuracy cannot name the mechanism</a:t>
            </a:r>
          </a:p>
        </p:txBody>
      </p:sp>
      <p:sp>
        <p:nvSpPr>
          <p:cNvPr id="2" name="accent-10">
            <a:extLst>
              <a:ext uri="{FF2B5EF4-FFF2-40B4-BE49-F238E27FC236}">
                <a16:creationId xmlns:a16="http://schemas.microsoft.com/office/drawing/2014/main" id="{07A6986B-591F-4B88-930E-1B5671F0990C}"/>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5" name="sA-panel-0">
            <a:extLst>
              <a:ext uri="{FF2B5EF4-FFF2-40B4-BE49-F238E27FC236}">
                <a16:creationId xmlns:a16="http://schemas.microsoft.com/office/drawing/2014/main" id="{B9C10A0C-829F-43A0-B886-9F8F9C46A351}"/>
              </a:ext>
            </a:extLst>
          </p:cNvPr>
          <p:cNvSpPr>
            <a:spLocks noGrp="1"/>
          </p:cNvSpPr>
          <p:nvPr/>
        </p:nvSpPr>
        <p:spPr>
          <a:xfrm>
            <a:off x="393192" y="1219200"/>
            <a:ext cx="11411712" cy="1381125"/>
          </a:xfrm>
          <a:prstGeom prst="roundRect">
            <a:avLst>
              <a:gd name="adj" fmla="val 5517"/>
            </a:avLst>
          </a:prstGeom>
          <a:solidFill>
            <a:srgbClr val="13243B"/>
          </a:solidFill>
          <a:ln w="11906">
            <a:solidFill>
              <a:srgbClr val="38BDF8"/>
            </a:solidFill>
            <a:prstDash val="solid"/>
          </a:ln>
        </p:spPr>
      </p:sp>
      <p:sp>
        <p:nvSpPr>
          <p:cNvPr id="6" name="sA-title-0">
            <a:extLst>
              <a:ext uri="{FF2B5EF4-FFF2-40B4-BE49-F238E27FC236}">
                <a16:creationId xmlns:a16="http://schemas.microsoft.com/office/drawing/2014/main" id="{4FD1ED87-AECB-45EE-AE2E-DE02D51C42FC}"/>
              </a:ext>
            </a:extLst>
          </p:cNvPr>
          <p:cNvSpPr>
            <a:spLocks noGrp="1"/>
          </p:cNvSpPr>
          <p:nvPr/>
        </p:nvSpPr>
        <p:spPr>
          <a:xfrm>
            <a:off x="685800" y="1428750"/>
            <a:ext cx="10853928"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3D8DFF"/>
                </a:solidFill>
                <a:latin typeface="Arial"/>
                <a:ea typeface="Arial"/>
                <a:cs typeface="Arial"/>
              </a:defRPr>
            </a:pPr>
            <a:r>
              <a:rPr sz="1575" b="1">
                <a:solidFill>
                  <a:srgbClr val="38BDF8"/>
                </a:solidFill>
                <a:latin typeface="Arial"/>
                <a:ea typeface="Arial"/>
                <a:cs typeface="Arial"/>
              </a:rPr>
              <a:t>Never trained</a:t>
            </a:r>
          </a:p>
        </p:txBody>
      </p:sp>
      <p:sp>
        <p:nvSpPr>
          <p:cNvPr id="7" name="sA-body-0">
            <a:extLst>
              <a:ext uri="{FF2B5EF4-FFF2-40B4-BE49-F238E27FC236}">
                <a16:creationId xmlns:a16="http://schemas.microsoft.com/office/drawing/2014/main" id="{38EC7D32-C87E-49D9-8438-6505469C8BB8}"/>
              </a:ext>
            </a:extLst>
          </p:cNvPr>
          <p:cNvSpPr>
            <a:spLocks noGrp="1"/>
          </p:cNvSpPr>
          <p:nvPr/>
        </p:nvSpPr>
        <p:spPr>
          <a:xfrm>
            <a:off x="685800" y="1847850"/>
            <a:ext cx="10853928"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Optimization never moves the weights. The representation is whatever untrained propagation produced.</a:t>
            </a:r>
          </a:p>
        </p:txBody>
      </p:sp>
      <p:sp>
        <p:nvSpPr>
          <p:cNvPr id="8" name="sA-panel-1">
            <a:extLst>
              <a:ext uri="{FF2B5EF4-FFF2-40B4-BE49-F238E27FC236}">
                <a16:creationId xmlns:a16="http://schemas.microsoft.com/office/drawing/2014/main" id="{94FE0AEF-B78F-44B4-A9C1-96DB9EE6DD08}"/>
              </a:ext>
            </a:extLst>
          </p:cNvPr>
          <p:cNvSpPr>
            <a:spLocks noGrp="1"/>
          </p:cNvSpPr>
          <p:nvPr/>
        </p:nvSpPr>
        <p:spPr>
          <a:xfrm>
            <a:off x="393192" y="2895600"/>
            <a:ext cx="11411712" cy="1381125"/>
          </a:xfrm>
          <a:prstGeom prst="roundRect">
            <a:avLst>
              <a:gd name="adj" fmla="val 5517"/>
            </a:avLst>
          </a:prstGeom>
          <a:solidFill>
            <a:srgbClr val="1A2038"/>
          </a:solidFill>
          <a:ln w="11906">
            <a:solidFill>
              <a:srgbClr val="9B87F5"/>
            </a:solidFill>
            <a:prstDash val="solid"/>
          </a:ln>
        </p:spPr>
      </p:sp>
      <p:sp>
        <p:nvSpPr>
          <p:cNvPr id="9" name="sA-title-1">
            <a:extLst>
              <a:ext uri="{FF2B5EF4-FFF2-40B4-BE49-F238E27FC236}">
                <a16:creationId xmlns:a16="http://schemas.microsoft.com/office/drawing/2014/main" id="{9A8ECAB0-7886-4C00-972E-37C54BF3087D}"/>
              </a:ext>
            </a:extLst>
          </p:cNvPr>
          <p:cNvSpPr>
            <a:spLocks noGrp="1"/>
          </p:cNvSpPr>
          <p:nvPr/>
        </p:nvSpPr>
        <p:spPr>
          <a:xfrm>
            <a:off x="685800" y="3105150"/>
            <a:ext cx="10853928"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111111"/>
                </a:solidFill>
                <a:latin typeface="Arial"/>
                <a:ea typeface="Arial"/>
                <a:cs typeface="Arial"/>
              </a:defRPr>
            </a:pPr>
            <a:r>
              <a:rPr sz="1575" b="1">
                <a:solidFill>
                  <a:srgbClr val="9B87F5"/>
                </a:solidFill>
                <a:latin typeface="Arial"/>
                <a:ea typeface="Arial"/>
                <a:cs typeface="Arial"/>
              </a:rPr>
              <a:t>Trained, then collapsed</a:t>
            </a:r>
          </a:p>
        </p:txBody>
      </p:sp>
      <p:sp>
        <p:nvSpPr>
          <p:cNvPr id="10" name="sA-body-1">
            <a:extLst>
              <a:ext uri="{FF2B5EF4-FFF2-40B4-BE49-F238E27FC236}">
                <a16:creationId xmlns:a16="http://schemas.microsoft.com/office/drawing/2014/main" id="{DC9A1495-6FEF-44A1-94AD-D4E119F2C5D6}"/>
              </a:ext>
            </a:extLst>
          </p:cNvPr>
          <p:cNvSpPr>
            <a:spLocks noGrp="1"/>
          </p:cNvSpPr>
          <p:nvPr/>
        </p:nvSpPr>
        <p:spPr>
          <a:xfrm>
            <a:off x="685800" y="3524250"/>
            <a:ext cx="10853928"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Optimization does move the weights, and repeated propagation contracts the learned representation.</a:t>
            </a:r>
          </a:p>
        </p:txBody>
      </p:sp>
      <p:sp>
        <p:nvSpPr>
          <p:cNvPr id="11" name="sA-panel-2">
            <a:extLst>
              <a:ext uri="{FF2B5EF4-FFF2-40B4-BE49-F238E27FC236}">
                <a16:creationId xmlns:a16="http://schemas.microsoft.com/office/drawing/2014/main" id="{2CA6593A-BAE6-4C2D-B5E1-E469660EC06C}"/>
              </a:ext>
            </a:extLst>
          </p:cNvPr>
          <p:cNvSpPr>
            <a:spLocks noGrp="1"/>
          </p:cNvSpPr>
          <p:nvPr/>
        </p:nvSpPr>
        <p:spPr>
          <a:xfrm>
            <a:off x="393192" y="4572000"/>
            <a:ext cx="11411712" cy="1381125"/>
          </a:xfrm>
          <a:prstGeom prst="roundRect">
            <a:avLst>
              <a:gd name="adj" fmla="val 5517"/>
            </a:avLst>
          </a:prstGeom>
          <a:solidFill>
            <a:srgbClr val="13243B"/>
          </a:solidFill>
          <a:ln w="11906">
            <a:solidFill>
              <a:srgbClr val="F4C15D"/>
            </a:solidFill>
            <a:prstDash val="solid"/>
          </a:ln>
        </p:spPr>
      </p:sp>
      <p:sp>
        <p:nvSpPr>
          <p:cNvPr id="12" name="sA-title-2">
            <a:extLst>
              <a:ext uri="{FF2B5EF4-FFF2-40B4-BE49-F238E27FC236}">
                <a16:creationId xmlns:a16="http://schemas.microsoft.com/office/drawing/2014/main" id="{CFA278D9-61D0-4ABD-B7A6-34B444160FB5}"/>
              </a:ext>
            </a:extLst>
          </p:cNvPr>
          <p:cNvSpPr>
            <a:spLocks noGrp="1"/>
          </p:cNvSpPr>
          <p:nvPr/>
        </p:nvSpPr>
        <p:spPr>
          <a:xfrm>
            <a:off x="685800" y="4781550"/>
            <a:ext cx="10853928"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111111"/>
                </a:solidFill>
                <a:latin typeface="Arial"/>
                <a:ea typeface="Arial"/>
                <a:cs typeface="Arial"/>
              </a:defRPr>
            </a:pPr>
            <a:r>
              <a:rPr sz="1575" b="1">
                <a:solidFill>
                  <a:srgbClr val="F4C15D"/>
                </a:solidFill>
                <a:latin typeface="Arial"/>
                <a:ea typeface="Arial"/>
                <a:cs typeface="Arial"/>
              </a:rPr>
              <a:t>Indistinguishable by accuracy</a:t>
            </a:r>
          </a:p>
        </p:txBody>
      </p:sp>
      <p:sp>
        <p:nvSpPr>
          <p:cNvPr id="13" name="sA-body-2">
            <a:extLst>
              <a:ext uri="{FF2B5EF4-FFF2-40B4-BE49-F238E27FC236}">
                <a16:creationId xmlns:a16="http://schemas.microsoft.com/office/drawing/2014/main" id="{07FFF978-59AD-4D5D-A032-EE392081F0E5}"/>
              </a:ext>
            </a:extLst>
          </p:cNvPr>
          <p:cNvSpPr>
            <a:spLocks noGrp="1"/>
          </p:cNvSpPr>
          <p:nvPr/>
        </p:nvSpPr>
        <p:spPr>
          <a:xfrm>
            <a:off x="685800" y="5200650"/>
            <a:ext cx="10853928"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Both land near the majority-class floor. Only the internal state separates them, which is why every run is measured before and after training.</a:t>
            </a:r>
          </a:p>
        </p:txBody>
      </p:sp>
      <p:sp>
        <p:nvSpPr>
          <p:cNvPr id="14" name="footer-rule-10">
            <a:extLst>
              <a:ext uri="{FF2B5EF4-FFF2-40B4-BE49-F238E27FC236}">
                <a16:creationId xmlns:a16="http://schemas.microsoft.com/office/drawing/2014/main" id="{137813F9-DD4E-4D7E-AD6C-9D58BD25AC2B}"/>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5" name="footer-label-10">
            <a:extLst>
              <a:ext uri="{FF2B5EF4-FFF2-40B4-BE49-F238E27FC236}">
                <a16:creationId xmlns:a16="http://schemas.microsoft.com/office/drawing/2014/main" id="{40EEBB9C-1C93-4198-BD07-A60149EB96DB}"/>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6" name="footer-page-10">
            <a:extLst>
              <a:ext uri="{FF2B5EF4-FFF2-40B4-BE49-F238E27FC236}">
                <a16:creationId xmlns:a16="http://schemas.microsoft.com/office/drawing/2014/main" id="{1B671B89-7411-42E8-8102-21500188E97E}"/>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03</a:t>
            </a:r>
          </a:p>
        </p:txBody>
      </p:sp>
    </p:spTree>
    <p:extLst>
      <p:ext uri="{BB962C8B-B14F-4D97-AF65-F5344CB8AC3E}">
        <p14:creationId xmlns:p14="http://schemas.microsoft.com/office/powerpoint/2010/main" val="1432514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3" name="title-3">
            <a:extLst>
              <a:ext uri="{FF2B5EF4-FFF2-40B4-BE49-F238E27FC236}">
                <a16:creationId xmlns:a16="http://schemas.microsoft.com/office/drawing/2014/main" id="{B90F0606-EB8C-4609-90A6-1DEE1BB60F87}"/>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Research question and testable hypotheses</a:t>
            </a:r>
          </a:p>
        </p:txBody>
      </p:sp>
      <p:sp>
        <p:nvSpPr>
          <p:cNvPr id="2" name="accent-3">
            <a:extLst>
              <a:ext uri="{FF2B5EF4-FFF2-40B4-BE49-F238E27FC236}">
                <a16:creationId xmlns:a16="http://schemas.microsoft.com/office/drawing/2014/main" id="{207E5225-8CB4-4EEE-884E-626ED98AB790}"/>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3-left-label">
            <a:extLst>
              <a:ext uri="{FF2B5EF4-FFF2-40B4-BE49-F238E27FC236}">
                <a16:creationId xmlns:a16="http://schemas.microsoft.com/office/drawing/2014/main" id="{4FF55CCE-12C4-4073-A546-11652927E1A7}"/>
              </a:ext>
            </a:extLst>
          </p:cNvPr>
          <p:cNvSpPr>
            <a:spLocks noGrp="1"/>
          </p:cNvSpPr>
          <p:nvPr/>
        </p:nvSpPr>
        <p:spPr>
          <a:xfrm>
            <a:off x="390525" y="1714500"/>
            <a:ext cx="5334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b="1">
                <a:solidFill>
                  <a:srgbClr val="3D8DFF"/>
                </a:solidFill>
                <a:latin typeface="Arial"/>
                <a:ea typeface="Arial"/>
                <a:cs typeface="Arial"/>
              </a:defRPr>
            </a:pPr>
            <a:r>
              <a:rPr sz="1350" b="1">
                <a:solidFill>
                  <a:srgbClr val="38BDF8"/>
                </a:solidFill>
                <a:latin typeface="Arial"/>
                <a:ea typeface="Arial"/>
                <a:cs typeface="Arial"/>
              </a:rPr>
              <a:t>PRIMARY QUESTION</a:t>
            </a:r>
          </a:p>
        </p:txBody>
      </p:sp>
      <p:sp>
        <p:nvSpPr>
          <p:cNvPr id="4" name="s3-left-title">
            <a:extLst>
              <a:ext uri="{FF2B5EF4-FFF2-40B4-BE49-F238E27FC236}">
                <a16:creationId xmlns:a16="http://schemas.microsoft.com/office/drawing/2014/main" id="{A055BD5C-4D2F-478F-82FC-82CC79F0AD3D}"/>
              </a:ext>
            </a:extLst>
          </p:cNvPr>
          <p:cNvSpPr>
            <a:spLocks noGrp="1"/>
          </p:cNvSpPr>
          <p:nvPr/>
        </p:nvSpPr>
        <p:spPr>
          <a:xfrm>
            <a:off x="390525" y="2171700"/>
            <a:ext cx="5048250" cy="952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400" b="1">
                <a:solidFill>
                  <a:srgbClr val="111111"/>
                </a:solidFill>
                <a:latin typeface="Arial"/>
                <a:ea typeface="Arial"/>
                <a:cs typeface="Arial"/>
              </a:defRPr>
            </a:pPr>
            <a:r>
              <a:rPr sz="2325" b="1">
                <a:solidFill>
                  <a:srgbClr val="F8FAFC"/>
                </a:solidFill>
                <a:latin typeface="Arial"/>
                <a:ea typeface="Arial"/>
                <a:cs typeface="Arial"/>
              </a:rPr>
              <a:t>How does depth alter predictive and geometric behavior?</a:t>
            </a:r>
          </a:p>
        </p:txBody>
      </p:sp>
      <p:sp>
        <p:nvSpPr>
          <p:cNvPr id="5" name="s3-left-body">
            <a:extLst>
              <a:ext uri="{FF2B5EF4-FFF2-40B4-BE49-F238E27FC236}">
                <a16:creationId xmlns:a16="http://schemas.microsoft.com/office/drawing/2014/main" id="{D5EB2ABD-2CF8-42B7-AFCC-61BA9253C139}"/>
              </a:ext>
            </a:extLst>
          </p:cNvPr>
          <p:cNvSpPr>
            <a:spLocks noGrp="1"/>
          </p:cNvSpPr>
          <p:nvPr/>
        </p:nvSpPr>
        <p:spPr>
          <a:xfrm>
            <a:off x="390525" y="3333750"/>
            <a:ext cx="5048250" cy="1571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Across 2–32 layers, we compare accuracy, representation geometry, and layerwise dynamics under a fixed data and training protocol.</a:t>
            </a:r>
          </a:p>
        </p:txBody>
      </p:sp>
      <p:sp>
        <p:nvSpPr>
          <p:cNvPr id="6" name="s3-divider">
            <a:extLst>
              <a:ext uri="{FF2B5EF4-FFF2-40B4-BE49-F238E27FC236}">
                <a16:creationId xmlns:a16="http://schemas.microsoft.com/office/drawing/2014/main" id="{86C3F9D1-98FE-42D3-AE02-DC334C2424BB}"/>
              </a:ext>
            </a:extLst>
          </p:cNvPr>
          <p:cNvSpPr>
            <a:spLocks noGrp="1"/>
          </p:cNvSpPr>
          <p:nvPr/>
        </p:nvSpPr>
        <p:spPr>
          <a:xfrm>
            <a:off x="5953125" y="1676400"/>
            <a:ext cx="9525" cy="3714750"/>
          </a:xfrm>
          <a:prstGeom prst="rect">
            <a:avLst/>
          </a:prstGeom>
          <a:solidFill>
            <a:srgbClr val="2B3C59"/>
          </a:solidFill>
          <a:ln w="0">
            <a:solidFill>
              <a:srgbClr val="000000">
                <a:alpha val="0"/>
              </a:srgbClr>
            </a:solidFill>
            <a:prstDash val="solid"/>
          </a:ln>
        </p:spPr>
      </p:sp>
      <p:sp>
        <p:nvSpPr>
          <p:cNvPr id="7" name="s3-right-label">
            <a:extLst>
              <a:ext uri="{FF2B5EF4-FFF2-40B4-BE49-F238E27FC236}">
                <a16:creationId xmlns:a16="http://schemas.microsoft.com/office/drawing/2014/main" id="{AEDC6EF6-982D-4CE1-B8B2-583368C34594}"/>
              </a:ext>
            </a:extLst>
          </p:cNvPr>
          <p:cNvSpPr>
            <a:spLocks noGrp="1"/>
          </p:cNvSpPr>
          <p:nvPr/>
        </p:nvSpPr>
        <p:spPr>
          <a:xfrm>
            <a:off x="6429375" y="1714500"/>
            <a:ext cx="5334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b="1">
                <a:solidFill>
                  <a:srgbClr val="3D8DFF"/>
                </a:solidFill>
                <a:latin typeface="Arial"/>
                <a:ea typeface="Arial"/>
                <a:cs typeface="Arial"/>
              </a:defRPr>
            </a:pPr>
            <a:r>
              <a:rPr sz="1350" b="1">
                <a:solidFill>
                  <a:srgbClr val="9B87F5"/>
                </a:solidFill>
                <a:latin typeface="Arial"/>
                <a:ea typeface="Arial"/>
                <a:cs typeface="Arial"/>
              </a:rPr>
              <a:t>HYPOTHESES</a:t>
            </a:r>
          </a:p>
        </p:txBody>
      </p:sp>
      <p:sp>
        <p:nvSpPr>
          <p:cNvPr id="8" name="s3-right-title">
            <a:extLst>
              <a:ext uri="{FF2B5EF4-FFF2-40B4-BE49-F238E27FC236}">
                <a16:creationId xmlns:a16="http://schemas.microsoft.com/office/drawing/2014/main" id="{5DE17505-EF2A-4D66-8A70-BF8C4E3007A2}"/>
              </a:ext>
            </a:extLst>
          </p:cNvPr>
          <p:cNvSpPr>
            <a:spLocks noGrp="1"/>
          </p:cNvSpPr>
          <p:nvPr/>
        </p:nvSpPr>
        <p:spPr>
          <a:xfrm>
            <a:off x="6429375" y="2171700"/>
            <a:ext cx="5048250" cy="952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400" b="1">
                <a:solidFill>
                  <a:srgbClr val="111111"/>
                </a:solidFill>
                <a:latin typeface="Arial"/>
                <a:ea typeface="Arial"/>
                <a:cs typeface="Arial"/>
              </a:defRPr>
            </a:pPr>
            <a:r>
              <a:rPr sz="2325" b="1">
                <a:solidFill>
                  <a:srgbClr val="F8FAFC"/>
                </a:solidFill>
                <a:latin typeface="Arial"/>
                <a:ea typeface="Arial"/>
                <a:cs typeface="Arial"/>
              </a:rPr>
              <a:t>Failure signatures should differ by architecture.</a:t>
            </a:r>
          </a:p>
        </p:txBody>
      </p:sp>
      <p:sp>
        <p:nvSpPr>
          <p:cNvPr id="9" name="s3-right-body">
            <a:extLst>
              <a:ext uri="{FF2B5EF4-FFF2-40B4-BE49-F238E27FC236}">
                <a16:creationId xmlns:a16="http://schemas.microsoft.com/office/drawing/2014/main" id="{2080ABF9-8F64-4B56-8180-52BCC055C199}"/>
              </a:ext>
            </a:extLst>
          </p:cNvPr>
          <p:cNvSpPr>
            <a:spLocks noGrp="1"/>
          </p:cNvSpPr>
          <p:nvPr/>
        </p:nvSpPr>
        <p:spPr>
          <a:xfrm>
            <a:off x="6429375" y="3333750"/>
            <a:ext cx="5048250" cy="1571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H1  Accuracy degrades non-uniformly.</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H2  Geometric collapse is not equivalent across models.</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H3  Effective mitigation depends on the failure mechanism.</a:t>
            </a:r>
          </a:p>
        </p:txBody>
      </p:sp>
      <p:sp>
        <p:nvSpPr>
          <p:cNvPr id="10" name="footer-rule-3">
            <a:extLst>
              <a:ext uri="{FF2B5EF4-FFF2-40B4-BE49-F238E27FC236}">
                <a16:creationId xmlns:a16="http://schemas.microsoft.com/office/drawing/2014/main" id="{02FDD283-9B5A-44D0-BE13-BE5244E8E9C8}"/>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1" name="footer-label-3">
            <a:extLst>
              <a:ext uri="{FF2B5EF4-FFF2-40B4-BE49-F238E27FC236}">
                <a16:creationId xmlns:a16="http://schemas.microsoft.com/office/drawing/2014/main" id="{45DEE4BD-3718-45C6-BC84-3E0116AEB3B3}"/>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2" name="footer-page-3">
            <a:extLst>
              <a:ext uri="{FF2B5EF4-FFF2-40B4-BE49-F238E27FC236}">
                <a16:creationId xmlns:a16="http://schemas.microsoft.com/office/drawing/2014/main" id="{25FCE8FB-78E0-4EEF-BADD-AED7363E7AE4}"/>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04</a:t>
            </a:r>
          </a:p>
        </p:txBody>
      </p:sp>
    </p:spTree>
    <p:extLst>
      <p:ext uri="{BB962C8B-B14F-4D97-AF65-F5344CB8AC3E}">
        <p14:creationId xmlns:p14="http://schemas.microsoft.com/office/powerpoint/2010/main" val="135314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7" name="title-4">
            <a:extLst>
              <a:ext uri="{FF2B5EF4-FFF2-40B4-BE49-F238E27FC236}">
                <a16:creationId xmlns:a16="http://schemas.microsoft.com/office/drawing/2014/main" id="{B0D80AF7-8CA0-4F33-88DD-598480C33811}"/>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850" b="1">
                <a:solidFill>
                  <a:srgbClr val="F8FAFC"/>
                </a:solidFill>
                <a:latin typeface="Arial"/>
                <a:ea typeface="Arial"/>
                <a:cs typeface="Arial"/>
              </a:rPr>
              <a:t>Benchmark and task specification</a:t>
            </a:r>
          </a:p>
        </p:txBody>
      </p:sp>
      <p:sp>
        <p:nvSpPr>
          <p:cNvPr id="2" name="accent-4">
            <a:extLst>
              <a:ext uri="{FF2B5EF4-FFF2-40B4-BE49-F238E27FC236}">
                <a16:creationId xmlns:a16="http://schemas.microsoft.com/office/drawing/2014/main" id="{78B2312F-4526-43E6-8BA9-FCDDE6ECF358}"/>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4-context">
            <a:extLst>
              <a:ext uri="{FF2B5EF4-FFF2-40B4-BE49-F238E27FC236}">
                <a16:creationId xmlns:a16="http://schemas.microsoft.com/office/drawing/2014/main" id="{24ED17E0-8FCE-4064-B949-56C7D3E34EA1}"/>
              </a:ext>
            </a:extLst>
          </p:cNvPr>
          <p:cNvSpPr>
            <a:spLocks noGrp="1"/>
          </p:cNvSpPr>
          <p:nvPr/>
        </p:nvSpPr>
        <p:spPr>
          <a:xfrm>
            <a:off x="390525" y="1333500"/>
            <a:ext cx="114109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0">
                <a:solidFill>
                  <a:srgbClr val="5F6368"/>
                </a:solidFill>
                <a:latin typeface="Arial"/>
                <a:ea typeface="Arial"/>
                <a:cs typeface="Arial"/>
              </a:defRPr>
            </a:pPr>
            <a:r>
              <a:rPr sz="1725" b="0">
                <a:solidFill>
                  <a:srgbClr val="94A3B8"/>
                </a:solidFill>
                <a:latin typeface="Arial"/>
                <a:ea typeface="Arial"/>
                <a:cs typeface="Arial"/>
              </a:rPr>
              <a:t>Cora · transductive, semi-supervised node classification</a:t>
            </a:r>
          </a:p>
        </p:txBody>
      </p:sp>
      <p:sp>
        <p:nvSpPr>
          <p:cNvPr id="4" name="s4-panel-0">
            <a:extLst>
              <a:ext uri="{FF2B5EF4-FFF2-40B4-BE49-F238E27FC236}">
                <a16:creationId xmlns:a16="http://schemas.microsoft.com/office/drawing/2014/main" id="{DF2BD43C-E5DA-4080-9716-DB2DABDFD1A0}"/>
              </a:ext>
            </a:extLst>
          </p:cNvPr>
          <p:cNvSpPr>
            <a:spLocks noGrp="1"/>
          </p:cNvSpPr>
          <p:nvPr/>
        </p:nvSpPr>
        <p:spPr>
          <a:xfrm>
            <a:off x="390525" y="2333625"/>
            <a:ext cx="3571875" cy="2952750"/>
          </a:xfrm>
          <a:prstGeom prst="roundRect">
            <a:avLst>
              <a:gd name="adj" fmla="val 2581"/>
            </a:avLst>
          </a:prstGeom>
          <a:solidFill>
            <a:srgbClr val="13243B"/>
          </a:solidFill>
          <a:ln w="15240">
            <a:solidFill>
              <a:srgbClr val="38BDF8"/>
            </a:solidFill>
            <a:prstDash val="solid"/>
          </a:ln>
        </p:spPr>
      </p:sp>
      <p:sp>
        <p:nvSpPr>
          <p:cNvPr id="5" name="s4-stat-0">
            <a:extLst>
              <a:ext uri="{FF2B5EF4-FFF2-40B4-BE49-F238E27FC236}">
                <a16:creationId xmlns:a16="http://schemas.microsoft.com/office/drawing/2014/main" id="{2A390AD5-4709-42B4-89DB-664FDACA2590}"/>
              </a:ext>
            </a:extLst>
          </p:cNvPr>
          <p:cNvSpPr>
            <a:spLocks noGrp="1"/>
          </p:cNvSpPr>
          <p:nvPr/>
        </p:nvSpPr>
        <p:spPr>
          <a:xfrm>
            <a:off x="6953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125" b="1">
                <a:solidFill>
                  <a:srgbClr val="38BDF8"/>
                </a:solidFill>
                <a:latin typeface="Arial"/>
                <a:ea typeface="Arial"/>
                <a:cs typeface="Arial"/>
              </a:rPr>
              <a:t>2,708</a:t>
            </a:r>
          </a:p>
        </p:txBody>
      </p:sp>
      <p:sp>
        <p:nvSpPr>
          <p:cNvPr id="6" name="s4-label-0">
            <a:extLst>
              <a:ext uri="{FF2B5EF4-FFF2-40B4-BE49-F238E27FC236}">
                <a16:creationId xmlns:a16="http://schemas.microsoft.com/office/drawing/2014/main" id="{AE098386-BF91-4393-B193-6E79039A994D}"/>
              </a:ext>
            </a:extLst>
          </p:cNvPr>
          <p:cNvSpPr>
            <a:spLocks noGrp="1"/>
          </p:cNvSpPr>
          <p:nvPr/>
        </p:nvSpPr>
        <p:spPr>
          <a:xfrm>
            <a:off x="695325" y="4095750"/>
            <a:ext cx="295275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nodes</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scientific publications</a:t>
            </a:r>
          </a:p>
        </p:txBody>
      </p:sp>
      <p:sp>
        <p:nvSpPr>
          <p:cNvPr id="7" name="s4-panel-1">
            <a:extLst>
              <a:ext uri="{FF2B5EF4-FFF2-40B4-BE49-F238E27FC236}">
                <a16:creationId xmlns:a16="http://schemas.microsoft.com/office/drawing/2014/main" id="{43BAC2FB-F1D1-42F2-AB86-28E4B385BA10}"/>
              </a:ext>
            </a:extLst>
          </p:cNvPr>
          <p:cNvSpPr>
            <a:spLocks noGrp="1"/>
          </p:cNvSpPr>
          <p:nvPr/>
        </p:nvSpPr>
        <p:spPr>
          <a:xfrm>
            <a:off x="4314825" y="2333625"/>
            <a:ext cx="3571875" cy="2952750"/>
          </a:xfrm>
          <a:prstGeom prst="roundRect">
            <a:avLst>
              <a:gd name="adj" fmla="val 2581"/>
            </a:avLst>
          </a:prstGeom>
          <a:solidFill>
            <a:srgbClr val="1A2038"/>
          </a:solidFill>
          <a:ln w="15240">
            <a:solidFill>
              <a:srgbClr val="9B87F5"/>
            </a:solidFill>
            <a:prstDash val="solid"/>
          </a:ln>
        </p:spPr>
      </p:sp>
      <p:sp>
        <p:nvSpPr>
          <p:cNvPr id="8" name="s4-stat-1">
            <a:extLst>
              <a:ext uri="{FF2B5EF4-FFF2-40B4-BE49-F238E27FC236}">
                <a16:creationId xmlns:a16="http://schemas.microsoft.com/office/drawing/2014/main" id="{2B5ED2C9-406E-4D03-92A6-8F935341015A}"/>
              </a:ext>
            </a:extLst>
          </p:cNvPr>
          <p:cNvSpPr>
            <a:spLocks noGrp="1"/>
          </p:cNvSpPr>
          <p:nvPr/>
        </p:nvSpPr>
        <p:spPr>
          <a:xfrm>
            <a:off x="46196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125" b="1">
                <a:solidFill>
                  <a:srgbClr val="9B87F5"/>
                </a:solidFill>
                <a:latin typeface="Arial"/>
                <a:ea typeface="Arial"/>
                <a:cs typeface="Arial"/>
              </a:rPr>
              <a:t>5,278</a:t>
            </a:r>
          </a:p>
        </p:txBody>
      </p:sp>
      <p:sp>
        <p:nvSpPr>
          <p:cNvPr id="9" name="s4-label-1">
            <a:extLst>
              <a:ext uri="{FF2B5EF4-FFF2-40B4-BE49-F238E27FC236}">
                <a16:creationId xmlns:a16="http://schemas.microsoft.com/office/drawing/2014/main" id="{21917C16-EE0B-46DD-ADE5-246E1C66284E}"/>
              </a:ext>
            </a:extLst>
          </p:cNvPr>
          <p:cNvSpPr>
            <a:spLocks noGrp="1"/>
          </p:cNvSpPr>
          <p:nvPr/>
        </p:nvSpPr>
        <p:spPr>
          <a:xfrm>
            <a:off x="4619625" y="4095750"/>
            <a:ext cx="295275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citation links</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(edges)</a:t>
            </a:r>
          </a:p>
        </p:txBody>
      </p:sp>
      <p:sp>
        <p:nvSpPr>
          <p:cNvPr id="10" name="s4-panel-2">
            <a:extLst>
              <a:ext uri="{FF2B5EF4-FFF2-40B4-BE49-F238E27FC236}">
                <a16:creationId xmlns:a16="http://schemas.microsoft.com/office/drawing/2014/main" id="{66D1A7F3-A875-43BB-BDC6-3437B656AB96}"/>
              </a:ext>
            </a:extLst>
          </p:cNvPr>
          <p:cNvSpPr>
            <a:spLocks noGrp="1"/>
          </p:cNvSpPr>
          <p:nvPr/>
        </p:nvSpPr>
        <p:spPr>
          <a:xfrm>
            <a:off x="8229600" y="2333625"/>
            <a:ext cx="3571875" cy="2952750"/>
          </a:xfrm>
          <a:prstGeom prst="roundRect">
            <a:avLst>
              <a:gd name="adj" fmla="val 2581"/>
            </a:avLst>
          </a:prstGeom>
          <a:solidFill>
            <a:srgbClr val="102D35"/>
          </a:solidFill>
          <a:ln w="15240">
            <a:solidFill>
              <a:srgbClr val="2DD4BF"/>
            </a:solidFill>
            <a:prstDash val="solid"/>
          </a:ln>
        </p:spPr>
      </p:sp>
      <p:sp>
        <p:nvSpPr>
          <p:cNvPr id="11" name="s4-stat-2">
            <a:extLst>
              <a:ext uri="{FF2B5EF4-FFF2-40B4-BE49-F238E27FC236}">
                <a16:creationId xmlns:a16="http://schemas.microsoft.com/office/drawing/2014/main" id="{03921C15-7202-4A40-895F-2FEE749E5B3C}"/>
              </a:ext>
            </a:extLst>
          </p:cNvPr>
          <p:cNvSpPr>
            <a:spLocks noGrp="1"/>
          </p:cNvSpPr>
          <p:nvPr/>
        </p:nvSpPr>
        <p:spPr>
          <a:xfrm>
            <a:off x="8534400"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125" b="1">
                <a:solidFill>
                  <a:srgbClr val="2DD4BF"/>
                </a:solidFill>
                <a:latin typeface="Arial"/>
                <a:ea typeface="Arial"/>
                <a:cs typeface="Arial"/>
              </a:rPr>
              <a:t>7</a:t>
            </a:r>
          </a:p>
        </p:txBody>
      </p:sp>
      <p:sp>
        <p:nvSpPr>
          <p:cNvPr id="12" name="s4-label-2">
            <a:extLst>
              <a:ext uri="{FF2B5EF4-FFF2-40B4-BE49-F238E27FC236}">
                <a16:creationId xmlns:a16="http://schemas.microsoft.com/office/drawing/2014/main" id="{86C3488E-8AE7-40B9-8541-7D1BD89AD5D8}"/>
              </a:ext>
            </a:extLst>
          </p:cNvPr>
          <p:cNvSpPr>
            <a:spLocks noGrp="1"/>
          </p:cNvSpPr>
          <p:nvPr/>
        </p:nvSpPr>
        <p:spPr>
          <a:xfrm>
            <a:off x="8534400" y="4095750"/>
            <a:ext cx="295275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target classes</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research topics</a:t>
            </a:r>
          </a:p>
        </p:txBody>
      </p:sp>
      <p:sp>
        <p:nvSpPr>
          <p:cNvPr id="13" name="s4-foot">
            <a:extLst>
              <a:ext uri="{FF2B5EF4-FFF2-40B4-BE49-F238E27FC236}">
                <a16:creationId xmlns:a16="http://schemas.microsoft.com/office/drawing/2014/main" id="{ADDB23DF-F60C-40CF-ADE5-1ABF54809A28}"/>
              </a:ext>
            </a:extLst>
          </p:cNvPr>
          <p:cNvSpPr>
            <a:spLocks noGrp="1"/>
          </p:cNvSpPr>
          <p:nvPr/>
        </p:nvSpPr>
        <p:spPr>
          <a:xfrm>
            <a:off x="390525" y="5619750"/>
            <a:ext cx="10668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350" b="0">
                <a:solidFill>
                  <a:srgbClr val="94A3B8"/>
                </a:solidFill>
                <a:latin typeface="Arial"/>
                <a:ea typeface="Arial"/>
                <a:cs typeface="Arial"/>
              </a:rPr>
              <a:t>Input dimension: 1,433 binary features · Fixed Planetoid split: 140 train / 500 validation / 1,000 test</a:t>
            </a:r>
          </a:p>
        </p:txBody>
      </p:sp>
      <p:sp>
        <p:nvSpPr>
          <p:cNvPr id="14" name="footer-rule-4">
            <a:extLst>
              <a:ext uri="{FF2B5EF4-FFF2-40B4-BE49-F238E27FC236}">
                <a16:creationId xmlns:a16="http://schemas.microsoft.com/office/drawing/2014/main" id="{6E0D82C8-4B81-462D-BCBD-732106BDD515}"/>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5" name="footer-label-4">
            <a:extLst>
              <a:ext uri="{FF2B5EF4-FFF2-40B4-BE49-F238E27FC236}">
                <a16:creationId xmlns:a16="http://schemas.microsoft.com/office/drawing/2014/main" id="{FDEA75C8-8FFC-4026-A6BD-9AF39CA6AC41}"/>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6" name="footer-page-4">
            <a:extLst>
              <a:ext uri="{FF2B5EF4-FFF2-40B4-BE49-F238E27FC236}">
                <a16:creationId xmlns:a16="http://schemas.microsoft.com/office/drawing/2014/main" id="{C985055C-3FBB-443B-BDB9-B86FBDF872CD}"/>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05</a:t>
            </a:r>
          </a:p>
        </p:txBody>
      </p:sp>
    </p:spTree>
    <p:extLst>
      <p:ext uri="{BB962C8B-B14F-4D97-AF65-F5344CB8AC3E}">
        <p14:creationId xmlns:p14="http://schemas.microsoft.com/office/powerpoint/2010/main" val="848601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6" name="title-5">
            <a:extLst>
              <a:ext uri="{FF2B5EF4-FFF2-40B4-BE49-F238E27FC236}">
                <a16:creationId xmlns:a16="http://schemas.microsoft.com/office/drawing/2014/main" id="{9ECE8B95-8160-4C4A-A5AC-018E996E47AA}"/>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850" b="1">
                <a:solidFill>
                  <a:srgbClr val="F8FAFC"/>
                </a:solidFill>
                <a:latin typeface="Arial"/>
                <a:ea typeface="Arial"/>
                <a:cs typeface="Arial"/>
              </a:rPr>
              <a:t>Architectural controls isolate distinct propagation mechanisms</a:t>
            </a:r>
          </a:p>
        </p:txBody>
      </p:sp>
      <p:sp>
        <p:nvSpPr>
          <p:cNvPr id="2" name="accent-5">
            <a:extLst>
              <a:ext uri="{FF2B5EF4-FFF2-40B4-BE49-F238E27FC236}">
                <a16:creationId xmlns:a16="http://schemas.microsoft.com/office/drawing/2014/main" id="{35483DAF-8577-49FD-8898-37B1F90169E3}"/>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5-vrule">
            <a:extLst>
              <a:ext uri="{FF2B5EF4-FFF2-40B4-BE49-F238E27FC236}">
                <a16:creationId xmlns:a16="http://schemas.microsoft.com/office/drawing/2014/main" id="{9B4110D5-F1B6-4EE0-B39B-87514075EAA8}"/>
              </a:ext>
            </a:extLst>
          </p:cNvPr>
          <p:cNvSpPr>
            <a:spLocks noGrp="1"/>
          </p:cNvSpPr>
          <p:nvPr/>
        </p:nvSpPr>
        <p:spPr>
          <a:xfrm>
            <a:off x="6096000" y="1619250"/>
            <a:ext cx="9525" cy="4000500"/>
          </a:xfrm>
          <a:prstGeom prst="rect">
            <a:avLst/>
          </a:prstGeom>
          <a:solidFill>
            <a:srgbClr val="2B3C59"/>
          </a:solidFill>
          <a:ln w="0">
            <a:solidFill>
              <a:srgbClr val="000000">
                <a:alpha val="0"/>
              </a:srgbClr>
            </a:solidFill>
            <a:prstDash val="solid"/>
          </a:ln>
        </p:spPr>
      </p:sp>
      <p:sp>
        <p:nvSpPr>
          <p:cNvPr id="4" name="s5-hrule">
            <a:extLst>
              <a:ext uri="{FF2B5EF4-FFF2-40B4-BE49-F238E27FC236}">
                <a16:creationId xmlns:a16="http://schemas.microsoft.com/office/drawing/2014/main" id="{498997EA-810A-4EA7-890A-3B744D487604}"/>
              </a:ext>
            </a:extLst>
          </p:cNvPr>
          <p:cNvSpPr>
            <a:spLocks noGrp="1"/>
          </p:cNvSpPr>
          <p:nvPr/>
        </p:nvSpPr>
        <p:spPr>
          <a:xfrm>
            <a:off x="390525" y="3619500"/>
            <a:ext cx="11410950" cy="9525"/>
          </a:xfrm>
          <a:prstGeom prst="rect">
            <a:avLst/>
          </a:prstGeom>
          <a:solidFill>
            <a:srgbClr val="2B3C59"/>
          </a:solidFill>
          <a:ln w="0">
            <a:solidFill>
              <a:srgbClr val="000000">
                <a:alpha val="0"/>
              </a:srgbClr>
            </a:solidFill>
            <a:prstDash val="solid"/>
          </a:ln>
        </p:spPr>
      </p:sp>
      <p:sp>
        <p:nvSpPr>
          <p:cNvPr id="5" name="s5-label-0">
            <a:extLst>
              <a:ext uri="{FF2B5EF4-FFF2-40B4-BE49-F238E27FC236}">
                <a16:creationId xmlns:a16="http://schemas.microsoft.com/office/drawing/2014/main" id="{90AA5309-3778-442A-B694-2608279BA244}"/>
              </a:ext>
            </a:extLst>
          </p:cNvPr>
          <p:cNvSpPr>
            <a:spLocks noGrp="1"/>
          </p:cNvSpPr>
          <p:nvPr/>
        </p:nvSpPr>
        <p:spPr>
          <a:xfrm>
            <a:off x="390525" y="1695450"/>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GCN</a:t>
            </a:r>
          </a:p>
        </p:txBody>
      </p:sp>
      <p:sp>
        <p:nvSpPr>
          <p:cNvPr id="6" name="s5-body-0">
            <a:extLst>
              <a:ext uri="{FF2B5EF4-FFF2-40B4-BE49-F238E27FC236}">
                <a16:creationId xmlns:a16="http://schemas.microsoft.com/office/drawing/2014/main" id="{F297CD1E-6156-49A0-BB72-D4BDBCB91D57}"/>
              </a:ext>
            </a:extLst>
          </p:cNvPr>
          <p:cNvSpPr>
            <a:spLocks noGrp="1"/>
          </p:cNvSpPr>
          <p:nvPr/>
        </p:nvSpPr>
        <p:spPr>
          <a:xfrm>
            <a:off x="390525" y="2286000"/>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Symmetric normalized propagation; reference model for depth-induced contraction.</a:t>
            </a:r>
          </a:p>
        </p:txBody>
      </p:sp>
      <p:sp>
        <p:nvSpPr>
          <p:cNvPr id="7" name="s5-label-1">
            <a:extLst>
              <a:ext uri="{FF2B5EF4-FFF2-40B4-BE49-F238E27FC236}">
                <a16:creationId xmlns:a16="http://schemas.microsoft.com/office/drawing/2014/main" id="{AC70902F-AD2E-4EF3-8C6A-09B9F9A02D55}"/>
              </a:ext>
            </a:extLst>
          </p:cNvPr>
          <p:cNvSpPr>
            <a:spLocks noGrp="1"/>
          </p:cNvSpPr>
          <p:nvPr/>
        </p:nvSpPr>
        <p:spPr>
          <a:xfrm>
            <a:off x="6477000" y="1695450"/>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GraphSAGE</a:t>
            </a:r>
          </a:p>
        </p:txBody>
      </p:sp>
      <p:sp>
        <p:nvSpPr>
          <p:cNvPr id="8" name="s5-body-1">
            <a:extLst>
              <a:ext uri="{FF2B5EF4-FFF2-40B4-BE49-F238E27FC236}">
                <a16:creationId xmlns:a16="http://schemas.microsoft.com/office/drawing/2014/main" id="{FF8F0DDD-2D79-475B-BB11-A2920DA42ABB}"/>
              </a:ext>
            </a:extLst>
          </p:cNvPr>
          <p:cNvSpPr>
            <a:spLocks noGrp="1"/>
          </p:cNvSpPr>
          <p:nvPr/>
        </p:nvSpPr>
        <p:spPr>
          <a:xfrm>
            <a:off x="6477000" y="2286000"/>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Mean aggregation with explicit self-features; separates self and neighborhood information.</a:t>
            </a:r>
          </a:p>
        </p:txBody>
      </p:sp>
      <p:sp>
        <p:nvSpPr>
          <p:cNvPr id="9" name="s5-label-2">
            <a:extLst>
              <a:ext uri="{FF2B5EF4-FFF2-40B4-BE49-F238E27FC236}">
                <a16:creationId xmlns:a16="http://schemas.microsoft.com/office/drawing/2014/main" id="{DB93E3EF-8C86-452C-BEDB-596BB7AD53E0}"/>
              </a:ext>
            </a:extLst>
          </p:cNvPr>
          <p:cNvSpPr>
            <a:spLocks noGrp="1"/>
          </p:cNvSpPr>
          <p:nvPr/>
        </p:nvSpPr>
        <p:spPr>
          <a:xfrm>
            <a:off x="390525" y="3857625"/>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GAT</a:t>
            </a:r>
          </a:p>
        </p:txBody>
      </p:sp>
      <p:sp>
        <p:nvSpPr>
          <p:cNvPr id="10" name="s5-body-2">
            <a:extLst>
              <a:ext uri="{FF2B5EF4-FFF2-40B4-BE49-F238E27FC236}">
                <a16:creationId xmlns:a16="http://schemas.microsoft.com/office/drawing/2014/main" id="{D7C35742-60E2-4F66-A25E-E9A743257BD8}"/>
              </a:ext>
            </a:extLst>
          </p:cNvPr>
          <p:cNvSpPr>
            <a:spLocks noGrp="1"/>
          </p:cNvSpPr>
          <p:nvPr/>
        </p:nvSpPr>
        <p:spPr>
          <a:xfrm>
            <a:off x="390525" y="4448175"/>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Learned attention weights; tests whether adaptive neighbor weighting delays collapse.</a:t>
            </a:r>
          </a:p>
        </p:txBody>
      </p:sp>
      <p:sp>
        <p:nvSpPr>
          <p:cNvPr id="11" name="s5-label-3">
            <a:extLst>
              <a:ext uri="{FF2B5EF4-FFF2-40B4-BE49-F238E27FC236}">
                <a16:creationId xmlns:a16="http://schemas.microsoft.com/office/drawing/2014/main" id="{A3E20FBE-883D-4865-889D-AE39A332883C}"/>
              </a:ext>
            </a:extLst>
          </p:cNvPr>
          <p:cNvSpPr>
            <a:spLocks noGrp="1"/>
          </p:cNvSpPr>
          <p:nvPr/>
        </p:nvSpPr>
        <p:spPr>
          <a:xfrm>
            <a:off x="6477000" y="3857625"/>
            <a:ext cx="49530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3D8DFF"/>
                </a:solidFill>
                <a:latin typeface="Arial"/>
                <a:ea typeface="Arial"/>
                <a:cs typeface="Arial"/>
              </a:defRPr>
            </a:pPr>
            <a:r>
              <a:rPr sz="2175" b="1">
                <a:solidFill>
                  <a:srgbClr val="38BDF8"/>
                </a:solidFill>
                <a:latin typeface="Arial"/>
                <a:ea typeface="Arial"/>
                <a:cs typeface="Arial"/>
              </a:rPr>
              <a:t>GCNII</a:t>
            </a:r>
          </a:p>
        </p:txBody>
      </p:sp>
      <p:sp>
        <p:nvSpPr>
          <p:cNvPr id="12" name="s5-body-3">
            <a:extLst>
              <a:ext uri="{FF2B5EF4-FFF2-40B4-BE49-F238E27FC236}">
                <a16:creationId xmlns:a16="http://schemas.microsoft.com/office/drawing/2014/main" id="{473ECDE5-6F9E-4439-A156-3B137C0FAC27}"/>
              </a:ext>
            </a:extLst>
          </p:cNvPr>
          <p:cNvSpPr>
            <a:spLocks noGrp="1"/>
          </p:cNvSpPr>
          <p:nvPr/>
        </p:nvSpPr>
        <p:spPr>
          <a:xfrm>
            <a:off x="6477000" y="4448175"/>
            <a:ext cx="4953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Initial residuals and identity mapping; purpose-built control for stable deep propagation.</a:t>
            </a:r>
          </a:p>
        </p:txBody>
      </p:sp>
      <p:sp>
        <p:nvSpPr>
          <p:cNvPr id="13" name="footer-rule-5">
            <a:extLst>
              <a:ext uri="{FF2B5EF4-FFF2-40B4-BE49-F238E27FC236}">
                <a16:creationId xmlns:a16="http://schemas.microsoft.com/office/drawing/2014/main" id="{FDCD9255-8BE3-49E2-9DF8-EABDEB1D1E77}"/>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4" name="footer-label-5">
            <a:extLst>
              <a:ext uri="{FF2B5EF4-FFF2-40B4-BE49-F238E27FC236}">
                <a16:creationId xmlns:a16="http://schemas.microsoft.com/office/drawing/2014/main" id="{4DA3DBFC-463C-4CD3-AFF3-CCDF7FCAE32A}"/>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5" name="footer-page-5">
            <a:extLst>
              <a:ext uri="{FF2B5EF4-FFF2-40B4-BE49-F238E27FC236}">
                <a16:creationId xmlns:a16="http://schemas.microsoft.com/office/drawing/2014/main" id="{78E1FDED-D42E-4C7A-9C6A-216F536EB85A}"/>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06</a:t>
            </a:r>
          </a:p>
        </p:txBody>
      </p:sp>
    </p:spTree>
    <p:extLst>
      <p:ext uri="{BB962C8B-B14F-4D97-AF65-F5344CB8AC3E}">
        <p14:creationId xmlns:p14="http://schemas.microsoft.com/office/powerpoint/2010/main" val="81484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8" name="title-6">
            <a:extLst>
              <a:ext uri="{FF2B5EF4-FFF2-40B4-BE49-F238E27FC236}">
                <a16:creationId xmlns:a16="http://schemas.microsoft.com/office/drawing/2014/main" id="{F9EA760E-9A02-4568-B6C3-1CB3837547AC}"/>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Experimental protocol and reproducibility controls</a:t>
            </a:r>
          </a:p>
        </p:txBody>
      </p:sp>
      <p:sp>
        <p:nvSpPr>
          <p:cNvPr id="2" name="accent-6">
            <a:extLst>
              <a:ext uri="{FF2B5EF4-FFF2-40B4-BE49-F238E27FC236}">
                <a16:creationId xmlns:a16="http://schemas.microsoft.com/office/drawing/2014/main" id="{61A493ED-5F9D-4639-AB9B-3D5DB01E0F3A}"/>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6-panel-0">
            <a:extLst>
              <a:ext uri="{FF2B5EF4-FFF2-40B4-BE49-F238E27FC236}">
                <a16:creationId xmlns:a16="http://schemas.microsoft.com/office/drawing/2014/main" id="{122F35BD-BC29-4639-A1CF-93D43A39102E}"/>
              </a:ext>
            </a:extLst>
          </p:cNvPr>
          <p:cNvSpPr>
            <a:spLocks noGrp="1"/>
          </p:cNvSpPr>
          <p:nvPr/>
        </p:nvSpPr>
        <p:spPr>
          <a:xfrm>
            <a:off x="390525" y="1524000"/>
            <a:ext cx="3571875" cy="3810000"/>
          </a:xfrm>
          <a:prstGeom prst="roundRect">
            <a:avLst>
              <a:gd name="adj" fmla="val 2133"/>
            </a:avLst>
          </a:prstGeom>
          <a:solidFill>
            <a:srgbClr val="13243B"/>
          </a:solidFill>
          <a:ln w="15240">
            <a:solidFill>
              <a:srgbClr val="38BDF8"/>
            </a:solidFill>
            <a:prstDash val="solid"/>
          </a:ln>
        </p:spPr>
      </p:sp>
      <p:sp>
        <p:nvSpPr>
          <p:cNvPr id="4" name="s6-num-0">
            <a:extLst>
              <a:ext uri="{FF2B5EF4-FFF2-40B4-BE49-F238E27FC236}">
                <a16:creationId xmlns:a16="http://schemas.microsoft.com/office/drawing/2014/main" id="{5427696E-3D35-41ED-BE5B-93BCAB0B6DB9}"/>
              </a:ext>
            </a:extLst>
          </p:cNvPr>
          <p:cNvSpPr>
            <a:spLocks noGrp="1"/>
          </p:cNvSpPr>
          <p:nvPr/>
        </p:nvSpPr>
        <p:spPr>
          <a:xfrm>
            <a:off x="676275" y="1790700"/>
            <a:ext cx="9048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3D8DFF"/>
                </a:solidFill>
                <a:latin typeface="Arial"/>
                <a:ea typeface="Arial"/>
                <a:cs typeface="Arial"/>
              </a:defRPr>
            </a:pPr>
            <a:r>
              <a:rPr sz="1425" b="1">
                <a:solidFill>
                  <a:srgbClr val="38BDF8"/>
                </a:solidFill>
                <a:latin typeface="Arial"/>
                <a:ea typeface="Arial"/>
                <a:cs typeface="Arial"/>
              </a:rPr>
              <a:t>01</a:t>
            </a:r>
          </a:p>
        </p:txBody>
      </p:sp>
      <p:sp>
        <p:nvSpPr>
          <p:cNvPr id="5" name="s6-title-0">
            <a:extLst>
              <a:ext uri="{FF2B5EF4-FFF2-40B4-BE49-F238E27FC236}">
                <a16:creationId xmlns:a16="http://schemas.microsoft.com/office/drawing/2014/main" id="{4903A17B-87A1-49BD-A229-EACBE7777419}"/>
              </a:ext>
            </a:extLst>
          </p:cNvPr>
          <p:cNvSpPr>
            <a:spLocks noGrp="1"/>
          </p:cNvSpPr>
          <p:nvPr/>
        </p:nvSpPr>
        <p:spPr>
          <a:xfrm>
            <a:off x="676275" y="2333625"/>
            <a:ext cx="29527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Depth sweep</a:t>
            </a:r>
          </a:p>
        </p:txBody>
      </p:sp>
      <p:sp>
        <p:nvSpPr>
          <p:cNvPr id="6" name="s6-body-0">
            <a:extLst>
              <a:ext uri="{FF2B5EF4-FFF2-40B4-BE49-F238E27FC236}">
                <a16:creationId xmlns:a16="http://schemas.microsoft.com/office/drawing/2014/main" id="{6869FDC8-E410-4235-943E-00940946F422}"/>
              </a:ext>
            </a:extLst>
          </p:cNvPr>
          <p:cNvSpPr>
            <a:spLocks noGrp="1"/>
          </p:cNvSpPr>
          <p:nvPr/>
        </p:nvSpPr>
        <p:spPr>
          <a:xfrm>
            <a:off x="676275" y="3048000"/>
            <a:ext cx="2952750" cy="1857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75" b="0">
                <a:solidFill>
                  <a:srgbClr val="D6E0ED"/>
                </a:solidFill>
                <a:latin typeface="Arial"/>
                <a:ea typeface="Arial"/>
                <a:cs typeface="Arial"/>
              </a:rPr>
              <a:t>Architectures: 4</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Depths: {2, 4, 8, 16, 32}</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Independent seeds: 10</a:t>
            </a:r>
          </a:p>
        </p:txBody>
      </p:sp>
      <p:sp>
        <p:nvSpPr>
          <p:cNvPr id="7" name="s6-panel-1">
            <a:extLst>
              <a:ext uri="{FF2B5EF4-FFF2-40B4-BE49-F238E27FC236}">
                <a16:creationId xmlns:a16="http://schemas.microsoft.com/office/drawing/2014/main" id="{675B8378-BF84-4F9B-AF9A-695F71F4EB89}"/>
              </a:ext>
            </a:extLst>
          </p:cNvPr>
          <p:cNvSpPr>
            <a:spLocks noGrp="1"/>
          </p:cNvSpPr>
          <p:nvPr/>
        </p:nvSpPr>
        <p:spPr>
          <a:xfrm>
            <a:off x="4314825" y="1524000"/>
            <a:ext cx="3571875" cy="3810000"/>
          </a:xfrm>
          <a:prstGeom prst="roundRect">
            <a:avLst>
              <a:gd name="adj" fmla="val 2133"/>
            </a:avLst>
          </a:prstGeom>
          <a:solidFill>
            <a:srgbClr val="1A2038"/>
          </a:solidFill>
          <a:ln w="15240">
            <a:solidFill>
              <a:srgbClr val="9B87F5"/>
            </a:solidFill>
            <a:prstDash val="solid"/>
          </a:ln>
        </p:spPr>
      </p:sp>
      <p:sp>
        <p:nvSpPr>
          <p:cNvPr id="8" name="s6-num-1">
            <a:extLst>
              <a:ext uri="{FF2B5EF4-FFF2-40B4-BE49-F238E27FC236}">
                <a16:creationId xmlns:a16="http://schemas.microsoft.com/office/drawing/2014/main" id="{D3E1E150-E61A-4B82-A2A4-6EEA8060B556}"/>
              </a:ext>
            </a:extLst>
          </p:cNvPr>
          <p:cNvSpPr>
            <a:spLocks noGrp="1"/>
          </p:cNvSpPr>
          <p:nvPr/>
        </p:nvSpPr>
        <p:spPr>
          <a:xfrm>
            <a:off x="4600575" y="1790700"/>
            <a:ext cx="9048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3D8DFF"/>
                </a:solidFill>
                <a:latin typeface="Arial"/>
                <a:ea typeface="Arial"/>
                <a:cs typeface="Arial"/>
              </a:defRPr>
            </a:pPr>
            <a:r>
              <a:rPr sz="1425" b="1">
                <a:solidFill>
                  <a:srgbClr val="9B87F5"/>
                </a:solidFill>
                <a:latin typeface="Arial"/>
                <a:ea typeface="Arial"/>
                <a:cs typeface="Arial"/>
              </a:rPr>
              <a:t>02</a:t>
            </a:r>
          </a:p>
        </p:txBody>
      </p:sp>
      <p:sp>
        <p:nvSpPr>
          <p:cNvPr id="9" name="s6-title-1">
            <a:extLst>
              <a:ext uri="{FF2B5EF4-FFF2-40B4-BE49-F238E27FC236}">
                <a16:creationId xmlns:a16="http://schemas.microsoft.com/office/drawing/2014/main" id="{522B6B1B-023A-4B1B-AB35-C9949AABCE4E}"/>
              </a:ext>
            </a:extLst>
          </p:cNvPr>
          <p:cNvSpPr>
            <a:spLocks noGrp="1"/>
          </p:cNvSpPr>
          <p:nvPr/>
        </p:nvSpPr>
        <p:spPr>
          <a:xfrm>
            <a:off x="4600575" y="2333625"/>
            <a:ext cx="29527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Diagnostics</a:t>
            </a:r>
          </a:p>
        </p:txBody>
      </p:sp>
      <p:sp>
        <p:nvSpPr>
          <p:cNvPr id="10" name="s6-body-1">
            <a:extLst>
              <a:ext uri="{FF2B5EF4-FFF2-40B4-BE49-F238E27FC236}">
                <a16:creationId xmlns:a16="http://schemas.microsoft.com/office/drawing/2014/main" id="{304DE4E2-4BB0-48E2-BCBC-0BA950E6C4A0}"/>
              </a:ext>
            </a:extLst>
          </p:cNvPr>
          <p:cNvSpPr>
            <a:spLocks noGrp="1"/>
          </p:cNvSpPr>
          <p:nvPr/>
        </p:nvSpPr>
        <p:spPr>
          <a:xfrm>
            <a:off x="4600575" y="3048000"/>
            <a:ext cx="2952750" cy="1857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75" b="0">
                <a:solidFill>
                  <a:srgbClr val="D6E0ED"/>
                </a:solidFill>
                <a:latin typeface="Arial"/>
                <a:ea typeface="Arial"/>
                <a:cs typeface="Arial"/>
              </a:rPr>
              <a:t>Test accuracy</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MAD + Dirichlet energy</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Epoch 0 · checkpoint · final</a:t>
            </a:r>
          </a:p>
        </p:txBody>
      </p:sp>
      <p:sp>
        <p:nvSpPr>
          <p:cNvPr id="11" name="s6-panel-2">
            <a:extLst>
              <a:ext uri="{FF2B5EF4-FFF2-40B4-BE49-F238E27FC236}">
                <a16:creationId xmlns:a16="http://schemas.microsoft.com/office/drawing/2014/main" id="{C469FF48-523C-4B27-8516-EC0EAD8FE339}"/>
              </a:ext>
            </a:extLst>
          </p:cNvPr>
          <p:cNvSpPr>
            <a:spLocks noGrp="1"/>
          </p:cNvSpPr>
          <p:nvPr/>
        </p:nvSpPr>
        <p:spPr>
          <a:xfrm>
            <a:off x="8229600" y="1524000"/>
            <a:ext cx="3571875" cy="3810000"/>
          </a:xfrm>
          <a:prstGeom prst="roundRect">
            <a:avLst>
              <a:gd name="adj" fmla="val 2133"/>
            </a:avLst>
          </a:prstGeom>
          <a:solidFill>
            <a:srgbClr val="102D35"/>
          </a:solidFill>
          <a:ln w="15240">
            <a:solidFill>
              <a:srgbClr val="2DD4BF"/>
            </a:solidFill>
            <a:prstDash val="solid"/>
          </a:ln>
        </p:spPr>
      </p:sp>
      <p:sp>
        <p:nvSpPr>
          <p:cNvPr id="12" name="s6-num-2">
            <a:extLst>
              <a:ext uri="{FF2B5EF4-FFF2-40B4-BE49-F238E27FC236}">
                <a16:creationId xmlns:a16="http://schemas.microsoft.com/office/drawing/2014/main" id="{AE215225-A267-4AC1-9DC9-50B7C7EEA095}"/>
              </a:ext>
            </a:extLst>
          </p:cNvPr>
          <p:cNvSpPr>
            <a:spLocks noGrp="1"/>
          </p:cNvSpPr>
          <p:nvPr/>
        </p:nvSpPr>
        <p:spPr>
          <a:xfrm>
            <a:off x="8515350" y="1790700"/>
            <a:ext cx="9048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3D8DFF"/>
                </a:solidFill>
                <a:latin typeface="Arial"/>
                <a:ea typeface="Arial"/>
                <a:cs typeface="Arial"/>
              </a:defRPr>
            </a:pPr>
            <a:r>
              <a:rPr sz="1425" b="1">
                <a:solidFill>
                  <a:srgbClr val="2DD4BF"/>
                </a:solidFill>
                <a:latin typeface="Arial"/>
                <a:ea typeface="Arial"/>
                <a:cs typeface="Arial"/>
              </a:rPr>
              <a:t>03</a:t>
            </a:r>
          </a:p>
        </p:txBody>
      </p:sp>
      <p:sp>
        <p:nvSpPr>
          <p:cNvPr id="13" name="s6-title-2">
            <a:extLst>
              <a:ext uri="{FF2B5EF4-FFF2-40B4-BE49-F238E27FC236}">
                <a16:creationId xmlns:a16="http://schemas.microsoft.com/office/drawing/2014/main" id="{258F24B7-CAE3-4C44-B0AE-DA929DACE806}"/>
              </a:ext>
            </a:extLst>
          </p:cNvPr>
          <p:cNvSpPr>
            <a:spLocks noGrp="1"/>
          </p:cNvSpPr>
          <p:nvPr/>
        </p:nvSpPr>
        <p:spPr>
          <a:xfrm>
            <a:off x="8515350" y="2333625"/>
            <a:ext cx="29527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F8FAFC"/>
                </a:solidFill>
                <a:latin typeface="Arial"/>
                <a:ea typeface="Arial"/>
                <a:cs typeface="Arial"/>
              </a:rPr>
              <a:t>Interventions</a:t>
            </a:r>
          </a:p>
        </p:txBody>
      </p:sp>
      <p:sp>
        <p:nvSpPr>
          <p:cNvPr id="14" name="s6-body-2">
            <a:extLst>
              <a:ext uri="{FF2B5EF4-FFF2-40B4-BE49-F238E27FC236}">
                <a16:creationId xmlns:a16="http://schemas.microsoft.com/office/drawing/2014/main" id="{D55EBC9E-E4A2-40B7-962D-F92B1709263E}"/>
              </a:ext>
            </a:extLst>
          </p:cNvPr>
          <p:cNvSpPr>
            <a:spLocks noGrp="1"/>
          </p:cNvSpPr>
          <p:nvPr/>
        </p:nvSpPr>
        <p:spPr>
          <a:xfrm>
            <a:off x="8515350" y="3048000"/>
            <a:ext cx="2952750" cy="1857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75" b="0">
                <a:solidFill>
                  <a:srgbClr val="D6E0ED"/>
                </a:solidFill>
                <a:latin typeface="Arial"/>
                <a:ea typeface="Arial"/>
                <a:cs typeface="Arial"/>
              </a:rPr>
              <a:t>Residual · PairNorm</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Jumping Knowledge</a:t>
            </a:r>
          </a:p>
          <a:p>
            <a:pPr algn="l">
              <a:buNone/>
              <a:defRPr sz="1575" b="0">
                <a:solidFill>
                  <a:srgbClr val="5F6368"/>
                </a:solidFill>
                <a:latin typeface="Arial"/>
                <a:ea typeface="Arial"/>
                <a:cs typeface="Arial"/>
              </a:defRPr>
            </a:pPr>
            <a:r>
              <a:rPr sz="1575" b="0">
                <a:solidFill>
                  <a:srgbClr val="D6E0ED"/>
                </a:solidFill>
                <a:latin typeface="Arial"/>
                <a:ea typeface="Arial"/>
                <a:cs typeface="Arial"/>
              </a:rPr>
              <a:t>GCNII architectural control</a:t>
            </a:r>
          </a:p>
        </p:txBody>
      </p:sp>
      <p:sp>
        <p:nvSpPr>
          <p:cNvPr id="15" name="footer-rule-6">
            <a:extLst>
              <a:ext uri="{FF2B5EF4-FFF2-40B4-BE49-F238E27FC236}">
                <a16:creationId xmlns:a16="http://schemas.microsoft.com/office/drawing/2014/main" id="{83B58FDF-E44B-4DF5-AAC2-7D60BD8E5B09}"/>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6" name="footer-label-6">
            <a:extLst>
              <a:ext uri="{FF2B5EF4-FFF2-40B4-BE49-F238E27FC236}">
                <a16:creationId xmlns:a16="http://schemas.microsoft.com/office/drawing/2014/main" id="{1E867763-71F3-49AB-B528-F47E420913B0}"/>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7" name="footer-page-6">
            <a:extLst>
              <a:ext uri="{FF2B5EF4-FFF2-40B4-BE49-F238E27FC236}">
                <a16:creationId xmlns:a16="http://schemas.microsoft.com/office/drawing/2014/main" id="{539824BC-962F-4C50-A865-28B6DA06BCA0}"/>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07</a:t>
            </a:r>
          </a:p>
        </p:txBody>
      </p:sp>
    </p:spTree>
    <p:extLst>
      <p:ext uri="{BB962C8B-B14F-4D97-AF65-F5344CB8AC3E}">
        <p14:creationId xmlns:p14="http://schemas.microsoft.com/office/powerpoint/2010/main" val="1959507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4" name="title-7">
            <a:extLst>
              <a:ext uri="{FF2B5EF4-FFF2-40B4-BE49-F238E27FC236}">
                <a16:creationId xmlns:a16="http://schemas.microsoft.com/office/drawing/2014/main" id="{7107B142-9239-4A5D-BF62-AF4115416748}"/>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Representation diagnostics: formal definitions</a:t>
            </a:r>
          </a:p>
        </p:txBody>
      </p:sp>
      <p:sp>
        <p:nvSpPr>
          <p:cNvPr id="2" name="accent-7">
            <a:extLst>
              <a:ext uri="{FF2B5EF4-FFF2-40B4-BE49-F238E27FC236}">
                <a16:creationId xmlns:a16="http://schemas.microsoft.com/office/drawing/2014/main" id="{D682D63B-AEE2-4449-8939-7F286A38EB1D}"/>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7-mad">
            <a:extLst>
              <a:ext uri="{FF2B5EF4-FFF2-40B4-BE49-F238E27FC236}">
                <a16:creationId xmlns:a16="http://schemas.microsoft.com/office/drawing/2014/main" id="{844894F4-21C9-490B-B602-7957AEA2A589}"/>
              </a:ext>
            </a:extLst>
          </p:cNvPr>
          <p:cNvSpPr>
            <a:spLocks noGrp="1"/>
          </p:cNvSpPr>
          <p:nvPr/>
        </p:nvSpPr>
        <p:spPr>
          <a:xfrm>
            <a:off x="390525" y="1809750"/>
            <a:ext cx="4953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4200" b="1">
                <a:solidFill>
                  <a:srgbClr val="3D8DFF"/>
                </a:solidFill>
                <a:latin typeface="Arial"/>
                <a:ea typeface="Arial"/>
                <a:cs typeface="Arial"/>
              </a:defRPr>
            </a:pPr>
            <a:r>
              <a:rPr sz="4200" b="1">
                <a:solidFill>
                  <a:srgbClr val="38BDF8"/>
                </a:solidFill>
                <a:latin typeface="Arial"/>
                <a:ea typeface="Arial"/>
                <a:cs typeface="Arial"/>
              </a:rPr>
              <a:t>MAD(H)</a:t>
            </a:r>
          </a:p>
        </p:txBody>
      </p:sp>
      <p:sp>
        <p:nvSpPr>
          <p:cNvPr id="4" name="s7-mad-sub">
            <a:extLst>
              <a:ext uri="{FF2B5EF4-FFF2-40B4-BE49-F238E27FC236}">
                <a16:creationId xmlns:a16="http://schemas.microsoft.com/office/drawing/2014/main" id="{C912FAF6-1B06-4BD0-A8CB-3F850ABF27AE}"/>
              </a:ext>
            </a:extLst>
          </p:cNvPr>
          <p:cNvSpPr>
            <a:spLocks noGrp="1"/>
          </p:cNvSpPr>
          <p:nvPr/>
        </p:nvSpPr>
        <p:spPr>
          <a:xfrm>
            <a:off x="390525" y="2781300"/>
            <a:ext cx="4953000" cy="428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1">
                <a:solidFill>
                  <a:srgbClr val="111111"/>
                </a:solidFill>
                <a:latin typeface="Arial"/>
                <a:ea typeface="Arial"/>
                <a:cs typeface="Arial"/>
              </a:defRPr>
            </a:pPr>
            <a:r>
              <a:rPr sz="1800" b="1">
                <a:solidFill>
                  <a:srgbClr val="F8FAFC"/>
                </a:solidFill>
                <a:latin typeface="Arial"/>
                <a:ea typeface="Arial"/>
                <a:cs typeface="Arial"/>
              </a:rPr>
              <a:t>Cosine-distance geometry</a:t>
            </a:r>
          </a:p>
        </p:txBody>
      </p:sp>
      <mc:AlternateContent xmlns:mc="http://schemas.openxmlformats.org/markup-compatibility/2006">
        <mc:Choice xmlns:a14="http://schemas.microsoft.com/office/drawing/2010/main" Requires="a14">
          <p:sp>
            <p:nvSpPr>
              <p:cNvPr id="5" name="s7-mad-body">
                <a:extLst>
                  <a:ext uri="{FF2B5EF4-FFF2-40B4-BE49-F238E27FC236}">
                    <a16:creationId xmlns:a16="http://schemas.microsoft.com/office/drawing/2014/main" id="{805D3A81-F39B-4595-ABFF-31103E155164}"/>
                  </a:ext>
                </a:extLst>
              </p:cNvPr>
              <p:cNvSpPr>
                <a:spLocks noGrp="1"/>
              </p:cNvSpPr>
              <p:nvPr/>
            </p:nvSpPr>
            <p:spPr>
              <a:xfrm>
                <a:off x="246476" y="3238500"/>
                <a:ext cx="4953000" cy="1428750"/>
              </a:xfrm>
              <a:prstGeom prst="rect">
                <a:avLst/>
              </a:prstGeom>
              <a:solidFill>
                <a:srgbClr val="000000">
                  <a:alpha val="0"/>
                </a:srgbClr>
              </a:solidFill>
              <a:ln w="0">
                <a:solidFill>
                  <a:srgbClr val="000000">
                    <a:alpha val="0"/>
                  </a:srgbClr>
                </a:solidFill>
                <a:prstDash val="solid"/>
              </a:ln>
            </p:spPr>
            <p:txBody>
              <a:bodyPr lIns="0" tIns="0" rIns="0" bIns="0" anchor="t"/>
              <a:lstStyle/>
              <a:p>
                <a14:m>
                  <m:oMathPara xmlns:m="http://schemas.openxmlformats.org/officeDocument/2006/math">
                    <m:oMathParaPr>
                      <m:jc m:val="centerGroup"/>
                    </m:oMathParaPr>
                    <m:oMath xmlns:m="http://schemas.openxmlformats.org/officeDocument/2006/math">
                      <m:eqArr>
                        <m:eqArrPr>
                          <m:ctrlPr>
                            <a:rPr lang="en-CA" sz="1575" b="0" i="1" smtClean="0">
                              <a:solidFill>
                                <a:srgbClr val="D6E0ED"/>
                              </a:solidFill>
                              <a:latin typeface="Cambria Math" panose="02040503050406030204" pitchFamily="18" charset="0"/>
                            </a:rPr>
                          </m:ctrlPr>
                        </m:eqArrPr>
                        <m:e>
                          <m:sSub>
                            <m:sSubPr>
                              <m:ctrlPr>
                                <a:rPr lang="en-CA" sz="1575" b="0" i="1" smtClean="0">
                                  <a:solidFill>
                                    <a:srgbClr val="D6E0ED"/>
                                  </a:solidFill>
                                  <a:latin typeface="Cambria Math" panose="02040503050406030204" pitchFamily="18" charset="0"/>
                                </a:rPr>
                              </m:ctrlPr>
                            </m:sSubPr>
                            <m:e>
                              <m:r>
                                <a:rPr lang="en-CA" sz="1575" b="0" i="1" smtClean="0">
                                  <a:solidFill>
                                    <a:srgbClr val="D6E0ED"/>
                                  </a:solidFill>
                                  <a:latin typeface="Cambria Math" panose="02040503050406030204" pitchFamily="18" charset="0"/>
                                </a:rPr>
                                <m:t>𝐷</m:t>
                              </m:r>
                            </m:e>
                            <m:sub>
                              <m:r>
                                <a:rPr lang="en-CA" sz="1575" b="0" i="1" smtClean="0">
                                  <a:solidFill>
                                    <a:srgbClr val="D6E0ED"/>
                                  </a:solidFill>
                                  <a:latin typeface="Cambria Math" panose="02040503050406030204" pitchFamily="18" charset="0"/>
                                </a:rPr>
                                <m:t>𝑖𝑗</m:t>
                              </m:r>
                            </m:sub>
                          </m:sSub>
                          <m:r>
                            <m:rPr>
                              <m:aln/>
                            </m:rPr>
                            <a:rPr lang="en-CA" sz="1575" b="0" i="0" smtClean="0">
                              <a:solidFill>
                                <a:srgbClr val="D6E0ED"/>
                              </a:solidFill>
                              <a:latin typeface="Cambria Math" panose="02040503050406030204" pitchFamily="18" charset="0"/>
                            </a:rPr>
                            <m:t>&amp;</m:t>
                          </m:r>
                          <m:r>
                            <a:rPr lang="en-CA" sz="1575" b="0" i="0" smtClean="0">
                              <a:solidFill>
                                <a:srgbClr val="D6E0ED"/>
                              </a:solidFill>
                              <a:latin typeface="Cambria Math" panose="02040503050406030204" pitchFamily="18" charset="0"/>
                            </a:rPr>
                            <m:t>=1−</m:t>
                          </m:r>
                          <m:func>
                            <m:funcPr>
                              <m:ctrlPr>
                                <a:rPr lang="en-CA" sz="1575" b="0" i="1" smtClean="0">
                                  <a:solidFill>
                                    <a:srgbClr val="D6E0ED"/>
                                  </a:solidFill>
                                  <a:latin typeface="Cambria Math" panose="02040503050406030204" pitchFamily="18" charset="0"/>
                                </a:rPr>
                              </m:ctrlPr>
                            </m:funcPr>
                            <m:fName>
                              <m:r>
                                <m:rPr>
                                  <m:sty m:val="p"/>
                                </m:rPr>
                                <a:rPr lang="en-CA" sz="1575" b="0" i="0" smtClean="0">
                                  <a:solidFill>
                                    <a:srgbClr val="D6E0ED"/>
                                  </a:solidFill>
                                  <a:latin typeface="Cambria Math" panose="02040503050406030204" pitchFamily="18" charset="0"/>
                                </a:rPr>
                                <m:t>cos</m:t>
                              </m:r>
                            </m:fName>
                            <m:e>
                              <m:d>
                                <m:dPr>
                                  <m:ctrlPr>
                                    <a:rPr lang="en-CA" sz="1575" b="0" i="1" smtClean="0">
                                      <a:solidFill>
                                        <a:srgbClr val="D6E0ED"/>
                                      </a:solidFill>
                                      <a:latin typeface="Cambria Math" panose="02040503050406030204" pitchFamily="18" charset="0"/>
                                    </a:rPr>
                                  </m:ctrlPr>
                                </m:dPr>
                                <m:e>
                                  <m:sSub>
                                    <m:sSubPr>
                                      <m:ctrlPr>
                                        <a:rPr lang="en-CA" sz="1575" b="0" i="1" smtClean="0">
                                          <a:solidFill>
                                            <a:srgbClr val="D6E0ED"/>
                                          </a:solidFill>
                                          <a:latin typeface="Cambria Math" panose="02040503050406030204" pitchFamily="18" charset="0"/>
                                        </a:rPr>
                                      </m:ctrlPr>
                                    </m:sSubPr>
                                    <m:e>
                                      <m:r>
                                        <a:rPr lang="en-CA" sz="1575" b="0" i="0" smtClean="0">
                                          <a:solidFill>
                                            <a:srgbClr val="D6E0ED"/>
                                          </a:solidFill>
                                          <a:latin typeface="Cambria Math" panose="02040503050406030204" pitchFamily="18" charset="0"/>
                                        </a:rPr>
                                        <m:t>𝐡</m:t>
                                      </m:r>
                                    </m:e>
                                    <m:sub>
                                      <m:r>
                                        <a:rPr lang="en-CA" sz="1575" b="0" i="1" smtClean="0">
                                          <a:solidFill>
                                            <a:srgbClr val="D6E0ED"/>
                                          </a:solidFill>
                                          <a:latin typeface="Cambria Math" panose="02040503050406030204" pitchFamily="18" charset="0"/>
                                        </a:rPr>
                                        <m:t>𝑖</m:t>
                                      </m:r>
                                    </m:sub>
                                  </m:sSub>
                                  <m:r>
                                    <a:rPr lang="en-CA" sz="1575" b="0" i="0" smtClean="0">
                                      <a:solidFill>
                                        <a:srgbClr val="D6E0ED"/>
                                      </a:solidFill>
                                      <a:latin typeface="Cambria Math" panose="02040503050406030204" pitchFamily="18" charset="0"/>
                                    </a:rPr>
                                    <m:t>,</m:t>
                                  </m:r>
                                  <m:sSub>
                                    <m:sSubPr>
                                      <m:ctrlPr>
                                        <a:rPr lang="en-CA" sz="1575" b="0" i="1" smtClean="0">
                                          <a:solidFill>
                                            <a:srgbClr val="D6E0ED"/>
                                          </a:solidFill>
                                          <a:latin typeface="Cambria Math" panose="02040503050406030204" pitchFamily="18" charset="0"/>
                                        </a:rPr>
                                      </m:ctrlPr>
                                    </m:sSubPr>
                                    <m:e>
                                      <m:r>
                                        <a:rPr lang="en-CA" sz="1575" b="0" i="0" smtClean="0">
                                          <a:solidFill>
                                            <a:srgbClr val="D6E0ED"/>
                                          </a:solidFill>
                                          <a:latin typeface="Cambria Math" panose="02040503050406030204" pitchFamily="18" charset="0"/>
                                        </a:rPr>
                                        <m:t>𝐡</m:t>
                                      </m:r>
                                    </m:e>
                                    <m:sub>
                                      <m:r>
                                        <a:rPr lang="en-CA" sz="1575" b="0" i="1" smtClean="0">
                                          <a:solidFill>
                                            <a:srgbClr val="D6E0ED"/>
                                          </a:solidFill>
                                          <a:latin typeface="Cambria Math" panose="02040503050406030204" pitchFamily="18" charset="0"/>
                                        </a:rPr>
                                        <m:t>𝑗</m:t>
                                      </m:r>
                                    </m:sub>
                                  </m:sSub>
                                </m:e>
                              </m:d>
                            </m:e>
                          </m:func>
                        </m:e>
                        <m:e>
                          <m:r>
                            <m:rPr>
                              <m:aln/>
                            </m:rPr>
                            <a:rPr lang="en-CA" sz="1575" b="0" i="0" smtClean="0">
                              <a:solidFill>
                                <a:srgbClr val="D6E0ED"/>
                              </a:solidFill>
                              <a:latin typeface="Cambria Math" panose="02040503050406030204" pitchFamily="18" charset="0"/>
                            </a:rPr>
                            <m:t>&amp;</m:t>
                          </m:r>
                          <m:r>
                            <a:rPr lang="en-CA" sz="1575" b="0" i="0" smtClean="0">
                              <a:solidFill>
                                <a:srgbClr val="D6E0ED"/>
                              </a:solidFill>
                              <a:latin typeface="Cambria Math" panose="02040503050406030204" pitchFamily="18" charset="0"/>
                            </a:rPr>
                            <m:t>=1−</m:t>
                          </m:r>
                          <m:f>
                            <m:fPr>
                              <m:ctrlPr>
                                <a:rPr lang="en-CA" sz="1575" b="0" i="1" smtClean="0">
                                  <a:solidFill>
                                    <a:srgbClr val="D6E0ED"/>
                                  </a:solidFill>
                                  <a:latin typeface="Cambria Math" panose="02040503050406030204" pitchFamily="18" charset="0"/>
                                </a:rPr>
                              </m:ctrlPr>
                            </m:fPr>
                            <m:num>
                              <m:sSubSup>
                                <m:sSubSupPr>
                                  <m:ctrlPr>
                                    <a:rPr lang="en-CA" sz="1575" b="0" i="1" smtClean="0">
                                      <a:solidFill>
                                        <a:srgbClr val="D6E0ED"/>
                                      </a:solidFill>
                                      <a:latin typeface="Cambria Math" panose="02040503050406030204" pitchFamily="18" charset="0"/>
                                    </a:rPr>
                                  </m:ctrlPr>
                                </m:sSubSupPr>
                                <m:e>
                                  <m:r>
                                    <a:rPr lang="en-CA" sz="1575" b="0" i="0" smtClean="0">
                                      <a:solidFill>
                                        <a:srgbClr val="D6E0ED"/>
                                      </a:solidFill>
                                      <a:latin typeface="Cambria Math" panose="02040503050406030204" pitchFamily="18" charset="0"/>
                                    </a:rPr>
                                    <m:t>𝐡</m:t>
                                  </m:r>
                                </m:e>
                                <m:sub>
                                  <m:r>
                                    <a:rPr lang="en-CA" sz="1575" b="0" i="1" smtClean="0">
                                      <a:solidFill>
                                        <a:srgbClr val="D6E0ED"/>
                                      </a:solidFill>
                                      <a:latin typeface="Cambria Math" panose="02040503050406030204" pitchFamily="18" charset="0"/>
                                    </a:rPr>
                                    <m:t>𝑖</m:t>
                                  </m:r>
                                </m:sub>
                                <m:sup>
                                  <m:r>
                                    <a:rPr lang="en-CA" sz="1575" b="0" i="0" smtClean="0">
                                      <a:solidFill>
                                        <a:srgbClr val="D6E0ED"/>
                                      </a:solidFill>
                                      <a:latin typeface="Cambria Math" panose="02040503050406030204" pitchFamily="18" charset="0"/>
                                    </a:rPr>
                                    <m:t>𝖳</m:t>
                                  </m:r>
                                </m:sup>
                              </m:sSubSup>
                              <m:sSub>
                                <m:sSubPr>
                                  <m:ctrlPr>
                                    <a:rPr lang="en-CA" sz="1575" b="0" i="1" smtClean="0">
                                      <a:solidFill>
                                        <a:srgbClr val="D6E0ED"/>
                                      </a:solidFill>
                                      <a:latin typeface="Cambria Math" panose="02040503050406030204" pitchFamily="18" charset="0"/>
                                    </a:rPr>
                                  </m:ctrlPr>
                                </m:sSubPr>
                                <m:e>
                                  <m:r>
                                    <a:rPr lang="en-CA" sz="1575" b="0" i="0" smtClean="0">
                                      <a:solidFill>
                                        <a:srgbClr val="D6E0ED"/>
                                      </a:solidFill>
                                      <a:latin typeface="Cambria Math" panose="02040503050406030204" pitchFamily="18" charset="0"/>
                                    </a:rPr>
                                    <m:t>𝐡</m:t>
                                  </m:r>
                                </m:e>
                                <m:sub>
                                  <m:r>
                                    <a:rPr lang="en-CA" sz="1575" b="0" i="1" smtClean="0">
                                      <a:solidFill>
                                        <a:srgbClr val="D6E0ED"/>
                                      </a:solidFill>
                                      <a:latin typeface="Cambria Math" panose="02040503050406030204" pitchFamily="18" charset="0"/>
                                    </a:rPr>
                                    <m:t>𝑗</m:t>
                                  </m:r>
                                </m:sub>
                              </m:sSub>
                            </m:num>
                            <m:den>
                              <m:sSub>
                                <m:sSubPr>
                                  <m:ctrlPr>
                                    <a:rPr lang="en-CA" sz="1575" b="0" i="1" smtClean="0">
                                      <a:solidFill>
                                        <a:srgbClr val="D6E0ED"/>
                                      </a:solidFill>
                                      <a:latin typeface="Cambria Math" panose="02040503050406030204" pitchFamily="18" charset="0"/>
                                    </a:rPr>
                                  </m:ctrlPr>
                                </m:sSubPr>
                                <m:e>
                                  <m:d>
                                    <m:dPr>
                                      <m:begChr m:val="‖"/>
                                      <m:endChr m:val="‖"/>
                                      <m:ctrlPr>
                                        <a:rPr lang="en-CA" sz="1575" b="0" i="1" smtClean="0">
                                          <a:solidFill>
                                            <a:srgbClr val="D6E0ED"/>
                                          </a:solidFill>
                                          <a:latin typeface="Cambria Math" panose="02040503050406030204" pitchFamily="18" charset="0"/>
                                        </a:rPr>
                                      </m:ctrlPr>
                                    </m:dPr>
                                    <m:e>
                                      <m:sSub>
                                        <m:sSubPr>
                                          <m:ctrlPr>
                                            <a:rPr lang="en-CA" sz="1575" b="0" i="1" smtClean="0">
                                              <a:solidFill>
                                                <a:srgbClr val="D6E0ED"/>
                                              </a:solidFill>
                                              <a:latin typeface="Cambria Math" panose="02040503050406030204" pitchFamily="18" charset="0"/>
                                            </a:rPr>
                                          </m:ctrlPr>
                                        </m:sSubPr>
                                        <m:e>
                                          <m:r>
                                            <a:rPr lang="en-CA" sz="1575" b="0" i="0" smtClean="0">
                                              <a:solidFill>
                                                <a:srgbClr val="D6E0ED"/>
                                              </a:solidFill>
                                              <a:latin typeface="Cambria Math" panose="02040503050406030204" pitchFamily="18" charset="0"/>
                                            </a:rPr>
                                            <m:t>𝐡</m:t>
                                          </m:r>
                                        </m:e>
                                        <m:sub>
                                          <m:r>
                                            <a:rPr lang="en-CA" sz="1575" b="0" i="1" smtClean="0">
                                              <a:solidFill>
                                                <a:srgbClr val="D6E0ED"/>
                                              </a:solidFill>
                                              <a:latin typeface="Cambria Math" panose="02040503050406030204" pitchFamily="18" charset="0"/>
                                            </a:rPr>
                                            <m:t>𝑖</m:t>
                                          </m:r>
                                        </m:sub>
                                      </m:sSub>
                                    </m:e>
                                  </m:d>
                                </m:e>
                                <m:sub>
                                  <m:r>
                                    <a:rPr lang="en-CA" sz="1575" b="0" i="0" smtClean="0">
                                      <a:solidFill>
                                        <a:srgbClr val="D6E0ED"/>
                                      </a:solidFill>
                                      <a:latin typeface="Cambria Math" panose="02040503050406030204" pitchFamily="18" charset="0"/>
                                    </a:rPr>
                                    <m:t>2</m:t>
                                  </m:r>
                                </m:sub>
                              </m:sSub>
                              <m:sSub>
                                <m:sSubPr>
                                  <m:ctrlPr>
                                    <a:rPr lang="en-CA" sz="1575" b="0" i="1" smtClean="0">
                                      <a:solidFill>
                                        <a:srgbClr val="D6E0ED"/>
                                      </a:solidFill>
                                      <a:latin typeface="Cambria Math" panose="02040503050406030204" pitchFamily="18" charset="0"/>
                                    </a:rPr>
                                  </m:ctrlPr>
                                </m:sSubPr>
                                <m:e>
                                  <m:d>
                                    <m:dPr>
                                      <m:begChr m:val="‖"/>
                                      <m:endChr m:val="‖"/>
                                      <m:ctrlPr>
                                        <a:rPr lang="en-CA" sz="1575" b="0" i="1" smtClean="0">
                                          <a:solidFill>
                                            <a:srgbClr val="D6E0ED"/>
                                          </a:solidFill>
                                          <a:latin typeface="Cambria Math" panose="02040503050406030204" pitchFamily="18" charset="0"/>
                                        </a:rPr>
                                      </m:ctrlPr>
                                    </m:dPr>
                                    <m:e>
                                      <m:sSub>
                                        <m:sSubPr>
                                          <m:ctrlPr>
                                            <a:rPr lang="en-CA" sz="1575" b="0" i="1" smtClean="0">
                                              <a:solidFill>
                                                <a:srgbClr val="D6E0ED"/>
                                              </a:solidFill>
                                              <a:latin typeface="Cambria Math" panose="02040503050406030204" pitchFamily="18" charset="0"/>
                                            </a:rPr>
                                          </m:ctrlPr>
                                        </m:sSubPr>
                                        <m:e>
                                          <m:r>
                                            <a:rPr lang="en-CA" sz="1575" b="0" i="0" smtClean="0">
                                              <a:solidFill>
                                                <a:srgbClr val="D6E0ED"/>
                                              </a:solidFill>
                                              <a:latin typeface="Cambria Math" panose="02040503050406030204" pitchFamily="18" charset="0"/>
                                            </a:rPr>
                                            <m:t>𝐡</m:t>
                                          </m:r>
                                        </m:e>
                                        <m:sub>
                                          <m:r>
                                            <a:rPr lang="en-CA" sz="1575" b="0" i="1" smtClean="0">
                                              <a:solidFill>
                                                <a:srgbClr val="D6E0ED"/>
                                              </a:solidFill>
                                              <a:latin typeface="Cambria Math" panose="02040503050406030204" pitchFamily="18" charset="0"/>
                                            </a:rPr>
                                            <m:t>𝑗</m:t>
                                          </m:r>
                                        </m:sub>
                                      </m:sSub>
                                    </m:e>
                                  </m:d>
                                </m:e>
                                <m:sub>
                                  <m:r>
                                    <a:rPr lang="en-CA" sz="1575" b="0" i="0" smtClean="0">
                                      <a:solidFill>
                                        <a:srgbClr val="D6E0ED"/>
                                      </a:solidFill>
                                      <a:latin typeface="Cambria Math" panose="02040503050406030204" pitchFamily="18" charset="0"/>
                                    </a:rPr>
                                    <m:t>2</m:t>
                                  </m:r>
                                </m:sub>
                              </m:sSub>
                            </m:den>
                          </m:f>
                          <m:r>
                            <a:rPr lang="en-CA" sz="1575" b="0" i="0" smtClean="0">
                              <a:solidFill>
                                <a:srgbClr val="D6E0ED"/>
                              </a:solidFill>
                              <a:latin typeface="Cambria Math" panose="02040503050406030204" pitchFamily="18" charset="0"/>
                            </a:rPr>
                            <m:t>,</m:t>
                          </m:r>
                        </m:e>
                        <m:e>
                          <m:func>
                            <m:funcPr>
                              <m:ctrlPr>
                                <a:rPr lang="en-CA" sz="1575" b="0" i="1" smtClean="0">
                                  <a:solidFill>
                                    <a:srgbClr val="D6E0ED"/>
                                  </a:solidFill>
                                  <a:latin typeface="Cambria Math" panose="02040503050406030204" pitchFamily="18" charset="0"/>
                                </a:rPr>
                              </m:ctrlPr>
                            </m:funcPr>
                            <m:fName>
                              <m:r>
                                <m:rPr>
                                  <m:sty m:val="p"/>
                                </m:rPr>
                                <a:rPr lang="en-CA" sz="1575" b="0" i="0" smtClean="0">
                                  <a:solidFill>
                                    <a:srgbClr val="D6E0ED"/>
                                  </a:solidFill>
                                  <a:latin typeface="Cambria Math" panose="02040503050406030204" pitchFamily="18" charset="0"/>
                                </a:rPr>
                                <m:t>MAD</m:t>
                              </m:r>
                            </m:fName>
                            <m:e>
                              <m:d>
                                <m:dPr>
                                  <m:ctrlPr>
                                    <a:rPr lang="en-CA" sz="1575" b="0" i="1" smtClean="0">
                                      <a:solidFill>
                                        <a:srgbClr val="D6E0ED"/>
                                      </a:solidFill>
                                      <a:latin typeface="Cambria Math" panose="02040503050406030204" pitchFamily="18" charset="0"/>
                                    </a:rPr>
                                  </m:ctrlPr>
                                </m:dPr>
                                <m:e>
                                  <m:r>
                                    <a:rPr lang="en-CA" sz="1575" b="0" i="1" smtClean="0">
                                      <a:solidFill>
                                        <a:srgbClr val="D6E0ED"/>
                                      </a:solidFill>
                                      <a:latin typeface="Cambria Math" panose="02040503050406030204" pitchFamily="18" charset="0"/>
                                    </a:rPr>
                                    <m:t>𝐻</m:t>
                                  </m:r>
                                </m:e>
                              </m:d>
                            </m:e>
                          </m:func>
                          <m:r>
                            <m:rPr>
                              <m:aln/>
                            </m:rPr>
                            <a:rPr lang="en-CA" sz="1575" b="0" i="0" smtClean="0">
                              <a:solidFill>
                                <a:srgbClr val="D6E0ED"/>
                              </a:solidFill>
                              <a:latin typeface="Cambria Math" panose="02040503050406030204" pitchFamily="18" charset="0"/>
                            </a:rPr>
                            <m:t>&amp;</m:t>
                          </m:r>
                          <m:r>
                            <a:rPr lang="en-CA" sz="1575" b="0" i="0" smtClean="0">
                              <a:solidFill>
                                <a:srgbClr val="D6E0ED"/>
                              </a:solidFill>
                              <a:latin typeface="Cambria Math" panose="02040503050406030204" pitchFamily="18" charset="0"/>
                            </a:rPr>
                            <m:t>=</m:t>
                          </m:r>
                          <m:f>
                            <m:fPr>
                              <m:ctrlPr>
                                <a:rPr lang="en-CA" sz="1575" b="0" i="1" smtClean="0">
                                  <a:solidFill>
                                    <a:srgbClr val="D6E0ED"/>
                                  </a:solidFill>
                                  <a:latin typeface="Cambria Math" panose="02040503050406030204" pitchFamily="18" charset="0"/>
                                </a:rPr>
                              </m:ctrlPr>
                            </m:fPr>
                            <m:num>
                              <m:r>
                                <a:rPr lang="en-CA" sz="1575" b="0" i="0" smtClean="0">
                                  <a:solidFill>
                                    <a:srgbClr val="D6E0ED"/>
                                  </a:solidFill>
                                  <a:latin typeface="Cambria Math" panose="02040503050406030204" pitchFamily="18" charset="0"/>
                                </a:rPr>
                                <m:t>1</m:t>
                              </m:r>
                            </m:num>
                            <m:den>
                              <m:d>
                                <m:dPr>
                                  <m:begChr m:val="|"/>
                                  <m:endChr m:val="|"/>
                                  <m:ctrlPr>
                                    <a:rPr lang="en-CA" sz="1575" b="0" i="1" smtClean="0">
                                      <a:solidFill>
                                        <a:srgbClr val="D6E0ED"/>
                                      </a:solidFill>
                                      <a:latin typeface="Cambria Math" panose="02040503050406030204" pitchFamily="18" charset="0"/>
                                    </a:rPr>
                                  </m:ctrlPr>
                                </m:dPr>
                                <m:e>
                                  <m:r>
                                    <a:rPr lang="en-CA" sz="1575" b="0" i="0" smtClean="0">
                                      <a:solidFill>
                                        <a:srgbClr val="D6E0ED"/>
                                      </a:solidFill>
                                      <a:latin typeface="Cambria Math" panose="02040503050406030204" pitchFamily="18" charset="0"/>
                                    </a:rPr>
                                    <m:t>𝒫</m:t>
                                  </m:r>
                                </m:e>
                              </m:d>
                            </m:den>
                          </m:f>
                          <m:nary>
                            <m:naryPr>
                              <m:chr m:val="∑"/>
                              <m:limLoc m:val="undOvr"/>
                              <m:supHide m:val="on"/>
                              <m:ctrlPr>
                                <a:rPr lang="en-CA" sz="1575" b="0" i="1" smtClean="0">
                                  <a:solidFill>
                                    <a:srgbClr val="D6E0ED"/>
                                  </a:solidFill>
                                  <a:latin typeface="Cambria Math" panose="02040503050406030204" pitchFamily="18" charset="0"/>
                                </a:rPr>
                              </m:ctrlPr>
                            </m:naryPr>
                            <m:sub>
                              <m:d>
                                <m:dPr>
                                  <m:ctrlPr>
                                    <a:rPr lang="en-CA" sz="1575" b="0" i="1" smtClean="0">
                                      <a:solidFill>
                                        <a:srgbClr val="D6E0ED"/>
                                      </a:solidFill>
                                      <a:latin typeface="Cambria Math" panose="02040503050406030204" pitchFamily="18" charset="0"/>
                                    </a:rPr>
                                  </m:ctrlPr>
                                </m:dPr>
                                <m:e>
                                  <m:r>
                                    <a:rPr lang="en-CA" sz="1575" b="0" i="1" smtClean="0">
                                      <a:solidFill>
                                        <a:srgbClr val="D6E0ED"/>
                                      </a:solidFill>
                                      <a:latin typeface="Cambria Math" panose="02040503050406030204" pitchFamily="18" charset="0"/>
                                    </a:rPr>
                                    <m:t>𝑖</m:t>
                                  </m:r>
                                  <m:r>
                                    <a:rPr lang="en-CA" sz="1575" b="0" i="0" smtClean="0">
                                      <a:solidFill>
                                        <a:srgbClr val="D6E0ED"/>
                                      </a:solidFill>
                                      <a:latin typeface="Cambria Math" panose="02040503050406030204" pitchFamily="18" charset="0"/>
                                    </a:rPr>
                                    <m:t>,</m:t>
                                  </m:r>
                                  <m:r>
                                    <a:rPr lang="en-CA" sz="1575" b="0" i="1" smtClean="0">
                                      <a:solidFill>
                                        <a:srgbClr val="D6E0ED"/>
                                      </a:solidFill>
                                      <a:latin typeface="Cambria Math" panose="02040503050406030204" pitchFamily="18" charset="0"/>
                                    </a:rPr>
                                    <m:t>𝑗</m:t>
                                  </m:r>
                                </m:e>
                              </m:d>
                              <m:r>
                                <a:rPr lang="en-CA" sz="1575" b="0" i="0" smtClean="0">
                                  <a:solidFill>
                                    <a:srgbClr val="D6E0ED"/>
                                  </a:solidFill>
                                  <a:latin typeface="Cambria Math" panose="02040503050406030204" pitchFamily="18" charset="0"/>
                                </a:rPr>
                                <m:t>∈</m:t>
                              </m:r>
                              <m:r>
                                <a:rPr lang="en-CA" sz="1575" b="0" i="0" smtClean="0">
                                  <a:solidFill>
                                    <a:srgbClr val="D6E0ED"/>
                                  </a:solidFill>
                                  <a:latin typeface="Cambria Math" panose="02040503050406030204" pitchFamily="18" charset="0"/>
                                </a:rPr>
                                <m:t>𝒫</m:t>
                              </m:r>
                            </m:sub>
                            <m:sup/>
                            <m:e>
                              <m:sSub>
                                <m:sSubPr>
                                  <m:ctrlPr>
                                    <a:rPr lang="en-CA" sz="1575" b="0" i="1" smtClean="0">
                                      <a:solidFill>
                                        <a:srgbClr val="D6E0ED"/>
                                      </a:solidFill>
                                      <a:latin typeface="Cambria Math" panose="02040503050406030204" pitchFamily="18" charset="0"/>
                                    </a:rPr>
                                  </m:ctrlPr>
                                </m:sSubPr>
                                <m:e>
                                  <m:r>
                                    <a:rPr lang="en-CA" sz="1575" b="0" i="1" smtClean="0">
                                      <a:solidFill>
                                        <a:srgbClr val="D6E0ED"/>
                                      </a:solidFill>
                                      <a:latin typeface="Cambria Math" panose="02040503050406030204" pitchFamily="18" charset="0"/>
                                    </a:rPr>
                                    <m:t>𝐷</m:t>
                                  </m:r>
                                </m:e>
                                <m:sub>
                                  <m:r>
                                    <a:rPr lang="en-CA" sz="1575" b="0" i="1" smtClean="0">
                                      <a:solidFill>
                                        <a:srgbClr val="D6E0ED"/>
                                      </a:solidFill>
                                      <a:latin typeface="Cambria Math" panose="02040503050406030204" pitchFamily="18" charset="0"/>
                                    </a:rPr>
                                    <m:t>𝑖𝑗</m:t>
                                  </m:r>
                                </m:sub>
                              </m:sSub>
                            </m:e>
                          </m:nary>
                          <m:r>
                            <a:rPr lang="en-CA" sz="1575" b="0" i="0" smtClean="0">
                              <a:solidFill>
                                <a:srgbClr val="D6E0ED"/>
                              </a:solidFill>
                              <a:latin typeface="Cambria Math" panose="02040503050406030204" pitchFamily="18" charset="0"/>
                            </a:rPr>
                            <m:t>,</m:t>
                          </m:r>
                        </m:e>
                        <m:e>
                          <m:r>
                            <a:rPr lang="en-CA" sz="1575" b="0" i="0" smtClean="0">
                              <a:solidFill>
                                <a:srgbClr val="D6E0ED"/>
                              </a:solidFill>
                              <a:latin typeface="Cambria Math" panose="02040503050406030204" pitchFamily="18" charset="0"/>
                            </a:rPr>
                            <m:t>𝒫</m:t>
                          </m:r>
                          <m:r>
                            <m:rPr>
                              <m:aln/>
                            </m:rPr>
                            <a:rPr lang="en-CA" sz="1575" b="0" i="0" smtClean="0">
                              <a:solidFill>
                                <a:srgbClr val="D6E0ED"/>
                              </a:solidFill>
                              <a:latin typeface="Cambria Math" panose="02040503050406030204" pitchFamily="18" charset="0"/>
                            </a:rPr>
                            <m:t>&amp;</m:t>
                          </m:r>
                          <m:r>
                            <a:rPr lang="en-CA" sz="1575" b="0" i="0" smtClean="0">
                              <a:solidFill>
                                <a:srgbClr val="D6E0ED"/>
                              </a:solidFill>
                              <a:latin typeface="Cambria Math" panose="02040503050406030204" pitchFamily="18" charset="0"/>
                            </a:rPr>
                            <m:t>=</m:t>
                          </m:r>
                          <m:d>
                            <m:dPr>
                              <m:begChr m:val="{"/>
                              <m:endChr m:val="}"/>
                              <m:ctrlPr>
                                <a:rPr lang="en-CA" sz="1575" b="0" i="1" smtClean="0">
                                  <a:solidFill>
                                    <a:srgbClr val="D6E0ED"/>
                                  </a:solidFill>
                                  <a:latin typeface="Cambria Math" panose="02040503050406030204" pitchFamily="18" charset="0"/>
                                </a:rPr>
                              </m:ctrlPr>
                            </m:dPr>
                            <m:e>
                              <m:d>
                                <m:dPr>
                                  <m:ctrlPr>
                                    <a:rPr lang="en-CA" sz="1575" b="0" i="1" smtClean="0">
                                      <a:solidFill>
                                        <a:srgbClr val="D6E0ED"/>
                                      </a:solidFill>
                                      <a:latin typeface="Cambria Math" panose="02040503050406030204" pitchFamily="18" charset="0"/>
                                    </a:rPr>
                                  </m:ctrlPr>
                                </m:dPr>
                                <m:e>
                                  <m:r>
                                    <a:rPr lang="en-CA" sz="1575" b="0" i="1" smtClean="0">
                                      <a:solidFill>
                                        <a:srgbClr val="D6E0ED"/>
                                      </a:solidFill>
                                      <a:latin typeface="Cambria Math" panose="02040503050406030204" pitchFamily="18" charset="0"/>
                                    </a:rPr>
                                    <m:t>𝑖</m:t>
                                  </m:r>
                                  <m:r>
                                    <a:rPr lang="en-CA" sz="1575" b="0" i="0" smtClean="0">
                                      <a:solidFill>
                                        <a:srgbClr val="D6E0ED"/>
                                      </a:solidFill>
                                      <a:latin typeface="Cambria Math" panose="02040503050406030204" pitchFamily="18" charset="0"/>
                                    </a:rPr>
                                    <m:t>,</m:t>
                                  </m:r>
                                  <m:r>
                                    <a:rPr lang="en-CA" sz="1575" b="0" i="1" smtClean="0">
                                      <a:solidFill>
                                        <a:srgbClr val="D6E0ED"/>
                                      </a:solidFill>
                                      <a:latin typeface="Cambria Math" panose="02040503050406030204" pitchFamily="18" charset="0"/>
                                    </a:rPr>
                                    <m:t>𝑗</m:t>
                                  </m:r>
                                </m:e>
                              </m:d>
                              <m:r>
                                <a:rPr lang="en-CA" sz="1575" b="0" i="0" smtClean="0">
                                  <a:solidFill>
                                    <a:srgbClr val="D6E0ED"/>
                                  </a:solidFill>
                                  <a:latin typeface="Cambria Math" panose="02040503050406030204" pitchFamily="18" charset="0"/>
                                </a:rPr>
                                <m:t>:</m:t>
                              </m:r>
                              <m:r>
                                <a:rPr lang="en-CA" sz="1575" b="0" i="1" smtClean="0">
                                  <a:solidFill>
                                    <a:srgbClr val="D6E0ED"/>
                                  </a:solidFill>
                                  <a:latin typeface="Cambria Math" panose="02040503050406030204" pitchFamily="18" charset="0"/>
                                </a:rPr>
                                <m:t>𝑖</m:t>
                              </m:r>
                              <m:r>
                                <a:rPr lang="en-CA" sz="1575" b="0" i="0" smtClean="0">
                                  <a:solidFill>
                                    <a:srgbClr val="D6E0ED"/>
                                  </a:solidFill>
                                  <a:latin typeface="Cambria Math" panose="02040503050406030204" pitchFamily="18" charset="0"/>
                                </a:rPr>
                                <m:t>≠</m:t>
                              </m:r>
                              <m:r>
                                <a:rPr lang="en-CA" sz="1575" b="0" i="1" smtClean="0">
                                  <a:solidFill>
                                    <a:srgbClr val="D6E0ED"/>
                                  </a:solidFill>
                                  <a:latin typeface="Cambria Math" panose="02040503050406030204" pitchFamily="18" charset="0"/>
                                </a:rPr>
                                <m:t>𝑗</m:t>
                              </m:r>
                              <m:r>
                                <a:rPr lang="en-CA" sz="1575" b="0" i="0" smtClean="0">
                                  <a:solidFill>
                                    <a:srgbClr val="D6E0ED"/>
                                  </a:solidFill>
                                  <a:latin typeface="Cambria Math" panose="02040503050406030204" pitchFamily="18" charset="0"/>
                                </a:rPr>
                                <m:t>, </m:t>
                              </m:r>
                              <m:sSub>
                                <m:sSubPr>
                                  <m:ctrlPr>
                                    <a:rPr lang="en-CA" sz="1575" b="0" i="1" smtClean="0">
                                      <a:solidFill>
                                        <a:srgbClr val="D6E0ED"/>
                                      </a:solidFill>
                                      <a:latin typeface="Cambria Math" panose="02040503050406030204" pitchFamily="18" charset="0"/>
                                    </a:rPr>
                                  </m:ctrlPr>
                                </m:sSubPr>
                                <m:e>
                                  <m:r>
                                    <a:rPr lang="en-CA" sz="1575" b="0" i="1" smtClean="0">
                                      <a:solidFill>
                                        <a:srgbClr val="D6E0ED"/>
                                      </a:solidFill>
                                      <a:latin typeface="Cambria Math" panose="02040503050406030204" pitchFamily="18" charset="0"/>
                                    </a:rPr>
                                    <m:t>𝐷</m:t>
                                  </m:r>
                                </m:e>
                                <m:sub>
                                  <m:r>
                                    <a:rPr lang="en-CA" sz="1575" b="0" i="1" smtClean="0">
                                      <a:solidFill>
                                        <a:srgbClr val="D6E0ED"/>
                                      </a:solidFill>
                                      <a:latin typeface="Cambria Math" panose="02040503050406030204" pitchFamily="18" charset="0"/>
                                    </a:rPr>
                                    <m:t>𝑖𝑗</m:t>
                                  </m:r>
                                </m:sub>
                              </m:sSub>
                              <m:r>
                                <a:rPr lang="en-CA" sz="1575" b="0" i="0" smtClean="0">
                                  <a:solidFill>
                                    <a:srgbClr val="D6E0ED"/>
                                  </a:solidFill>
                                  <a:latin typeface="Cambria Math" panose="02040503050406030204" pitchFamily="18" charset="0"/>
                                </a:rPr>
                                <m:t>≠0</m:t>
                              </m:r>
                            </m:e>
                          </m:d>
                          <m:r>
                            <a:rPr lang="en-CA" sz="1575" b="0" i="0" smtClean="0">
                              <a:solidFill>
                                <a:srgbClr val="D6E0ED"/>
                              </a:solidFill>
                              <a:latin typeface="Cambria Math" panose="02040503050406030204" pitchFamily="18" charset="0"/>
                            </a:rPr>
                            <m:t>.</m:t>
                          </m:r>
                        </m:e>
                      </m:eqArr>
                    </m:oMath>
                  </m:oMathPara>
                </a14:m>
                <a:endParaRPr lang="en-CA" sz="1575" b="0" dirty="0">
                  <a:solidFill>
                    <a:srgbClr val="D6E0ED"/>
                  </a:solidFill>
                  <a:latin typeface="Arial"/>
                </a:endParaRPr>
              </a:p>
              <a:p>
                <a:pPr algn="l">
                  <a:buNone/>
                  <a:defRPr sz="1650" b="0">
                    <a:solidFill>
                      <a:srgbClr val="5F6368"/>
                    </a:solidFill>
                    <a:latin typeface="Arial"/>
                    <a:ea typeface="Arial"/>
                    <a:cs typeface="Arial"/>
                  </a:defRPr>
                </a:pPr>
                <a:r>
                  <a:rPr sz="1575" b="0" dirty="0">
                    <a:solidFill>
                      <a:srgbClr val="D6E0ED"/>
                    </a:solidFill>
                    <a:latin typeface="Arial"/>
                    <a:ea typeface="Arial"/>
                    <a:cs typeface="Arial"/>
                  </a:rPr>
                  <a:t>Scale-invariant; lower values indicate directional collapse.</a:t>
                </a:r>
              </a:p>
            </p:txBody>
          </p:sp>
        </mc:Choice>
        <mc:Fallback>
          <p:sp>
            <p:nvSpPr>
              <p:cNvPr id="5" name="s7-mad-body">
                <a:extLst>
                  <a:ext uri="{FF2B5EF4-FFF2-40B4-BE49-F238E27FC236}">
                    <a16:creationId xmlns:a16="http://schemas.microsoft.com/office/drawing/2014/main" id="{805D3A81-F39B-4595-ABFF-31103E155164}"/>
                  </a:ext>
                </a:extLst>
              </p:cNvPr>
              <p:cNvSpPr>
                <a:spLocks noGrp="1" noRot="1" noChangeAspect="1" noMove="1" noResize="1" noEditPoints="1" noAdjustHandles="1" noChangeArrowheads="1" noChangeShapeType="1" noTextEdit="1"/>
              </p:cNvSpPr>
              <p:nvPr/>
            </p:nvSpPr>
            <p:spPr>
              <a:xfrm>
                <a:off x="246476" y="3238500"/>
                <a:ext cx="4953000" cy="1428750"/>
              </a:xfrm>
              <a:prstGeom prst="rect">
                <a:avLst/>
              </a:prstGeom>
              <a:blipFill>
                <a:blip r:embed="rId3"/>
                <a:stretch>
                  <a:fillRect l="-2457" b="-73729"/>
                </a:stretch>
              </a:blipFill>
              <a:ln w="0">
                <a:solidFill>
                  <a:srgbClr val="000000">
                    <a:alpha val="0"/>
                  </a:srgbClr>
                </a:solidFill>
                <a:prstDash val="solid"/>
              </a:ln>
            </p:spPr>
            <p:txBody>
              <a:bodyPr/>
              <a:lstStyle/>
              <a:p>
                <a:r>
                  <a:rPr lang="en-CA">
                    <a:noFill/>
                  </a:rPr>
                  <a:t> </a:t>
                </a:r>
              </a:p>
            </p:txBody>
          </p:sp>
        </mc:Fallback>
      </mc:AlternateContent>
      <p:sp>
        <p:nvSpPr>
          <p:cNvPr id="6" name="s7-divider">
            <a:extLst>
              <a:ext uri="{FF2B5EF4-FFF2-40B4-BE49-F238E27FC236}">
                <a16:creationId xmlns:a16="http://schemas.microsoft.com/office/drawing/2014/main" id="{7B393DF8-C51E-4554-9313-CF2B29144A71}"/>
              </a:ext>
            </a:extLst>
          </p:cNvPr>
          <p:cNvSpPr>
            <a:spLocks noGrp="1"/>
          </p:cNvSpPr>
          <p:nvPr/>
        </p:nvSpPr>
        <p:spPr>
          <a:xfrm>
            <a:off x="5953125" y="1676400"/>
            <a:ext cx="9525" cy="3714750"/>
          </a:xfrm>
          <a:prstGeom prst="rect">
            <a:avLst/>
          </a:prstGeom>
          <a:solidFill>
            <a:srgbClr val="2B3C59"/>
          </a:solidFill>
          <a:ln w="0">
            <a:solidFill>
              <a:srgbClr val="000000">
                <a:alpha val="0"/>
              </a:srgbClr>
            </a:solidFill>
            <a:prstDash val="solid"/>
          </a:ln>
        </p:spPr>
      </p:sp>
      <p:sp>
        <p:nvSpPr>
          <p:cNvPr id="7" name="s7-energy">
            <a:extLst>
              <a:ext uri="{FF2B5EF4-FFF2-40B4-BE49-F238E27FC236}">
                <a16:creationId xmlns:a16="http://schemas.microsoft.com/office/drawing/2014/main" id="{0E1013E0-2FE6-475D-A1FD-9674D3B383E1}"/>
              </a:ext>
            </a:extLst>
          </p:cNvPr>
          <p:cNvSpPr>
            <a:spLocks noGrp="1"/>
          </p:cNvSpPr>
          <p:nvPr/>
        </p:nvSpPr>
        <p:spPr>
          <a:xfrm>
            <a:off x="6429375" y="1809750"/>
            <a:ext cx="4953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4200" b="1">
                <a:solidFill>
                  <a:srgbClr val="3D8DFF"/>
                </a:solidFill>
                <a:latin typeface="Arial"/>
                <a:ea typeface="Arial"/>
                <a:cs typeface="Arial"/>
              </a:defRPr>
            </a:pPr>
            <a:r>
              <a:rPr sz="4200" b="1">
                <a:solidFill>
                  <a:srgbClr val="9B87F5"/>
                </a:solidFill>
                <a:latin typeface="Arial"/>
                <a:ea typeface="Arial"/>
                <a:cs typeface="Arial"/>
              </a:rPr>
              <a:t>E(H)</a:t>
            </a:r>
          </a:p>
        </p:txBody>
      </p:sp>
      <p:sp>
        <p:nvSpPr>
          <p:cNvPr id="8" name="s7-energy-sub">
            <a:extLst>
              <a:ext uri="{FF2B5EF4-FFF2-40B4-BE49-F238E27FC236}">
                <a16:creationId xmlns:a16="http://schemas.microsoft.com/office/drawing/2014/main" id="{487A79D5-2FA0-4505-BF6E-0C589DE7F6A9}"/>
              </a:ext>
            </a:extLst>
          </p:cNvPr>
          <p:cNvSpPr>
            <a:spLocks noGrp="1"/>
          </p:cNvSpPr>
          <p:nvPr/>
        </p:nvSpPr>
        <p:spPr>
          <a:xfrm>
            <a:off x="6429375" y="2781300"/>
            <a:ext cx="4953000" cy="428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1">
                <a:solidFill>
                  <a:srgbClr val="111111"/>
                </a:solidFill>
                <a:latin typeface="Arial"/>
                <a:ea typeface="Arial"/>
                <a:cs typeface="Arial"/>
              </a:defRPr>
            </a:pPr>
            <a:r>
              <a:rPr sz="1800" b="1">
                <a:solidFill>
                  <a:srgbClr val="F8FAFC"/>
                </a:solidFill>
                <a:latin typeface="Arial"/>
                <a:ea typeface="Arial"/>
                <a:cs typeface="Arial"/>
              </a:rPr>
              <a:t>Per-dimension variation on G̃</a:t>
            </a:r>
          </a:p>
        </p:txBody>
      </p:sp>
      <mc:AlternateContent xmlns:mc="http://schemas.openxmlformats.org/markup-compatibility/2006">
        <mc:Choice xmlns:a14="http://schemas.microsoft.com/office/drawing/2010/main" Requires="a14">
          <p:sp>
            <p:nvSpPr>
              <p:cNvPr id="9" name="s7-energy-body">
                <a:extLst>
                  <a:ext uri="{FF2B5EF4-FFF2-40B4-BE49-F238E27FC236}">
                    <a16:creationId xmlns:a16="http://schemas.microsoft.com/office/drawing/2014/main" id="{F07FFBBD-E9BA-4DB8-8A5B-C9E03B5CEE44}"/>
                  </a:ext>
                </a:extLst>
              </p:cNvPr>
              <p:cNvSpPr>
                <a:spLocks noGrp="1"/>
              </p:cNvSpPr>
              <p:nvPr/>
            </p:nvSpPr>
            <p:spPr>
              <a:xfrm>
                <a:off x="6429375" y="3381375"/>
                <a:ext cx="4953000" cy="1428750"/>
              </a:xfrm>
              <a:prstGeom prst="rect">
                <a:avLst/>
              </a:prstGeom>
              <a:solidFill>
                <a:srgbClr val="000000">
                  <a:alpha val="0"/>
                </a:srgbClr>
              </a:solidFill>
              <a:ln w="0">
                <a:solidFill>
                  <a:srgbClr val="000000">
                    <a:alpha val="0"/>
                  </a:srgbClr>
                </a:solidFill>
                <a:prstDash val="solid"/>
              </a:ln>
            </p:spPr>
            <p:txBody>
              <a:bodyPr lIns="0" tIns="0" rIns="0" bIns="0" anchor="t"/>
              <a:lstStyle/>
              <a:p>
                <a14:m>
                  <m:oMathPara xmlns:m="http://schemas.openxmlformats.org/officeDocument/2006/math">
                    <m:oMathParaPr>
                      <m:jc m:val="centerGroup"/>
                    </m:oMathParaPr>
                    <m:oMath xmlns:m="http://schemas.openxmlformats.org/officeDocument/2006/math">
                      <m:r>
                        <a:rPr lang="en-CA" sz="1575" b="0" i="1" smtClean="0">
                          <a:solidFill>
                            <a:srgbClr val="D6E0ED"/>
                          </a:solidFill>
                          <a:latin typeface="Cambria Math" panose="02040503050406030204" pitchFamily="18" charset="0"/>
                        </a:rPr>
                        <m:t>𝐸</m:t>
                      </m:r>
                      <m:d>
                        <m:dPr>
                          <m:ctrlPr>
                            <a:rPr lang="en-CA" sz="1575" b="0" i="1" smtClean="0">
                              <a:solidFill>
                                <a:srgbClr val="D6E0ED"/>
                              </a:solidFill>
                              <a:latin typeface="Cambria Math" panose="02040503050406030204" pitchFamily="18" charset="0"/>
                            </a:rPr>
                          </m:ctrlPr>
                        </m:dPr>
                        <m:e>
                          <m:r>
                            <a:rPr lang="en-CA" sz="1575" b="0" i="1" smtClean="0">
                              <a:solidFill>
                                <a:srgbClr val="D6E0ED"/>
                              </a:solidFill>
                              <a:latin typeface="Cambria Math" panose="02040503050406030204" pitchFamily="18" charset="0"/>
                            </a:rPr>
                            <m:t>𝐻</m:t>
                          </m:r>
                        </m:e>
                      </m:d>
                      <m:r>
                        <a:rPr lang="en-CA" sz="1575" b="0" i="0" smtClean="0">
                          <a:solidFill>
                            <a:srgbClr val="D6E0ED"/>
                          </a:solidFill>
                          <a:latin typeface="Cambria Math" panose="02040503050406030204" pitchFamily="18" charset="0"/>
                        </a:rPr>
                        <m:t>=</m:t>
                      </m:r>
                      <m:f>
                        <m:fPr>
                          <m:ctrlPr>
                            <a:rPr lang="en-CA" sz="1575" b="0" i="1" smtClean="0">
                              <a:solidFill>
                                <a:srgbClr val="D6E0ED"/>
                              </a:solidFill>
                              <a:latin typeface="Cambria Math" panose="02040503050406030204" pitchFamily="18" charset="0"/>
                            </a:rPr>
                          </m:ctrlPr>
                        </m:fPr>
                        <m:num>
                          <m:r>
                            <a:rPr lang="en-CA" sz="1575" b="0" i="0" smtClean="0">
                              <a:solidFill>
                                <a:srgbClr val="D6E0ED"/>
                              </a:solidFill>
                              <a:latin typeface="Cambria Math" panose="02040503050406030204" pitchFamily="18" charset="0"/>
                            </a:rPr>
                            <m:t>1</m:t>
                          </m:r>
                        </m:num>
                        <m:den>
                          <m:r>
                            <a:rPr lang="en-CA" sz="1575" b="0" i="0" smtClean="0">
                              <a:solidFill>
                                <a:srgbClr val="D6E0ED"/>
                              </a:solidFill>
                              <a:latin typeface="Cambria Math" panose="02040503050406030204" pitchFamily="18" charset="0"/>
                            </a:rPr>
                            <m:t>2</m:t>
                          </m:r>
                          <m:r>
                            <a:rPr lang="en-CA" sz="1575" b="0" i="1" smtClean="0">
                              <a:solidFill>
                                <a:srgbClr val="D6E0ED"/>
                              </a:solidFill>
                              <a:latin typeface="Cambria Math" panose="02040503050406030204" pitchFamily="18" charset="0"/>
                            </a:rPr>
                            <m:t>𝑝</m:t>
                          </m:r>
                        </m:den>
                      </m:f>
                      <m:nary>
                        <m:naryPr>
                          <m:chr m:val="∑"/>
                          <m:limLoc m:val="undOvr"/>
                          <m:supHide m:val="on"/>
                          <m:ctrlPr>
                            <a:rPr lang="en-CA" sz="1575" b="0" i="1" smtClean="0">
                              <a:solidFill>
                                <a:srgbClr val="D6E0ED"/>
                              </a:solidFill>
                              <a:latin typeface="Cambria Math" panose="02040503050406030204" pitchFamily="18" charset="0"/>
                            </a:rPr>
                          </m:ctrlPr>
                        </m:naryPr>
                        <m:sub>
                          <m:d>
                            <m:dPr>
                              <m:ctrlPr>
                                <a:rPr lang="en-CA" sz="1575" b="0" i="1" smtClean="0">
                                  <a:solidFill>
                                    <a:srgbClr val="D6E0ED"/>
                                  </a:solidFill>
                                  <a:latin typeface="Cambria Math" panose="02040503050406030204" pitchFamily="18" charset="0"/>
                                </a:rPr>
                              </m:ctrlPr>
                            </m:dPr>
                            <m:e>
                              <m:r>
                                <a:rPr lang="en-CA" sz="1575" b="0" i="1" smtClean="0">
                                  <a:solidFill>
                                    <a:srgbClr val="D6E0ED"/>
                                  </a:solidFill>
                                  <a:latin typeface="Cambria Math" panose="02040503050406030204" pitchFamily="18" charset="0"/>
                                </a:rPr>
                                <m:t>𝑖</m:t>
                              </m:r>
                              <m:r>
                                <a:rPr lang="en-CA" sz="1575" b="0" i="0" smtClean="0">
                                  <a:solidFill>
                                    <a:srgbClr val="D6E0ED"/>
                                  </a:solidFill>
                                  <a:latin typeface="Cambria Math" panose="02040503050406030204" pitchFamily="18" charset="0"/>
                                </a:rPr>
                                <m:t>,</m:t>
                              </m:r>
                              <m:r>
                                <a:rPr lang="en-CA" sz="1575" b="0" i="1" smtClean="0">
                                  <a:solidFill>
                                    <a:srgbClr val="D6E0ED"/>
                                  </a:solidFill>
                                  <a:latin typeface="Cambria Math" panose="02040503050406030204" pitchFamily="18" charset="0"/>
                                </a:rPr>
                                <m:t>𝑗</m:t>
                              </m:r>
                            </m:e>
                          </m:d>
                          <m:r>
                            <a:rPr lang="en-CA" sz="1575" b="0" i="0" smtClean="0">
                              <a:solidFill>
                                <a:srgbClr val="D6E0ED"/>
                              </a:solidFill>
                              <a:latin typeface="Cambria Math" panose="02040503050406030204" pitchFamily="18" charset="0"/>
                            </a:rPr>
                            <m:t>∈</m:t>
                          </m:r>
                          <m:acc>
                            <m:accPr>
                              <m:chr m:val="̃"/>
                              <m:ctrlPr>
                                <a:rPr lang="en-CA" sz="1575" b="0" i="1" smtClean="0">
                                  <a:solidFill>
                                    <a:srgbClr val="D6E0ED"/>
                                  </a:solidFill>
                                  <a:latin typeface="Cambria Math" panose="02040503050406030204" pitchFamily="18" charset="0"/>
                                </a:rPr>
                              </m:ctrlPr>
                            </m:accPr>
                            <m:e>
                              <m:r>
                                <a:rPr lang="en-CA" sz="1575" b="0" i="1" smtClean="0">
                                  <a:solidFill>
                                    <a:srgbClr val="D6E0ED"/>
                                  </a:solidFill>
                                  <a:latin typeface="Cambria Math" panose="02040503050406030204" pitchFamily="18" charset="0"/>
                                </a:rPr>
                                <m:t>𝐸</m:t>
                              </m:r>
                            </m:e>
                          </m:acc>
                        </m:sub>
                        <m:sup/>
                        <m:e>
                          <m:sSubSup>
                            <m:sSubSupPr>
                              <m:ctrlPr>
                                <a:rPr lang="en-CA" sz="1575" b="0" i="1" smtClean="0">
                                  <a:solidFill>
                                    <a:srgbClr val="D6E0ED"/>
                                  </a:solidFill>
                                  <a:latin typeface="Cambria Math" panose="02040503050406030204" pitchFamily="18" charset="0"/>
                                </a:rPr>
                              </m:ctrlPr>
                            </m:sSubSupPr>
                            <m:e>
                              <m:d>
                                <m:dPr>
                                  <m:begChr m:val="‖"/>
                                  <m:endChr m:val="‖"/>
                                  <m:ctrlPr>
                                    <a:rPr lang="en-CA" sz="1575" b="0" i="1" smtClean="0">
                                      <a:solidFill>
                                        <a:srgbClr val="D6E0ED"/>
                                      </a:solidFill>
                                      <a:latin typeface="Cambria Math" panose="02040503050406030204" pitchFamily="18" charset="0"/>
                                    </a:rPr>
                                  </m:ctrlPr>
                                </m:dPr>
                                <m:e>
                                  <m:f>
                                    <m:fPr>
                                      <m:ctrlPr>
                                        <a:rPr lang="en-CA" sz="1575" b="0" i="1" smtClean="0">
                                          <a:solidFill>
                                            <a:srgbClr val="D6E0ED"/>
                                          </a:solidFill>
                                          <a:latin typeface="Cambria Math" panose="02040503050406030204" pitchFamily="18" charset="0"/>
                                        </a:rPr>
                                      </m:ctrlPr>
                                    </m:fPr>
                                    <m:num>
                                      <m:sSub>
                                        <m:sSubPr>
                                          <m:ctrlPr>
                                            <a:rPr lang="en-CA" sz="1575" b="0" i="1" smtClean="0">
                                              <a:solidFill>
                                                <a:srgbClr val="D6E0ED"/>
                                              </a:solidFill>
                                              <a:latin typeface="Cambria Math" panose="02040503050406030204" pitchFamily="18" charset="0"/>
                                            </a:rPr>
                                          </m:ctrlPr>
                                        </m:sSubPr>
                                        <m:e>
                                          <m:r>
                                            <a:rPr lang="en-CA" sz="1575" b="0" i="0" smtClean="0">
                                              <a:solidFill>
                                                <a:srgbClr val="D6E0ED"/>
                                              </a:solidFill>
                                              <a:latin typeface="Cambria Math" panose="02040503050406030204" pitchFamily="18" charset="0"/>
                                            </a:rPr>
                                            <m:t>𝐡</m:t>
                                          </m:r>
                                        </m:e>
                                        <m:sub>
                                          <m:r>
                                            <a:rPr lang="en-CA" sz="1575" b="0" i="1" smtClean="0">
                                              <a:solidFill>
                                                <a:srgbClr val="D6E0ED"/>
                                              </a:solidFill>
                                              <a:latin typeface="Cambria Math" panose="02040503050406030204" pitchFamily="18" charset="0"/>
                                            </a:rPr>
                                            <m:t>𝑖</m:t>
                                          </m:r>
                                        </m:sub>
                                      </m:sSub>
                                    </m:num>
                                    <m:den>
                                      <m:rad>
                                        <m:radPr>
                                          <m:degHide m:val="on"/>
                                          <m:ctrlPr>
                                            <a:rPr lang="en-CA" sz="1575" b="0" i="1" smtClean="0">
                                              <a:solidFill>
                                                <a:srgbClr val="D6E0ED"/>
                                              </a:solidFill>
                                              <a:latin typeface="Cambria Math" panose="02040503050406030204" pitchFamily="18" charset="0"/>
                                            </a:rPr>
                                          </m:ctrlPr>
                                        </m:radPr>
                                        <m:deg/>
                                        <m:e>
                                          <m:sSub>
                                            <m:sSubPr>
                                              <m:ctrlPr>
                                                <a:rPr lang="en-CA" sz="1575" b="0" i="1" smtClean="0">
                                                  <a:solidFill>
                                                    <a:srgbClr val="D6E0ED"/>
                                                  </a:solidFill>
                                                  <a:latin typeface="Cambria Math" panose="02040503050406030204" pitchFamily="18" charset="0"/>
                                                </a:rPr>
                                              </m:ctrlPr>
                                            </m:sSubPr>
                                            <m:e>
                                              <m:acc>
                                                <m:accPr>
                                                  <m:chr m:val="̃"/>
                                                  <m:ctrlPr>
                                                    <a:rPr lang="en-CA" sz="1575" b="0" i="1" smtClean="0">
                                                      <a:solidFill>
                                                        <a:srgbClr val="D6E0ED"/>
                                                      </a:solidFill>
                                                      <a:latin typeface="Cambria Math" panose="02040503050406030204" pitchFamily="18" charset="0"/>
                                                    </a:rPr>
                                                  </m:ctrlPr>
                                                </m:accPr>
                                                <m:e>
                                                  <m:r>
                                                    <a:rPr lang="en-CA" sz="1575" b="0" i="1" smtClean="0">
                                                      <a:solidFill>
                                                        <a:srgbClr val="D6E0ED"/>
                                                      </a:solidFill>
                                                      <a:latin typeface="Cambria Math" panose="02040503050406030204" pitchFamily="18" charset="0"/>
                                                    </a:rPr>
                                                    <m:t>𝑑</m:t>
                                                  </m:r>
                                                </m:e>
                                              </m:acc>
                                            </m:e>
                                            <m:sub>
                                              <m:r>
                                                <a:rPr lang="en-CA" sz="1575" b="0" i="1" smtClean="0">
                                                  <a:solidFill>
                                                    <a:srgbClr val="D6E0ED"/>
                                                  </a:solidFill>
                                                  <a:latin typeface="Cambria Math" panose="02040503050406030204" pitchFamily="18" charset="0"/>
                                                </a:rPr>
                                                <m:t>𝑖</m:t>
                                              </m:r>
                                            </m:sub>
                                          </m:sSub>
                                        </m:e>
                                      </m:rad>
                                    </m:den>
                                  </m:f>
                                  <m:r>
                                    <a:rPr lang="en-CA" sz="1575" b="0" i="0" smtClean="0">
                                      <a:solidFill>
                                        <a:srgbClr val="D6E0ED"/>
                                      </a:solidFill>
                                      <a:latin typeface="Cambria Math" panose="02040503050406030204" pitchFamily="18" charset="0"/>
                                    </a:rPr>
                                    <m:t>−</m:t>
                                  </m:r>
                                  <m:f>
                                    <m:fPr>
                                      <m:ctrlPr>
                                        <a:rPr lang="en-CA" sz="1575" b="0" i="1" smtClean="0">
                                          <a:solidFill>
                                            <a:srgbClr val="D6E0ED"/>
                                          </a:solidFill>
                                          <a:latin typeface="Cambria Math" panose="02040503050406030204" pitchFamily="18" charset="0"/>
                                        </a:rPr>
                                      </m:ctrlPr>
                                    </m:fPr>
                                    <m:num>
                                      <m:sSub>
                                        <m:sSubPr>
                                          <m:ctrlPr>
                                            <a:rPr lang="en-CA" sz="1575" b="0" i="1" smtClean="0">
                                              <a:solidFill>
                                                <a:srgbClr val="D6E0ED"/>
                                              </a:solidFill>
                                              <a:latin typeface="Cambria Math" panose="02040503050406030204" pitchFamily="18" charset="0"/>
                                            </a:rPr>
                                          </m:ctrlPr>
                                        </m:sSubPr>
                                        <m:e>
                                          <m:r>
                                            <a:rPr lang="en-CA" sz="1575" b="0" i="0" smtClean="0">
                                              <a:solidFill>
                                                <a:srgbClr val="D6E0ED"/>
                                              </a:solidFill>
                                              <a:latin typeface="Cambria Math" panose="02040503050406030204" pitchFamily="18" charset="0"/>
                                            </a:rPr>
                                            <m:t>𝐡</m:t>
                                          </m:r>
                                        </m:e>
                                        <m:sub>
                                          <m:r>
                                            <a:rPr lang="en-CA" sz="1575" b="0" i="1" smtClean="0">
                                              <a:solidFill>
                                                <a:srgbClr val="D6E0ED"/>
                                              </a:solidFill>
                                              <a:latin typeface="Cambria Math" panose="02040503050406030204" pitchFamily="18" charset="0"/>
                                            </a:rPr>
                                            <m:t>𝑗</m:t>
                                          </m:r>
                                        </m:sub>
                                      </m:sSub>
                                    </m:num>
                                    <m:den>
                                      <m:rad>
                                        <m:radPr>
                                          <m:degHide m:val="on"/>
                                          <m:ctrlPr>
                                            <a:rPr lang="en-CA" sz="1575" b="0" i="1" smtClean="0">
                                              <a:solidFill>
                                                <a:srgbClr val="D6E0ED"/>
                                              </a:solidFill>
                                              <a:latin typeface="Cambria Math" panose="02040503050406030204" pitchFamily="18" charset="0"/>
                                            </a:rPr>
                                          </m:ctrlPr>
                                        </m:radPr>
                                        <m:deg/>
                                        <m:e>
                                          <m:sSub>
                                            <m:sSubPr>
                                              <m:ctrlPr>
                                                <a:rPr lang="en-CA" sz="1575" b="0" i="1" smtClean="0">
                                                  <a:solidFill>
                                                    <a:srgbClr val="D6E0ED"/>
                                                  </a:solidFill>
                                                  <a:latin typeface="Cambria Math" panose="02040503050406030204" pitchFamily="18" charset="0"/>
                                                </a:rPr>
                                              </m:ctrlPr>
                                            </m:sSubPr>
                                            <m:e>
                                              <m:acc>
                                                <m:accPr>
                                                  <m:chr m:val="̃"/>
                                                  <m:ctrlPr>
                                                    <a:rPr lang="en-CA" sz="1575" b="0" i="1" smtClean="0">
                                                      <a:solidFill>
                                                        <a:srgbClr val="D6E0ED"/>
                                                      </a:solidFill>
                                                      <a:latin typeface="Cambria Math" panose="02040503050406030204" pitchFamily="18" charset="0"/>
                                                    </a:rPr>
                                                  </m:ctrlPr>
                                                </m:accPr>
                                                <m:e>
                                                  <m:r>
                                                    <a:rPr lang="en-CA" sz="1575" b="0" i="1" smtClean="0">
                                                      <a:solidFill>
                                                        <a:srgbClr val="D6E0ED"/>
                                                      </a:solidFill>
                                                      <a:latin typeface="Cambria Math" panose="02040503050406030204" pitchFamily="18" charset="0"/>
                                                    </a:rPr>
                                                    <m:t>𝑑</m:t>
                                                  </m:r>
                                                </m:e>
                                              </m:acc>
                                            </m:e>
                                            <m:sub>
                                              <m:r>
                                                <a:rPr lang="en-CA" sz="1575" b="0" i="1" smtClean="0">
                                                  <a:solidFill>
                                                    <a:srgbClr val="D6E0ED"/>
                                                  </a:solidFill>
                                                  <a:latin typeface="Cambria Math" panose="02040503050406030204" pitchFamily="18" charset="0"/>
                                                </a:rPr>
                                                <m:t>𝑗</m:t>
                                              </m:r>
                                            </m:sub>
                                          </m:sSub>
                                        </m:e>
                                      </m:rad>
                                    </m:den>
                                  </m:f>
                                </m:e>
                              </m:d>
                            </m:e>
                            <m:sub>
                              <m:r>
                                <a:rPr lang="en-CA" sz="1575" b="0" i="0" smtClean="0">
                                  <a:solidFill>
                                    <a:srgbClr val="D6E0ED"/>
                                  </a:solidFill>
                                  <a:latin typeface="Cambria Math" panose="02040503050406030204" pitchFamily="18" charset="0"/>
                                </a:rPr>
                                <m:t>2</m:t>
                              </m:r>
                            </m:sub>
                            <m:sup>
                              <m:r>
                                <a:rPr lang="en-CA" sz="1575" b="0" i="0" smtClean="0">
                                  <a:solidFill>
                                    <a:srgbClr val="D6E0ED"/>
                                  </a:solidFill>
                                  <a:latin typeface="Cambria Math" panose="02040503050406030204" pitchFamily="18" charset="0"/>
                                </a:rPr>
                                <m:t>2.</m:t>
                              </m:r>
                            </m:sup>
                          </m:sSubSup>
                        </m:e>
                      </m:nary>
                    </m:oMath>
                  </m:oMathPara>
                </a14:m>
                <a:endParaRPr lang="en-CA" sz="1575" b="0" dirty="0">
                  <a:solidFill>
                    <a:srgbClr val="D6E0ED"/>
                  </a:solidFill>
                  <a:latin typeface="Arial"/>
                </a:endParaRPr>
              </a:p>
              <a:p>
                <a:pPr algn="l">
                  <a:buNone/>
                  <a:defRPr sz="1650" b="0">
                    <a:solidFill>
                      <a:srgbClr val="5F6368"/>
                    </a:solidFill>
                    <a:latin typeface="Arial"/>
                    <a:ea typeface="Arial"/>
                    <a:cs typeface="Arial"/>
                  </a:defRPr>
                </a:pPr>
                <a:r>
                  <a:rPr sz="1575" b="0" dirty="0">
                    <a:solidFill>
                      <a:srgbClr val="D6E0ED"/>
                    </a:solidFill>
                    <a:latin typeface="Arial"/>
                    <a:ea typeface="Arial"/>
                    <a:cs typeface="Arial"/>
                  </a:rPr>
                  <a:t>Fixed augmented graph; sensitive to representation magnitude.</a:t>
                </a:r>
              </a:p>
            </p:txBody>
          </p:sp>
        </mc:Choice>
        <mc:Fallback>
          <p:sp>
            <p:nvSpPr>
              <p:cNvPr id="9" name="s7-energy-body">
                <a:extLst>
                  <a:ext uri="{FF2B5EF4-FFF2-40B4-BE49-F238E27FC236}">
                    <a16:creationId xmlns:a16="http://schemas.microsoft.com/office/drawing/2014/main" id="{F07FFBBD-E9BA-4DB8-8A5B-C9E03B5CEE44}"/>
                  </a:ext>
                </a:extLst>
              </p:cNvPr>
              <p:cNvSpPr>
                <a:spLocks noGrp="1" noRot="1" noChangeAspect="1" noMove="1" noResize="1" noEditPoints="1" noAdjustHandles="1" noChangeArrowheads="1" noChangeShapeType="1" noTextEdit="1"/>
              </p:cNvSpPr>
              <p:nvPr/>
            </p:nvSpPr>
            <p:spPr>
              <a:xfrm>
                <a:off x="6429375" y="3381375"/>
                <a:ext cx="4953000" cy="1428750"/>
              </a:xfrm>
              <a:prstGeom prst="rect">
                <a:avLst/>
              </a:prstGeom>
              <a:blipFill>
                <a:blip r:embed="rId4"/>
                <a:stretch>
                  <a:fillRect l="-2583" b="-851"/>
                </a:stretch>
              </a:blipFill>
              <a:ln w="0">
                <a:solidFill>
                  <a:srgbClr val="000000">
                    <a:alpha val="0"/>
                  </a:srgbClr>
                </a:solidFill>
                <a:prstDash val="solid"/>
              </a:ln>
            </p:spPr>
            <p:txBody>
              <a:bodyPr/>
              <a:lstStyle/>
              <a:p>
                <a:r>
                  <a:rPr lang="en-CA">
                    <a:noFill/>
                  </a:rPr>
                  <a:t> </a:t>
                </a:r>
              </a:p>
            </p:txBody>
          </p:sp>
        </mc:Fallback>
      </mc:AlternateContent>
      <p:sp>
        <p:nvSpPr>
          <p:cNvPr id="10" name="s7-takeaway">
            <a:extLst>
              <a:ext uri="{FF2B5EF4-FFF2-40B4-BE49-F238E27FC236}">
                <a16:creationId xmlns:a16="http://schemas.microsoft.com/office/drawing/2014/main" id="{0F78FD45-34F3-4F9B-A7B8-F342176CE93D}"/>
              </a:ext>
            </a:extLst>
          </p:cNvPr>
          <p:cNvSpPr>
            <a:spLocks noGrp="1"/>
          </p:cNvSpPr>
          <p:nvPr/>
        </p:nvSpPr>
        <p:spPr>
          <a:xfrm>
            <a:off x="1905000" y="5610225"/>
            <a:ext cx="83820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575" b="1">
                <a:solidFill>
                  <a:srgbClr val="111111"/>
                </a:solidFill>
                <a:latin typeface="Arial"/>
                <a:ea typeface="Arial"/>
                <a:cs typeface="Arial"/>
              </a:defRPr>
            </a:pPr>
            <a:r>
              <a:rPr sz="1500" b="1" dirty="0">
                <a:solidFill>
                  <a:srgbClr val="F8FAFC"/>
                </a:solidFill>
                <a:latin typeface="Arial"/>
                <a:ea typeface="Arial"/>
                <a:cs typeface="Arial"/>
              </a:rPr>
              <a:t>The diagnostics are complementary by construction: MAD is scale-invariant, whereas energy is quadratic in magnitude.</a:t>
            </a:r>
          </a:p>
        </p:txBody>
      </p:sp>
      <p:sp>
        <p:nvSpPr>
          <p:cNvPr id="11" name="footer-rule-7">
            <a:extLst>
              <a:ext uri="{FF2B5EF4-FFF2-40B4-BE49-F238E27FC236}">
                <a16:creationId xmlns:a16="http://schemas.microsoft.com/office/drawing/2014/main" id="{56EE3FE7-91CF-40AB-85F7-E7CED27D51CE}"/>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2" name="footer-label-7">
            <a:extLst>
              <a:ext uri="{FF2B5EF4-FFF2-40B4-BE49-F238E27FC236}">
                <a16:creationId xmlns:a16="http://schemas.microsoft.com/office/drawing/2014/main" id="{35A17256-5D1D-4903-BAB6-12599A29B481}"/>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3" name="footer-page-7">
            <a:extLst>
              <a:ext uri="{FF2B5EF4-FFF2-40B4-BE49-F238E27FC236}">
                <a16:creationId xmlns:a16="http://schemas.microsoft.com/office/drawing/2014/main" id="{92549D9E-B213-4DDC-A5CB-3BED6A7DFE11}"/>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08</a:t>
            </a:r>
          </a:p>
        </p:txBody>
      </p:sp>
    </p:spTree>
    <p:extLst>
      <p:ext uri="{BB962C8B-B14F-4D97-AF65-F5344CB8AC3E}">
        <p14:creationId xmlns:p14="http://schemas.microsoft.com/office/powerpoint/2010/main" val="144438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3" name="title-8">
            <a:extLst>
              <a:ext uri="{FF2B5EF4-FFF2-40B4-BE49-F238E27FC236}">
                <a16:creationId xmlns:a16="http://schemas.microsoft.com/office/drawing/2014/main" id="{48D24CBB-363A-4718-9A93-048770ECC1A1}"/>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625" b="1">
                <a:solidFill>
                  <a:srgbClr val="F8FAFC"/>
                </a:solidFill>
                <a:latin typeface="Arial"/>
                <a:ea typeface="Arial"/>
                <a:cs typeface="Arial"/>
              </a:rPr>
              <a:t>Result I — Depth degradation is architecture-dependent</a:t>
            </a:r>
          </a:p>
        </p:txBody>
      </p:sp>
      <p:sp>
        <p:nvSpPr>
          <p:cNvPr id="2" name="accent-8">
            <a:extLst>
              <a:ext uri="{FF2B5EF4-FFF2-40B4-BE49-F238E27FC236}">
                <a16:creationId xmlns:a16="http://schemas.microsoft.com/office/drawing/2014/main" id="{A5C28C4C-F3C0-48DC-8E4F-2D417345408B}"/>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8-chart-frame">
            <a:extLst>
              <a:ext uri="{FF2B5EF4-FFF2-40B4-BE49-F238E27FC236}">
                <a16:creationId xmlns:a16="http://schemas.microsoft.com/office/drawing/2014/main" id="{F86BD54A-C13D-4A9F-8059-6D1F2093ACF7}"/>
              </a:ext>
            </a:extLst>
          </p:cNvPr>
          <p:cNvSpPr>
            <a:spLocks noGrp="1"/>
          </p:cNvSpPr>
          <p:nvPr/>
        </p:nvSpPr>
        <p:spPr>
          <a:xfrm>
            <a:off x="390525" y="1219200"/>
            <a:ext cx="5715000" cy="4762500"/>
          </a:xfrm>
          <a:prstGeom prst="roundRect">
            <a:avLst>
              <a:gd name="adj" fmla="val 1600"/>
            </a:avLst>
          </a:prstGeom>
          <a:solidFill>
            <a:srgbClr val="FFFFFF"/>
          </a:solidFill>
          <a:ln w="14288">
            <a:solidFill>
              <a:srgbClr val="2B3C59"/>
            </a:solidFill>
            <a:prstDash val="solid"/>
          </a:ln>
        </p:spPr>
      </p:sp>
      <p:pic>
        <p:nvPicPr>
          <p:cNvPr id="18" name="Picture 17"/>
          <p:cNvPicPr>
            <a:picLocks noChangeAspect="1"/>
          </p:cNvPicPr>
          <p:nvPr/>
        </p:nvPicPr>
        <p:blipFill>
          <a:blip r:embed="rId3"/>
          <a:stretch/>
        </p:blipFill>
        <p:spPr>
          <a:xfrm>
            <a:off x="552450" y="1531348"/>
            <a:ext cx="5391150" cy="4004854"/>
          </a:xfrm>
          <a:prstGeom prst="rect">
            <a:avLst/>
          </a:prstGeom>
        </p:spPr>
      </p:pic>
      <p:sp>
        <p:nvSpPr>
          <p:cNvPr id="5" name="s8-copy">
            <a:extLst>
              <a:ext uri="{FF2B5EF4-FFF2-40B4-BE49-F238E27FC236}">
                <a16:creationId xmlns:a16="http://schemas.microsoft.com/office/drawing/2014/main" id="{BC700B3D-20E3-4310-B934-D6587929FC11}"/>
              </a:ext>
            </a:extLst>
          </p:cNvPr>
          <p:cNvSpPr>
            <a:spLocks noGrp="1"/>
          </p:cNvSpPr>
          <p:nvPr/>
        </p:nvSpPr>
        <p:spPr>
          <a:xfrm>
            <a:off x="6524625" y="1524000"/>
            <a:ext cx="47625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025" b="1">
                <a:solidFill>
                  <a:srgbClr val="111111"/>
                </a:solidFill>
                <a:latin typeface="Arial"/>
                <a:ea typeface="Arial"/>
                <a:cs typeface="Arial"/>
              </a:defRPr>
            </a:pPr>
            <a:r>
              <a:rPr sz="2025" b="1">
                <a:solidFill>
                  <a:srgbClr val="F8FAFC"/>
                </a:solidFill>
                <a:latin typeface="Arial"/>
                <a:ea typeface="Arial"/>
                <a:cs typeface="Arial"/>
              </a:rPr>
              <a:t>Conventional architectures</a:t>
            </a:r>
          </a:p>
        </p:txBody>
      </p:sp>
      <p:sp>
        <p:nvSpPr>
          <p:cNvPr id="6" name="s8-copy2">
            <a:extLst>
              <a:ext uri="{FF2B5EF4-FFF2-40B4-BE49-F238E27FC236}">
                <a16:creationId xmlns:a16="http://schemas.microsoft.com/office/drawing/2014/main" id="{26EFA199-F364-4F95-A2E1-220D800F3CA2}"/>
              </a:ext>
            </a:extLst>
          </p:cNvPr>
          <p:cNvSpPr>
            <a:spLocks noGrp="1"/>
          </p:cNvSpPr>
          <p:nvPr/>
        </p:nvSpPr>
        <p:spPr>
          <a:xfrm>
            <a:off x="6524625" y="2133600"/>
            <a:ext cx="4762500" cy="1190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GCN, GraphSAGE, and GAT peak at depth 2 and lose 4.4 to 8.4 points by depth 4. At depth 32 all three fall below the 31.9% majority-class floor, and macro-F1 collapses further still: 0.2102, 0.0514 and 0.0459.</a:t>
            </a:r>
          </a:p>
        </p:txBody>
      </p:sp>
      <p:sp>
        <p:nvSpPr>
          <p:cNvPr id="7" name="s8-stat-panel">
            <a:extLst>
              <a:ext uri="{FF2B5EF4-FFF2-40B4-BE49-F238E27FC236}">
                <a16:creationId xmlns:a16="http://schemas.microsoft.com/office/drawing/2014/main" id="{6FFED66F-B84A-4122-A8DC-99EE60308A20}"/>
              </a:ext>
            </a:extLst>
          </p:cNvPr>
          <p:cNvSpPr>
            <a:spLocks noGrp="1"/>
          </p:cNvSpPr>
          <p:nvPr/>
        </p:nvSpPr>
        <p:spPr>
          <a:xfrm>
            <a:off x="6524625" y="3714750"/>
            <a:ext cx="4762500" cy="1476375"/>
          </a:xfrm>
          <a:prstGeom prst="roundRect">
            <a:avLst>
              <a:gd name="adj" fmla="val 5161"/>
            </a:avLst>
          </a:prstGeom>
          <a:solidFill>
            <a:srgbClr val="102D46"/>
          </a:solidFill>
          <a:ln w="15240">
            <a:solidFill>
              <a:srgbClr val="38BDF8"/>
            </a:solidFill>
            <a:prstDash val="solid"/>
          </a:ln>
        </p:spPr>
      </p:sp>
      <p:sp>
        <p:nvSpPr>
          <p:cNvPr id="8" name="s8-stat">
            <a:extLst>
              <a:ext uri="{FF2B5EF4-FFF2-40B4-BE49-F238E27FC236}">
                <a16:creationId xmlns:a16="http://schemas.microsoft.com/office/drawing/2014/main" id="{815B894A-01F1-4A62-A6A7-45C4230988AD}"/>
              </a:ext>
            </a:extLst>
          </p:cNvPr>
          <p:cNvSpPr>
            <a:spLocks noGrp="1"/>
          </p:cNvSpPr>
          <p:nvPr/>
        </p:nvSpPr>
        <p:spPr>
          <a:xfrm>
            <a:off x="6810375" y="3905250"/>
            <a:ext cx="2095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3225" b="1">
                <a:solidFill>
                  <a:srgbClr val="3D8DFF"/>
                </a:solidFill>
                <a:latin typeface="Arial"/>
                <a:ea typeface="Arial"/>
                <a:cs typeface="Arial"/>
              </a:defRPr>
            </a:pPr>
            <a:r>
              <a:rPr sz="3300" b="1">
                <a:solidFill>
                  <a:srgbClr val="38BDF8"/>
                </a:solidFill>
                <a:latin typeface="Arial"/>
                <a:ea typeface="Arial"/>
                <a:cs typeface="Arial"/>
              </a:rPr>
              <a:t>83.26%</a:t>
            </a:r>
          </a:p>
        </p:txBody>
      </p:sp>
      <p:sp>
        <p:nvSpPr>
          <p:cNvPr id="9" name="s8-stat-label">
            <a:extLst>
              <a:ext uri="{FF2B5EF4-FFF2-40B4-BE49-F238E27FC236}">
                <a16:creationId xmlns:a16="http://schemas.microsoft.com/office/drawing/2014/main" id="{4C09487B-77FC-4839-81AC-5A5FE1FD87E3}"/>
              </a:ext>
            </a:extLst>
          </p:cNvPr>
          <p:cNvSpPr>
            <a:spLocks noGrp="1"/>
          </p:cNvSpPr>
          <p:nvPr/>
        </p:nvSpPr>
        <p:spPr>
          <a:xfrm>
            <a:off x="6810375" y="4619625"/>
            <a:ext cx="4095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5F6368"/>
                </a:solidFill>
                <a:latin typeface="Arial"/>
                <a:ea typeface="Arial"/>
                <a:cs typeface="Arial"/>
              </a:defRPr>
            </a:pPr>
            <a:r>
              <a:rPr sz="1425" b="0">
                <a:solidFill>
                  <a:srgbClr val="D6E0ED"/>
                </a:solidFill>
                <a:latin typeface="Arial"/>
                <a:ea typeface="Arial"/>
                <a:cs typeface="Arial"/>
              </a:rPr>
              <a:t>GCNII mean test accuracy · L = 32</a:t>
            </a:r>
          </a:p>
        </p:txBody>
      </p:sp>
      <p:sp>
        <p:nvSpPr>
          <p:cNvPr id="10" name="footer-rule-8">
            <a:extLst>
              <a:ext uri="{FF2B5EF4-FFF2-40B4-BE49-F238E27FC236}">
                <a16:creationId xmlns:a16="http://schemas.microsoft.com/office/drawing/2014/main" id="{1DCD87AB-45F0-40CD-BB19-6E1014115EB7}"/>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1" name="footer-label-8">
            <a:extLst>
              <a:ext uri="{FF2B5EF4-FFF2-40B4-BE49-F238E27FC236}">
                <a16:creationId xmlns:a16="http://schemas.microsoft.com/office/drawing/2014/main" id="{29BE7B6D-93AF-4C54-8845-ACA7B9AC63FF}"/>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2" name="footer-page-8">
            <a:extLst>
              <a:ext uri="{FF2B5EF4-FFF2-40B4-BE49-F238E27FC236}">
                <a16:creationId xmlns:a16="http://schemas.microsoft.com/office/drawing/2014/main" id="{0BD61D10-8A5B-45B1-9D70-86F5E79B9BF3}"/>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09</a:t>
            </a:r>
          </a:p>
        </p:txBody>
      </p:sp>
    </p:spTree>
    <p:extLst>
      <p:ext uri="{BB962C8B-B14F-4D97-AF65-F5344CB8AC3E}">
        <p14:creationId xmlns:p14="http://schemas.microsoft.com/office/powerpoint/2010/main" val="1779311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0" name="title-9">
            <a:extLst>
              <a:ext uri="{FF2B5EF4-FFF2-40B4-BE49-F238E27FC236}">
                <a16:creationId xmlns:a16="http://schemas.microsoft.com/office/drawing/2014/main" id="{87DB01A0-E30E-440F-8EB6-498521625045}"/>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Result II — Accuracy loss and geometric collapse diverge</a:t>
            </a:r>
          </a:p>
        </p:txBody>
      </p:sp>
      <p:sp>
        <p:nvSpPr>
          <p:cNvPr id="2" name="accent-9">
            <a:extLst>
              <a:ext uri="{FF2B5EF4-FFF2-40B4-BE49-F238E27FC236}">
                <a16:creationId xmlns:a16="http://schemas.microsoft.com/office/drawing/2014/main" id="{C5F33333-E63A-48D8-9AC6-439D79ADF9DC}"/>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9-left-title">
            <a:extLst>
              <a:ext uri="{FF2B5EF4-FFF2-40B4-BE49-F238E27FC236}">
                <a16:creationId xmlns:a16="http://schemas.microsoft.com/office/drawing/2014/main" id="{1779E983-B9D0-482B-9B93-334097E7A943}"/>
              </a:ext>
            </a:extLst>
          </p:cNvPr>
          <p:cNvSpPr>
            <a:spLocks noGrp="1"/>
          </p:cNvSpPr>
          <p:nvPr/>
        </p:nvSpPr>
        <p:spPr>
          <a:xfrm>
            <a:off x="390525" y="1571625"/>
            <a:ext cx="47625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38BDF8"/>
                </a:solidFill>
                <a:latin typeface="Arial"/>
                <a:ea typeface="Arial"/>
                <a:cs typeface="Arial"/>
              </a:rPr>
              <a:t>MAD separates two failure regimes</a:t>
            </a:r>
          </a:p>
        </p:txBody>
      </p:sp>
      <p:sp>
        <p:nvSpPr>
          <p:cNvPr id="4" name="s9-left-body">
            <a:extLst>
              <a:ext uri="{FF2B5EF4-FFF2-40B4-BE49-F238E27FC236}">
                <a16:creationId xmlns:a16="http://schemas.microsoft.com/office/drawing/2014/main" id="{880A59A4-A17A-47E2-B4AF-F1394C8999C2}"/>
              </a:ext>
            </a:extLst>
          </p:cNvPr>
          <p:cNvSpPr>
            <a:spLocks noGrp="1"/>
          </p:cNvSpPr>
          <p:nvPr/>
        </p:nvSpPr>
        <p:spPr>
          <a:xfrm>
            <a:off x="390525" y="2238375"/>
            <a:ext cx="4762500" cy="2857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GraphSAGE and GAT converge toward MAD ≈ 0 at high depth, consistent with directional collapse.</a:t>
            </a:r>
          </a:p>
          <a:p>
            <a:endParaRPr sz="1575" b="0">
              <a:solidFill>
                <a:srgbClr val="D6E0ED"/>
              </a:solidFill>
              <a:latin typeface="Arial"/>
              <a:ea typeface="Arial"/>
              <a:cs typeface="Arial"/>
            </a:endParaRPr>
          </a:p>
          <a:p>
            <a:pPr algn="l">
              <a:buNone/>
              <a:defRPr sz="1650" b="0">
                <a:solidFill>
                  <a:srgbClr val="5F6368"/>
                </a:solidFill>
                <a:latin typeface="Arial"/>
                <a:ea typeface="Arial"/>
                <a:cs typeface="Arial"/>
              </a:defRPr>
            </a:pPr>
            <a:r>
              <a:rPr sz="1575" b="0">
                <a:solidFill>
                  <a:srgbClr val="D6E0ED"/>
                </a:solidFill>
                <a:latin typeface="Arial"/>
                <a:ea typeface="Arial"/>
                <a:cs typeface="Arial"/>
              </a:rPr>
              <a:t>GCN retains materially larger MAD despite comparable accuracy loss.</a:t>
            </a:r>
          </a:p>
          <a:p>
            <a:endParaRPr sz="1575" b="0">
              <a:solidFill>
                <a:srgbClr val="D6E0ED"/>
              </a:solidFill>
              <a:latin typeface="Arial"/>
              <a:ea typeface="Arial"/>
              <a:cs typeface="Arial"/>
            </a:endParaRPr>
          </a:p>
          <a:p>
            <a:pPr algn="l">
              <a:buNone/>
              <a:defRPr sz="1650" b="0">
                <a:solidFill>
                  <a:srgbClr val="5F6368"/>
                </a:solidFill>
                <a:latin typeface="Arial"/>
                <a:ea typeface="Arial"/>
                <a:cs typeface="Arial"/>
              </a:defRPr>
            </a:pPr>
            <a:r>
              <a:rPr sz="1575" b="0">
                <a:solidFill>
                  <a:srgbClr val="D6E0ED"/>
                </a:solidFill>
                <a:latin typeface="Arial"/>
                <a:ea typeface="Arial"/>
                <a:cs typeface="Arial"/>
              </a:rPr>
              <a:t>Predictive degradation is therefore not a sufficient proxy for representation collapse.</a:t>
            </a:r>
          </a:p>
        </p:txBody>
      </p:sp>
      <p:sp>
        <p:nvSpPr>
          <p:cNvPr id="5" name="s9-chart-frame">
            <a:extLst>
              <a:ext uri="{FF2B5EF4-FFF2-40B4-BE49-F238E27FC236}">
                <a16:creationId xmlns:a16="http://schemas.microsoft.com/office/drawing/2014/main" id="{327F52F5-A5FC-4E03-B30C-0BA3967FB2EC}"/>
              </a:ext>
            </a:extLst>
          </p:cNvPr>
          <p:cNvSpPr>
            <a:spLocks noGrp="1"/>
          </p:cNvSpPr>
          <p:nvPr/>
        </p:nvSpPr>
        <p:spPr>
          <a:xfrm>
            <a:off x="5905500" y="1219200"/>
            <a:ext cx="5895975" cy="4762500"/>
          </a:xfrm>
          <a:prstGeom prst="roundRect">
            <a:avLst>
              <a:gd name="adj" fmla="val 1600"/>
            </a:avLst>
          </a:prstGeom>
          <a:solidFill>
            <a:srgbClr val="FFFFFF"/>
          </a:solidFill>
          <a:ln w="14288">
            <a:solidFill>
              <a:srgbClr val="2B3C59"/>
            </a:solidFill>
            <a:prstDash val="solid"/>
          </a:ln>
        </p:spPr>
      </p:sp>
      <p:pic>
        <p:nvPicPr>
          <p:cNvPr id="17" name="Picture 16"/>
          <p:cNvPicPr>
            <a:picLocks noChangeAspect="1"/>
          </p:cNvPicPr>
          <p:nvPr/>
        </p:nvPicPr>
        <p:blipFill>
          <a:blip r:embed="rId3"/>
          <a:stretch/>
        </p:blipFill>
        <p:spPr>
          <a:xfrm>
            <a:off x="6143625" y="1531484"/>
            <a:ext cx="5429250" cy="4033157"/>
          </a:xfrm>
          <a:prstGeom prst="rect">
            <a:avLst/>
          </a:prstGeom>
        </p:spPr>
      </p:pic>
      <p:sp>
        <p:nvSpPr>
          <p:cNvPr id="7" name="footer-rule-9">
            <a:extLst>
              <a:ext uri="{FF2B5EF4-FFF2-40B4-BE49-F238E27FC236}">
                <a16:creationId xmlns:a16="http://schemas.microsoft.com/office/drawing/2014/main" id="{5AE57040-FC5B-4BAC-980C-D5F89ABEE351}"/>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8" name="footer-label-9">
            <a:extLst>
              <a:ext uri="{FF2B5EF4-FFF2-40B4-BE49-F238E27FC236}">
                <a16:creationId xmlns:a16="http://schemas.microsoft.com/office/drawing/2014/main" id="{8E44BE69-64EC-47A1-AF02-D3ABFD39642C}"/>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9" name="footer-page-9">
            <a:extLst>
              <a:ext uri="{FF2B5EF4-FFF2-40B4-BE49-F238E27FC236}">
                <a16:creationId xmlns:a16="http://schemas.microsoft.com/office/drawing/2014/main" id="{C5BC1A18-232A-43CD-9C02-5B4712A2C12C}"/>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10</a:t>
            </a:r>
          </a:p>
        </p:txBody>
      </p:sp>
    </p:spTree>
    <p:extLst>
      <p:ext uri="{BB962C8B-B14F-4D97-AF65-F5344CB8AC3E}">
        <p14:creationId xmlns:p14="http://schemas.microsoft.com/office/powerpoint/2010/main" val="170138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1" name="title-11">
            <a:extLst>
              <a:ext uri="{FF2B5EF4-FFF2-40B4-BE49-F238E27FC236}">
                <a16:creationId xmlns:a16="http://schemas.microsoft.com/office/drawing/2014/main" id="{B3F3AE30-3EC3-47BE-8774-3C7EFF58A1E7}"/>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850" b="1">
                <a:solidFill>
                  <a:srgbClr val="F8FAFC"/>
                </a:solidFill>
                <a:latin typeface="Arial"/>
                <a:ea typeface="Arial"/>
                <a:cs typeface="Arial"/>
              </a:rPr>
              <a:t>Result III — GraphSAGE and GAT do not train at depth 32</a:t>
            </a:r>
          </a:p>
        </p:txBody>
      </p:sp>
      <p:sp>
        <p:nvSpPr>
          <p:cNvPr id="2" name="accent-11">
            <a:extLst>
              <a:ext uri="{FF2B5EF4-FFF2-40B4-BE49-F238E27FC236}">
                <a16:creationId xmlns:a16="http://schemas.microsoft.com/office/drawing/2014/main" id="{0478468C-5363-4D45-A543-159EF2921ABE}"/>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B-stat">
            <a:extLst>
              <a:ext uri="{FF2B5EF4-FFF2-40B4-BE49-F238E27FC236}">
                <a16:creationId xmlns:a16="http://schemas.microsoft.com/office/drawing/2014/main" id="{5297E5E5-F441-4AE5-90D0-33EE82BF4A24}"/>
              </a:ext>
            </a:extLst>
          </p:cNvPr>
          <p:cNvSpPr>
            <a:spLocks noGrp="1"/>
          </p:cNvSpPr>
          <p:nvPr/>
        </p:nvSpPr>
        <p:spPr>
          <a:xfrm>
            <a:off x="390525" y="1809750"/>
            <a:ext cx="3429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4350" b="1">
                <a:solidFill>
                  <a:srgbClr val="3D8DFF"/>
                </a:solidFill>
                <a:latin typeface="Arial"/>
                <a:ea typeface="Arial"/>
                <a:cs typeface="Arial"/>
              </a:defRPr>
            </a:pPr>
            <a:r>
              <a:rPr sz="4500" b="1">
                <a:solidFill>
                  <a:srgbClr val="38BDF8"/>
                </a:solidFill>
                <a:latin typeface="Arial"/>
                <a:ea typeface="Arial"/>
                <a:cs typeface="Arial"/>
              </a:rPr>
              <a:t>1.9459</a:t>
            </a:r>
          </a:p>
        </p:txBody>
      </p:sp>
      <p:sp>
        <p:nvSpPr>
          <p:cNvPr id="4" name="sB-label">
            <a:extLst>
              <a:ext uri="{FF2B5EF4-FFF2-40B4-BE49-F238E27FC236}">
                <a16:creationId xmlns:a16="http://schemas.microsoft.com/office/drawing/2014/main" id="{8F26577A-2923-4393-9D6C-3583DDFF3A63}"/>
              </a:ext>
            </a:extLst>
          </p:cNvPr>
          <p:cNvSpPr>
            <a:spLocks noGrp="1"/>
          </p:cNvSpPr>
          <p:nvPr/>
        </p:nvSpPr>
        <p:spPr>
          <a:xfrm>
            <a:off x="390525" y="2933700"/>
            <a:ext cx="4476750" cy="809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111111"/>
                </a:solidFill>
                <a:latin typeface="Arial"/>
                <a:ea typeface="Arial"/>
                <a:cs typeface="Arial"/>
              </a:defRPr>
            </a:pPr>
            <a:r>
              <a:rPr sz="1725" b="1">
                <a:solidFill>
                  <a:srgbClr val="F8FAFC"/>
                </a:solidFill>
                <a:latin typeface="Arial"/>
                <a:ea typeface="Arial"/>
                <a:cs typeface="Arial"/>
              </a:rPr>
              <a:t>ln 7 — the uninformed loss floor</a:t>
            </a:r>
          </a:p>
          <a:p>
            <a:pPr algn="l">
              <a:buNone/>
              <a:defRPr sz="1800" b="1">
                <a:solidFill>
                  <a:srgbClr val="111111"/>
                </a:solidFill>
                <a:latin typeface="Arial"/>
                <a:ea typeface="Arial"/>
                <a:cs typeface="Arial"/>
              </a:defRPr>
            </a:pPr>
            <a:r>
              <a:rPr sz="1725" b="1">
                <a:solidFill>
                  <a:srgbClr val="F8FAFC"/>
                </a:solidFill>
                <a:latin typeface="Arial"/>
                <a:ea typeface="Arial"/>
                <a:cs typeface="Arial"/>
              </a:rPr>
              <a:t>neither architecture leaves it</a:t>
            </a:r>
          </a:p>
        </p:txBody>
      </p:sp>
      <p:sp>
        <p:nvSpPr>
          <p:cNvPr id="5" name="sB-body">
            <a:extLst>
              <a:ext uri="{FF2B5EF4-FFF2-40B4-BE49-F238E27FC236}">
                <a16:creationId xmlns:a16="http://schemas.microsoft.com/office/drawing/2014/main" id="{2714E20E-9B6E-4B0C-9783-A23F2845B908}"/>
              </a:ext>
            </a:extLst>
          </p:cNvPr>
          <p:cNvSpPr>
            <a:spLocks noGrp="1"/>
          </p:cNvSpPr>
          <p:nvPr/>
        </p:nvSpPr>
        <p:spPr>
          <a:xfrm>
            <a:off x="390525" y="4095750"/>
            <a:ext cx="4762500" cy="1524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Training loss bottoms out at 1.9343 and 1.9393, a movement of 0.01–0.02 nats, and patience of 100 epochs exhausts after 101–168 epochs against GCN’s 315–883.</a:t>
            </a:r>
          </a:p>
          <a:p>
            <a:endParaRPr sz="1500" b="0">
              <a:solidFill>
                <a:srgbClr val="D6E0ED"/>
              </a:solidFill>
              <a:latin typeface="Arial"/>
              <a:ea typeface="Arial"/>
              <a:cs typeface="Arial"/>
            </a:endParaRPr>
          </a:p>
          <a:p>
            <a:pPr algn="l">
              <a:buNone/>
              <a:defRPr sz="1575" b="0">
                <a:solidFill>
                  <a:srgbClr val="5F6368"/>
                </a:solidFill>
                <a:latin typeface="Arial"/>
                <a:ea typeface="Arial"/>
                <a:cs typeface="Arial"/>
              </a:defRPr>
            </a:pPr>
            <a:r>
              <a:rPr sz="1500" b="0">
                <a:solidFill>
                  <a:srgbClr val="D6E0ED"/>
                </a:solidFill>
                <a:latin typeface="Arial"/>
                <a:ea typeface="Arial"/>
                <a:cs typeface="Arial"/>
              </a:rPr>
              <a:t>Their checkpoint MAD is identical to their epoch-0 MAD. Three independently measured quantities agree: at this depth the weights never move.</a:t>
            </a:r>
          </a:p>
        </p:txBody>
      </p:sp>
      <p:sp>
        <p:nvSpPr>
          <p:cNvPr id="6" name="sB-chart-frame">
            <a:extLst>
              <a:ext uri="{FF2B5EF4-FFF2-40B4-BE49-F238E27FC236}">
                <a16:creationId xmlns:a16="http://schemas.microsoft.com/office/drawing/2014/main" id="{CB731F2F-9FF1-41EE-AC58-543B443E31CB}"/>
              </a:ext>
            </a:extLst>
          </p:cNvPr>
          <p:cNvSpPr>
            <a:spLocks noGrp="1"/>
          </p:cNvSpPr>
          <p:nvPr/>
        </p:nvSpPr>
        <p:spPr>
          <a:xfrm>
            <a:off x="5476875" y="1219200"/>
            <a:ext cx="6324600" cy="4762500"/>
          </a:xfrm>
          <a:prstGeom prst="roundRect">
            <a:avLst>
              <a:gd name="adj" fmla="val 1600"/>
            </a:avLst>
          </a:prstGeom>
          <a:solidFill>
            <a:srgbClr val="FFFFFF"/>
          </a:solidFill>
          <a:ln w="14288">
            <a:solidFill>
              <a:srgbClr val="2B3C59"/>
            </a:solidFill>
            <a:prstDash val="solid"/>
          </a:ln>
        </p:spPr>
      </p:sp>
      <p:pic>
        <p:nvPicPr>
          <p:cNvPr id="19" name="Picture 18"/>
          <p:cNvPicPr>
            <a:picLocks noChangeAspect="1"/>
          </p:cNvPicPr>
          <p:nvPr/>
        </p:nvPicPr>
        <p:blipFill>
          <a:blip r:embed="rId3"/>
          <a:stretch/>
        </p:blipFill>
        <p:spPr>
          <a:xfrm>
            <a:off x="5791017" y="1428750"/>
            <a:ext cx="5705841" cy="4238625"/>
          </a:xfrm>
          <a:prstGeom prst="rect">
            <a:avLst/>
          </a:prstGeom>
        </p:spPr>
      </p:pic>
      <p:sp>
        <p:nvSpPr>
          <p:cNvPr id="8" name="footer-rule-11">
            <a:extLst>
              <a:ext uri="{FF2B5EF4-FFF2-40B4-BE49-F238E27FC236}">
                <a16:creationId xmlns:a16="http://schemas.microsoft.com/office/drawing/2014/main" id="{5F4D2D87-CB84-47FB-90C6-DBC69779CA48}"/>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9" name="footer-label-11">
            <a:extLst>
              <a:ext uri="{FF2B5EF4-FFF2-40B4-BE49-F238E27FC236}">
                <a16:creationId xmlns:a16="http://schemas.microsoft.com/office/drawing/2014/main" id="{E85EC065-870B-4042-A314-5466B502783E}"/>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0" name="footer-page-11">
            <a:extLst>
              <a:ext uri="{FF2B5EF4-FFF2-40B4-BE49-F238E27FC236}">
                <a16:creationId xmlns:a16="http://schemas.microsoft.com/office/drawing/2014/main" id="{4A152817-0825-4EF5-A382-23F50DD12997}"/>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11</a:t>
            </a:r>
          </a:p>
        </p:txBody>
      </p:sp>
    </p:spTree>
    <p:extLst>
      <p:ext uri="{BB962C8B-B14F-4D97-AF65-F5344CB8AC3E}">
        <p14:creationId xmlns:p14="http://schemas.microsoft.com/office/powerpoint/2010/main" val="269756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7" name="title-10">
            <a:extLst>
              <a:ext uri="{FF2B5EF4-FFF2-40B4-BE49-F238E27FC236}">
                <a16:creationId xmlns:a16="http://schemas.microsoft.com/office/drawing/2014/main" id="{CA72F320-1163-4A71-AE3E-37C3C92C4679}"/>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Result IV — Collapse is present before optimization</a:t>
            </a:r>
          </a:p>
        </p:txBody>
      </p:sp>
      <p:sp>
        <p:nvSpPr>
          <p:cNvPr id="2" name="accent-10">
            <a:extLst>
              <a:ext uri="{FF2B5EF4-FFF2-40B4-BE49-F238E27FC236}">
                <a16:creationId xmlns:a16="http://schemas.microsoft.com/office/drawing/2014/main" id="{07A6986B-591F-4B88-930E-1B5671F0990C}"/>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10-chart-frame">
            <a:extLst>
              <a:ext uri="{FF2B5EF4-FFF2-40B4-BE49-F238E27FC236}">
                <a16:creationId xmlns:a16="http://schemas.microsoft.com/office/drawing/2014/main" id="{42488836-0BE1-4DC1-854E-0A87AB358823}"/>
              </a:ext>
            </a:extLst>
          </p:cNvPr>
          <p:cNvSpPr>
            <a:spLocks noGrp="1"/>
          </p:cNvSpPr>
          <p:nvPr/>
        </p:nvSpPr>
        <p:spPr>
          <a:xfrm>
            <a:off x="390525" y="1219200"/>
            <a:ext cx="5715000" cy="4762500"/>
          </a:xfrm>
          <a:prstGeom prst="roundRect">
            <a:avLst>
              <a:gd name="adj" fmla="val 1600"/>
            </a:avLst>
          </a:prstGeom>
          <a:solidFill>
            <a:srgbClr val="FFFFFF"/>
          </a:solidFill>
          <a:ln w="14288">
            <a:solidFill>
              <a:srgbClr val="2B3C59"/>
            </a:solidFill>
            <a:prstDash val="solid"/>
          </a:ln>
        </p:spPr>
      </p:sp>
      <p:pic>
        <p:nvPicPr>
          <p:cNvPr id="22" name="Picture 21"/>
          <p:cNvPicPr>
            <a:picLocks noChangeAspect="1"/>
          </p:cNvPicPr>
          <p:nvPr/>
        </p:nvPicPr>
        <p:blipFill>
          <a:blip r:embed="rId3"/>
          <a:stretch/>
        </p:blipFill>
        <p:spPr>
          <a:xfrm>
            <a:off x="552450" y="1540873"/>
            <a:ext cx="5391150" cy="4004854"/>
          </a:xfrm>
          <a:prstGeom prst="rect">
            <a:avLst/>
          </a:prstGeom>
        </p:spPr>
      </p:pic>
      <p:sp>
        <p:nvSpPr>
          <p:cNvPr id="5" name="s10-panel-0">
            <a:extLst>
              <a:ext uri="{FF2B5EF4-FFF2-40B4-BE49-F238E27FC236}">
                <a16:creationId xmlns:a16="http://schemas.microsoft.com/office/drawing/2014/main" id="{B9C10A0C-829F-43A0-B886-9F8F9C46A351}"/>
              </a:ext>
            </a:extLst>
          </p:cNvPr>
          <p:cNvSpPr>
            <a:spLocks noGrp="1"/>
          </p:cNvSpPr>
          <p:nvPr/>
        </p:nvSpPr>
        <p:spPr>
          <a:xfrm>
            <a:off x="6477000" y="1219200"/>
            <a:ext cx="5324475" cy="1381125"/>
          </a:xfrm>
          <a:prstGeom prst="roundRect">
            <a:avLst>
              <a:gd name="adj" fmla="val 5517"/>
            </a:avLst>
          </a:prstGeom>
          <a:solidFill>
            <a:srgbClr val="13243B"/>
          </a:solidFill>
          <a:ln w="11906">
            <a:solidFill>
              <a:srgbClr val="38BDF8"/>
            </a:solidFill>
            <a:prstDash val="solid"/>
          </a:ln>
        </p:spPr>
      </p:sp>
      <p:sp>
        <p:nvSpPr>
          <p:cNvPr id="6" name="s10-title-0">
            <a:extLst>
              <a:ext uri="{FF2B5EF4-FFF2-40B4-BE49-F238E27FC236}">
                <a16:creationId xmlns:a16="http://schemas.microsoft.com/office/drawing/2014/main" id="{4FD1ED87-AECB-45EE-AE2E-DE02D51C42FC}"/>
              </a:ext>
            </a:extLst>
          </p:cNvPr>
          <p:cNvSpPr>
            <a:spLocks noGrp="1"/>
          </p:cNvSpPr>
          <p:nvPr/>
        </p:nvSpPr>
        <p:spPr>
          <a:xfrm>
            <a:off x="6762750" y="142875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3D8DFF"/>
                </a:solidFill>
                <a:latin typeface="Arial"/>
                <a:ea typeface="Arial"/>
                <a:cs typeface="Arial"/>
              </a:defRPr>
            </a:pPr>
            <a:r>
              <a:rPr sz="1575" b="1">
                <a:solidFill>
                  <a:srgbClr val="38BDF8"/>
                </a:solidFill>
                <a:latin typeface="Arial"/>
                <a:ea typeface="Arial"/>
                <a:cs typeface="Arial"/>
              </a:rPr>
              <a:t>Epoch 0: propagation effect</a:t>
            </a:r>
          </a:p>
        </p:txBody>
      </p:sp>
      <p:sp>
        <p:nvSpPr>
          <p:cNvPr id="7" name="s10-body-0">
            <a:extLst>
              <a:ext uri="{FF2B5EF4-FFF2-40B4-BE49-F238E27FC236}">
                <a16:creationId xmlns:a16="http://schemas.microsoft.com/office/drawing/2014/main" id="{38EC7D32-C87E-49D9-8438-6505469C8BB8}"/>
              </a:ext>
            </a:extLst>
          </p:cNvPr>
          <p:cNvSpPr>
            <a:spLocks noGrp="1"/>
          </p:cNvSpPr>
          <p:nvPr/>
        </p:nvSpPr>
        <p:spPr>
          <a:xfrm>
            <a:off x="6762750" y="1847850"/>
            <a:ext cx="4762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Before learning, GCN and GAT exhibit depth-dependent loss of both direction and magnitude.</a:t>
            </a:r>
          </a:p>
        </p:txBody>
      </p:sp>
      <p:sp>
        <p:nvSpPr>
          <p:cNvPr id="8" name="s10-panel-1">
            <a:extLst>
              <a:ext uri="{FF2B5EF4-FFF2-40B4-BE49-F238E27FC236}">
                <a16:creationId xmlns:a16="http://schemas.microsoft.com/office/drawing/2014/main" id="{94FE0AEF-B78F-44B4-A9C1-96DB9EE6DD08}"/>
              </a:ext>
            </a:extLst>
          </p:cNvPr>
          <p:cNvSpPr>
            <a:spLocks noGrp="1"/>
          </p:cNvSpPr>
          <p:nvPr/>
        </p:nvSpPr>
        <p:spPr>
          <a:xfrm>
            <a:off x="6477000" y="2895600"/>
            <a:ext cx="5324475" cy="1381125"/>
          </a:xfrm>
          <a:prstGeom prst="roundRect">
            <a:avLst>
              <a:gd name="adj" fmla="val 5517"/>
            </a:avLst>
          </a:prstGeom>
          <a:solidFill>
            <a:srgbClr val="1A2038"/>
          </a:solidFill>
          <a:ln w="11906">
            <a:solidFill>
              <a:srgbClr val="9B87F5"/>
            </a:solidFill>
            <a:prstDash val="solid"/>
          </a:ln>
        </p:spPr>
      </p:sp>
      <p:sp>
        <p:nvSpPr>
          <p:cNvPr id="9" name="s10-title-1">
            <a:extLst>
              <a:ext uri="{FF2B5EF4-FFF2-40B4-BE49-F238E27FC236}">
                <a16:creationId xmlns:a16="http://schemas.microsoft.com/office/drawing/2014/main" id="{9A8ECAB0-7886-4C00-972E-37C54BF3087D}"/>
              </a:ext>
            </a:extLst>
          </p:cNvPr>
          <p:cNvSpPr>
            <a:spLocks noGrp="1"/>
          </p:cNvSpPr>
          <p:nvPr/>
        </p:nvSpPr>
        <p:spPr>
          <a:xfrm>
            <a:off x="6762750" y="310515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111111"/>
                </a:solidFill>
                <a:latin typeface="Arial"/>
                <a:ea typeface="Arial"/>
                <a:cs typeface="Arial"/>
              </a:defRPr>
            </a:pPr>
            <a:r>
              <a:rPr sz="1575" b="1">
                <a:solidFill>
                  <a:srgbClr val="9B87F5"/>
                </a:solidFill>
                <a:latin typeface="Arial"/>
                <a:ea typeface="Arial"/>
                <a:cs typeface="Arial"/>
              </a:rPr>
              <a:t>GraphSAGE: metric disagreement</a:t>
            </a:r>
          </a:p>
        </p:txBody>
      </p:sp>
      <p:sp>
        <p:nvSpPr>
          <p:cNvPr id="10" name="s10-body-1">
            <a:extLst>
              <a:ext uri="{FF2B5EF4-FFF2-40B4-BE49-F238E27FC236}">
                <a16:creationId xmlns:a16="http://schemas.microsoft.com/office/drawing/2014/main" id="{DC9A1495-6FEF-44A1-94AD-D4E119F2C5D6}"/>
              </a:ext>
            </a:extLst>
          </p:cNvPr>
          <p:cNvSpPr>
            <a:spLocks noGrp="1"/>
          </p:cNvSpPr>
          <p:nvPr/>
        </p:nvSpPr>
        <p:spPr>
          <a:xfrm>
            <a:off x="6762750" y="3524250"/>
            <a:ext cx="4762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MAD collapses while energy remains non-vanishing, indicating directional rather than complete collapse.</a:t>
            </a:r>
          </a:p>
        </p:txBody>
      </p:sp>
      <p:sp>
        <p:nvSpPr>
          <p:cNvPr id="11" name="s10-panel-2">
            <a:extLst>
              <a:ext uri="{FF2B5EF4-FFF2-40B4-BE49-F238E27FC236}">
                <a16:creationId xmlns:a16="http://schemas.microsoft.com/office/drawing/2014/main" id="{2CA6593A-BAE6-4C2D-B5E1-E469660EC06C}"/>
              </a:ext>
            </a:extLst>
          </p:cNvPr>
          <p:cNvSpPr>
            <a:spLocks noGrp="1"/>
          </p:cNvSpPr>
          <p:nvPr/>
        </p:nvSpPr>
        <p:spPr>
          <a:xfrm>
            <a:off x="6477000" y="4572000"/>
            <a:ext cx="5324475" cy="1381125"/>
          </a:xfrm>
          <a:prstGeom prst="roundRect">
            <a:avLst>
              <a:gd name="adj" fmla="val 5517"/>
            </a:avLst>
          </a:prstGeom>
          <a:solidFill>
            <a:srgbClr val="13243B"/>
          </a:solidFill>
          <a:ln w="11906">
            <a:solidFill>
              <a:srgbClr val="F4C15D"/>
            </a:solidFill>
            <a:prstDash val="solid"/>
          </a:ln>
        </p:spPr>
      </p:sp>
      <p:sp>
        <p:nvSpPr>
          <p:cNvPr id="12" name="s10-title-2">
            <a:extLst>
              <a:ext uri="{FF2B5EF4-FFF2-40B4-BE49-F238E27FC236}">
                <a16:creationId xmlns:a16="http://schemas.microsoft.com/office/drawing/2014/main" id="{CFA278D9-61D0-4ABD-B7A6-34B444160FB5}"/>
              </a:ext>
            </a:extLst>
          </p:cNvPr>
          <p:cNvSpPr>
            <a:spLocks noGrp="1"/>
          </p:cNvSpPr>
          <p:nvPr/>
        </p:nvSpPr>
        <p:spPr>
          <a:xfrm>
            <a:off x="6762750" y="478155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111111"/>
                </a:solidFill>
                <a:latin typeface="Arial"/>
                <a:ea typeface="Arial"/>
                <a:cs typeface="Arial"/>
              </a:defRPr>
            </a:pPr>
            <a:r>
              <a:rPr sz="1575" b="1">
                <a:solidFill>
                  <a:srgbClr val="F4C15D"/>
                </a:solidFill>
                <a:latin typeface="Arial"/>
                <a:ea typeface="Arial"/>
                <a:cs typeface="Arial"/>
              </a:rPr>
              <a:t>Optimization changes the state</a:t>
            </a:r>
          </a:p>
        </p:txBody>
      </p:sp>
      <p:sp>
        <p:nvSpPr>
          <p:cNvPr id="13" name="s10-body-2">
            <a:extLst>
              <a:ext uri="{FF2B5EF4-FFF2-40B4-BE49-F238E27FC236}">
                <a16:creationId xmlns:a16="http://schemas.microsoft.com/office/drawing/2014/main" id="{07FFF978-59AD-4D5D-A032-EE392081F0E5}"/>
              </a:ext>
            </a:extLst>
          </p:cNvPr>
          <p:cNvSpPr>
            <a:spLocks noGrp="1"/>
          </p:cNvSpPr>
          <p:nvPr/>
        </p:nvSpPr>
        <p:spPr>
          <a:xfrm>
            <a:off x="6762750" y="5200650"/>
            <a:ext cx="4762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5F6368"/>
                </a:solidFill>
                <a:latin typeface="Arial"/>
                <a:ea typeface="Arial"/>
                <a:cs typeface="Arial"/>
              </a:defRPr>
            </a:pPr>
            <a:r>
              <a:rPr sz="1275" b="0">
                <a:solidFill>
                  <a:srgbClr val="D6E0ED"/>
                </a:solidFill>
                <a:latin typeface="Arial"/>
                <a:ea typeface="Arial"/>
                <a:cs typeface="Arial"/>
              </a:rPr>
              <a:t>Checkpoint and final captures show recovery of variation or unstable late-layer amplification.</a:t>
            </a:r>
          </a:p>
        </p:txBody>
      </p:sp>
      <p:sp>
        <p:nvSpPr>
          <p:cNvPr id="14" name="footer-rule-10">
            <a:extLst>
              <a:ext uri="{FF2B5EF4-FFF2-40B4-BE49-F238E27FC236}">
                <a16:creationId xmlns:a16="http://schemas.microsoft.com/office/drawing/2014/main" id="{137813F9-DD4E-4D7E-AD6C-9D58BD25AC2B}"/>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5" name="footer-label-10">
            <a:extLst>
              <a:ext uri="{FF2B5EF4-FFF2-40B4-BE49-F238E27FC236}">
                <a16:creationId xmlns:a16="http://schemas.microsoft.com/office/drawing/2014/main" id="{40EEBB9C-1C93-4198-BD07-A60149EB96DB}"/>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6" name="footer-page-10">
            <a:extLst>
              <a:ext uri="{FF2B5EF4-FFF2-40B4-BE49-F238E27FC236}">
                <a16:creationId xmlns:a16="http://schemas.microsoft.com/office/drawing/2014/main" id="{1B671B89-7411-42E8-8102-21500188E97E}"/>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12</a:t>
            </a:r>
          </a:p>
        </p:txBody>
      </p:sp>
    </p:spTree>
    <p:extLst>
      <p:ext uri="{BB962C8B-B14F-4D97-AF65-F5344CB8AC3E}">
        <p14:creationId xmlns:p14="http://schemas.microsoft.com/office/powerpoint/2010/main" val="1432514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0" name="title-9">
            <a:extLst>
              <a:ext uri="{FF2B5EF4-FFF2-40B4-BE49-F238E27FC236}">
                <a16:creationId xmlns:a16="http://schemas.microsoft.com/office/drawing/2014/main" id="{87DB01A0-E30E-440F-8EB6-498521625045}"/>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Result V — Why GraphSAGE’s two metrics disagree</a:t>
            </a:r>
          </a:p>
        </p:txBody>
      </p:sp>
      <p:sp>
        <p:nvSpPr>
          <p:cNvPr id="2" name="accent-9">
            <a:extLst>
              <a:ext uri="{FF2B5EF4-FFF2-40B4-BE49-F238E27FC236}">
                <a16:creationId xmlns:a16="http://schemas.microsoft.com/office/drawing/2014/main" id="{C5F33333-E63A-48D8-9AC6-439D79ADF9DC}"/>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C-left-title">
            <a:extLst>
              <a:ext uri="{FF2B5EF4-FFF2-40B4-BE49-F238E27FC236}">
                <a16:creationId xmlns:a16="http://schemas.microsoft.com/office/drawing/2014/main" id="{1779E983-B9D0-482B-9B93-334097E7A943}"/>
              </a:ext>
            </a:extLst>
          </p:cNvPr>
          <p:cNvSpPr>
            <a:spLocks noGrp="1"/>
          </p:cNvSpPr>
          <p:nvPr/>
        </p:nvSpPr>
        <p:spPr>
          <a:xfrm>
            <a:off x="390525" y="1571625"/>
            <a:ext cx="47625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11111"/>
                </a:solidFill>
                <a:latin typeface="Arial"/>
                <a:ea typeface="Arial"/>
                <a:cs typeface="Arial"/>
              </a:defRPr>
            </a:pPr>
            <a:r>
              <a:rPr sz="2175" b="1">
                <a:solidFill>
                  <a:srgbClr val="38BDF8"/>
                </a:solidFill>
                <a:latin typeface="Arial"/>
                <a:ea typeface="Arial"/>
                <a:cs typeface="Arial"/>
              </a:rPr>
              <a:t>Collapse onto a direction outside the null space</a:t>
            </a:r>
          </a:p>
        </p:txBody>
      </p:sp>
      <p:sp>
        <p:nvSpPr>
          <p:cNvPr id="4" name="sC-left-body">
            <a:extLst>
              <a:ext uri="{FF2B5EF4-FFF2-40B4-BE49-F238E27FC236}">
                <a16:creationId xmlns:a16="http://schemas.microsoft.com/office/drawing/2014/main" id="{880A59A4-A17A-47E2-B4AF-F1394C8999C2}"/>
              </a:ext>
            </a:extLst>
          </p:cNvPr>
          <p:cNvSpPr>
            <a:spLocks noGrp="1"/>
          </p:cNvSpPr>
          <p:nvPr/>
        </p:nvSpPr>
        <p:spPr>
          <a:xfrm>
            <a:off x="390525" y="2238375"/>
            <a:ext cx="4762500" cy="2857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At depth 16 GraphSAGE’s representation is exactly rank-1: the top singular value carries an energy fraction of 1.0000.</a:t>
            </a:r>
          </a:p>
          <a:p>
            <a:endParaRPr sz="1575" b="0">
              <a:solidFill>
                <a:srgbClr val="D6E0ED"/>
              </a:solidFill>
              <a:latin typeface="Arial"/>
              <a:ea typeface="Arial"/>
              <a:cs typeface="Arial"/>
            </a:endParaRPr>
          </a:p>
          <a:p>
            <a:pPr algn="l">
              <a:buNone/>
              <a:defRPr sz="1650" b="0">
                <a:solidFill>
                  <a:srgbClr val="5F6368"/>
                </a:solidFill>
                <a:latin typeface="Arial"/>
                <a:ea typeface="Arial"/>
                <a:cs typeface="Arial"/>
              </a:defRPr>
            </a:pPr>
            <a:r>
              <a:rPr sz="1575" b="0">
                <a:solidFill>
                  <a:srgbClr val="D6E0ED"/>
                </a:solidFill>
                <a:latin typeface="Arial"/>
                <a:ea typeface="Arial"/>
                <a:cs typeface="Arial"/>
              </a:rPr>
              <a:t>Its top singular vector matches the constant direction at cosine 1.0000, against 0.9512 to the √degree direction.</a:t>
            </a:r>
          </a:p>
          <a:p>
            <a:endParaRPr sz="1575" b="0">
              <a:solidFill>
                <a:srgbClr val="D6E0ED"/>
              </a:solidFill>
              <a:latin typeface="Arial"/>
              <a:ea typeface="Arial"/>
              <a:cs typeface="Arial"/>
            </a:endParaRPr>
          </a:p>
          <a:p>
            <a:pPr algn="l">
              <a:buNone/>
              <a:defRPr sz="1650" b="0">
                <a:solidFill>
                  <a:srgbClr val="5F6368"/>
                </a:solidFill>
                <a:latin typeface="Arial"/>
                <a:ea typeface="Arial"/>
                <a:cs typeface="Arial"/>
              </a:defRPr>
            </a:pPr>
            <a:r>
              <a:rPr sz="1575" b="0">
                <a:solidFill>
                  <a:srgbClr val="D6E0ED"/>
                </a:solidFill>
                <a:latin typeface="Arial"/>
                <a:ea typeface="Arial"/>
                <a:cs typeface="Arial"/>
              </a:rPr>
              <a:t>Cora’s degrees run 2–169, so the augmented Laplacian’s null space is √degree, not the constant vector. Energy cannot vanish however completely MAD collapses.</a:t>
            </a:r>
          </a:p>
        </p:txBody>
      </p:sp>
      <p:sp>
        <p:nvSpPr>
          <p:cNvPr id="5" name="sC-chart-frame">
            <a:extLst>
              <a:ext uri="{FF2B5EF4-FFF2-40B4-BE49-F238E27FC236}">
                <a16:creationId xmlns:a16="http://schemas.microsoft.com/office/drawing/2014/main" id="{327F52F5-A5FC-4E03-B30C-0BA3967FB2EC}"/>
              </a:ext>
            </a:extLst>
          </p:cNvPr>
          <p:cNvSpPr>
            <a:spLocks noGrp="1"/>
          </p:cNvSpPr>
          <p:nvPr/>
        </p:nvSpPr>
        <p:spPr>
          <a:xfrm>
            <a:off x="5905500" y="1219200"/>
            <a:ext cx="5895975" cy="4762500"/>
          </a:xfrm>
          <a:prstGeom prst="roundRect">
            <a:avLst>
              <a:gd name="adj" fmla="val 1600"/>
            </a:avLst>
          </a:prstGeom>
          <a:solidFill>
            <a:srgbClr val="FFFFFF"/>
          </a:solidFill>
          <a:ln w="14288">
            <a:solidFill>
              <a:srgbClr val="2B3C59"/>
            </a:solidFill>
            <a:prstDash val="solid"/>
          </a:ln>
        </p:spPr>
      </p:sp>
      <p:pic>
        <p:nvPicPr>
          <p:cNvPr id="17" name="Picture 16"/>
          <p:cNvPicPr>
            <a:picLocks noChangeAspect="1"/>
          </p:cNvPicPr>
          <p:nvPr/>
        </p:nvPicPr>
        <p:blipFill>
          <a:blip r:embed="rId3"/>
          <a:stretch/>
        </p:blipFill>
        <p:spPr>
          <a:xfrm>
            <a:off x="6143625" y="1531484"/>
            <a:ext cx="5429250" cy="4033157"/>
          </a:xfrm>
          <a:prstGeom prst="rect">
            <a:avLst/>
          </a:prstGeom>
        </p:spPr>
      </p:pic>
      <p:sp>
        <p:nvSpPr>
          <p:cNvPr id="7" name="footer-rule-9">
            <a:extLst>
              <a:ext uri="{FF2B5EF4-FFF2-40B4-BE49-F238E27FC236}">
                <a16:creationId xmlns:a16="http://schemas.microsoft.com/office/drawing/2014/main" id="{5AE57040-FC5B-4BAC-980C-D5F89ABEE351}"/>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8" name="footer-label-9">
            <a:extLst>
              <a:ext uri="{FF2B5EF4-FFF2-40B4-BE49-F238E27FC236}">
                <a16:creationId xmlns:a16="http://schemas.microsoft.com/office/drawing/2014/main" id="{8E44BE69-64EC-47A1-AF02-D3ABFD39642C}"/>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9" name="footer-page-9">
            <a:extLst>
              <a:ext uri="{FF2B5EF4-FFF2-40B4-BE49-F238E27FC236}">
                <a16:creationId xmlns:a16="http://schemas.microsoft.com/office/drawing/2014/main" id="{C5BC1A18-232A-43CD-9C02-5B4712A2C12C}"/>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13</a:t>
            </a:r>
          </a:p>
        </p:txBody>
      </p:sp>
    </p:spTree>
    <p:extLst>
      <p:ext uri="{BB962C8B-B14F-4D97-AF65-F5344CB8AC3E}">
        <p14:creationId xmlns:p14="http://schemas.microsoft.com/office/powerpoint/2010/main" val="170138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1" name="title-11">
            <a:extLst>
              <a:ext uri="{FF2B5EF4-FFF2-40B4-BE49-F238E27FC236}">
                <a16:creationId xmlns:a16="http://schemas.microsoft.com/office/drawing/2014/main" id="{B3F3AE30-3EC3-47BE-8774-3C7EFF58A1E7}"/>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850" b="1">
                <a:solidFill>
                  <a:srgbClr val="F8FAFC"/>
                </a:solidFill>
                <a:latin typeface="Arial"/>
                <a:ea typeface="Arial"/>
                <a:cs typeface="Arial"/>
              </a:rPr>
              <a:t>Result VI — Deep GCN contracts, then amplifies</a:t>
            </a:r>
          </a:p>
        </p:txBody>
      </p:sp>
      <p:sp>
        <p:nvSpPr>
          <p:cNvPr id="2" name="accent-11">
            <a:extLst>
              <a:ext uri="{FF2B5EF4-FFF2-40B4-BE49-F238E27FC236}">
                <a16:creationId xmlns:a16="http://schemas.microsoft.com/office/drawing/2014/main" id="{0478468C-5363-4D45-A543-159EF2921ABE}"/>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11-stat">
            <a:extLst>
              <a:ext uri="{FF2B5EF4-FFF2-40B4-BE49-F238E27FC236}">
                <a16:creationId xmlns:a16="http://schemas.microsoft.com/office/drawing/2014/main" id="{5297E5E5-F441-4AE5-90D0-33EE82BF4A24}"/>
              </a:ext>
            </a:extLst>
          </p:cNvPr>
          <p:cNvSpPr>
            <a:spLocks noGrp="1"/>
          </p:cNvSpPr>
          <p:nvPr/>
        </p:nvSpPr>
        <p:spPr>
          <a:xfrm>
            <a:off x="390525" y="1809750"/>
            <a:ext cx="3429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4350" b="1">
                <a:solidFill>
                  <a:srgbClr val="3D8DFF"/>
                </a:solidFill>
                <a:latin typeface="Arial"/>
                <a:ea typeface="Arial"/>
                <a:cs typeface="Arial"/>
              </a:defRPr>
            </a:pPr>
            <a:r>
              <a:rPr sz="4500" b="1">
                <a:solidFill>
                  <a:srgbClr val="38BDF8"/>
                </a:solidFill>
                <a:latin typeface="Arial"/>
                <a:ea typeface="Arial"/>
                <a:cs typeface="Arial"/>
              </a:rPr>
              <a:t>9 / 10</a:t>
            </a:r>
          </a:p>
        </p:txBody>
      </p:sp>
      <p:sp>
        <p:nvSpPr>
          <p:cNvPr id="4" name="s11-label">
            <a:extLst>
              <a:ext uri="{FF2B5EF4-FFF2-40B4-BE49-F238E27FC236}">
                <a16:creationId xmlns:a16="http://schemas.microsoft.com/office/drawing/2014/main" id="{8F26577A-2923-4393-9D6C-3583DDFF3A63}"/>
              </a:ext>
            </a:extLst>
          </p:cNvPr>
          <p:cNvSpPr>
            <a:spLocks noGrp="1"/>
          </p:cNvSpPr>
          <p:nvPr/>
        </p:nvSpPr>
        <p:spPr>
          <a:xfrm>
            <a:off x="390525" y="2933700"/>
            <a:ext cx="4476750" cy="8096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111111"/>
                </a:solidFill>
                <a:latin typeface="Arial"/>
                <a:ea typeface="Arial"/>
                <a:cs typeface="Arial"/>
              </a:defRPr>
            </a:pPr>
            <a:r>
              <a:rPr sz="1725" b="1">
                <a:solidFill>
                  <a:srgbClr val="F8FAFC"/>
                </a:solidFill>
                <a:latin typeface="Arial"/>
                <a:ea typeface="Arial"/>
                <a:cs typeface="Arial"/>
              </a:rPr>
              <a:t>seeds exhibit early-band energy collapse</a:t>
            </a:r>
          </a:p>
          <a:p>
            <a:pPr algn="l">
              <a:buNone/>
              <a:defRPr sz="1800" b="1">
                <a:solidFill>
                  <a:srgbClr val="111111"/>
                </a:solidFill>
                <a:latin typeface="Arial"/>
                <a:ea typeface="Arial"/>
                <a:cs typeface="Arial"/>
              </a:defRPr>
            </a:pPr>
            <a:r>
              <a:rPr sz="1725" b="1">
                <a:solidFill>
                  <a:srgbClr val="F8FAFC"/>
                </a:solidFill>
                <a:latin typeface="Arial"/>
                <a:ea typeface="Arial"/>
                <a:cs typeface="Arial"/>
              </a:rPr>
              <a:t>at the selected checkpoint</a:t>
            </a:r>
          </a:p>
        </p:txBody>
      </p:sp>
      <p:sp>
        <p:nvSpPr>
          <p:cNvPr id="5" name="s11-body">
            <a:extLst>
              <a:ext uri="{FF2B5EF4-FFF2-40B4-BE49-F238E27FC236}">
                <a16:creationId xmlns:a16="http://schemas.microsoft.com/office/drawing/2014/main" id="{2714E20E-9B6E-4B0C-9783-A23F2845B908}"/>
              </a:ext>
            </a:extLst>
          </p:cNvPr>
          <p:cNvSpPr>
            <a:spLocks noGrp="1"/>
          </p:cNvSpPr>
          <p:nvPr/>
        </p:nvSpPr>
        <p:spPr>
          <a:xfrm>
            <a:off x="390525" y="4095750"/>
            <a:ext cx="4762500" cy="1524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5F6368"/>
                </a:solidFill>
                <a:latin typeface="Arial"/>
                <a:ea typeface="Arial"/>
                <a:cs typeface="Arial"/>
              </a:defRPr>
            </a:pPr>
            <a:r>
              <a:rPr sz="1500" b="0">
                <a:solidFill>
                  <a:srgbClr val="D6E0ED"/>
                </a:solidFill>
                <a:latin typeface="Arial"/>
                <a:ea typeface="Arial"/>
                <a:cs typeface="Arial"/>
              </a:rPr>
              <a:t>For L = 32, normalized energy contracts across most hidden layers, then increases by many orders of magnitude near the output.</a:t>
            </a:r>
          </a:p>
          <a:p>
            <a:endParaRPr sz="1500" b="0">
              <a:solidFill>
                <a:srgbClr val="D6E0ED"/>
              </a:solidFill>
              <a:latin typeface="Arial"/>
              <a:ea typeface="Arial"/>
              <a:cs typeface="Arial"/>
            </a:endParaRPr>
          </a:p>
          <a:p>
            <a:pPr algn="l">
              <a:buNone/>
              <a:defRPr sz="1575" b="0">
                <a:solidFill>
                  <a:srgbClr val="5F6368"/>
                </a:solidFill>
                <a:latin typeface="Arial"/>
                <a:ea typeface="Arial"/>
                <a:cs typeface="Arial"/>
              </a:defRPr>
            </a:pPr>
            <a:r>
              <a:rPr sz="1500" b="0">
                <a:solidFill>
                  <a:srgbClr val="D6E0ED"/>
                </a:solidFill>
                <a:latin typeface="Arial"/>
                <a:ea typeface="Arial"/>
                <a:cs typeface="Arial"/>
              </a:rPr>
              <a:t>The pattern is reproducible; its parameter-level cause is not identified by this study.</a:t>
            </a:r>
          </a:p>
        </p:txBody>
      </p:sp>
      <p:sp>
        <p:nvSpPr>
          <p:cNvPr id="6" name="s11-chart-frame">
            <a:extLst>
              <a:ext uri="{FF2B5EF4-FFF2-40B4-BE49-F238E27FC236}">
                <a16:creationId xmlns:a16="http://schemas.microsoft.com/office/drawing/2014/main" id="{CB731F2F-9FF1-41EE-AC58-543B443E31CB}"/>
              </a:ext>
            </a:extLst>
          </p:cNvPr>
          <p:cNvSpPr>
            <a:spLocks noGrp="1"/>
          </p:cNvSpPr>
          <p:nvPr/>
        </p:nvSpPr>
        <p:spPr>
          <a:xfrm>
            <a:off x="5476875" y="1219200"/>
            <a:ext cx="6324600" cy="4762500"/>
          </a:xfrm>
          <a:prstGeom prst="roundRect">
            <a:avLst>
              <a:gd name="adj" fmla="val 1600"/>
            </a:avLst>
          </a:prstGeom>
          <a:solidFill>
            <a:srgbClr val="FFFFFF"/>
          </a:solidFill>
          <a:ln w="14288">
            <a:solidFill>
              <a:srgbClr val="2B3C59"/>
            </a:solidFill>
            <a:prstDash val="solid"/>
          </a:ln>
        </p:spPr>
      </p:sp>
      <p:pic>
        <p:nvPicPr>
          <p:cNvPr id="19" name="Picture 18"/>
          <p:cNvPicPr>
            <a:picLocks noChangeAspect="1"/>
          </p:cNvPicPr>
          <p:nvPr/>
        </p:nvPicPr>
        <p:blipFill>
          <a:blip r:embed="rId3"/>
          <a:stretch/>
        </p:blipFill>
        <p:spPr>
          <a:xfrm>
            <a:off x="5791017" y="1428750"/>
            <a:ext cx="5705841" cy="4238625"/>
          </a:xfrm>
          <a:prstGeom prst="rect">
            <a:avLst/>
          </a:prstGeom>
        </p:spPr>
      </p:pic>
      <p:sp>
        <p:nvSpPr>
          <p:cNvPr id="8" name="footer-rule-11">
            <a:extLst>
              <a:ext uri="{FF2B5EF4-FFF2-40B4-BE49-F238E27FC236}">
                <a16:creationId xmlns:a16="http://schemas.microsoft.com/office/drawing/2014/main" id="{5F4D2D87-CB84-47FB-90C6-DBC69779CA48}"/>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9" name="footer-label-11">
            <a:extLst>
              <a:ext uri="{FF2B5EF4-FFF2-40B4-BE49-F238E27FC236}">
                <a16:creationId xmlns:a16="http://schemas.microsoft.com/office/drawing/2014/main" id="{E85EC065-870B-4042-A314-5466B502783E}"/>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0" name="footer-page-11">
            <a:extLst>
              <a:ext uri="{FF2B5EF4-FFF2-40B4-BE49-F238E27FC236}">
                <a16:creationId xmlns:a16="http://schemas.microsoft.com/office/drawing/2014/main" id="{4A152817-0825-4EF5-A382-23F50DD12997}"/>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14</a:t>
            </a:r>
          </a:p>
        </p:txBody>
      </p:sp>
    </p:spTree>
    <p:extLst>
      <p:ext uri="{BB962C8B-B14F-4D97-AF65-F5344CB8AC3E}">
        <p14:creationId xmlns:p14="http://schemas.microsoft.com/office/powerpoint/2010/main" val="269756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8" name="title-12">
            <a:extLst>
              <a:ext uri="{FF2B5EF4-FFF2-40B4-BE49-F238E27FC236}">
                <a16:creationId xmlns:a16="http://schemas.microsoft.com/office/drawing/2014/main" id="{9DA71D76-2CD5-41D7-9283-CC4EEB197ABD}"/>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Intervention study — Jumping Knowledge gives the largest recovery</a:t>
            </a:r>
          </a:p>
        </p:txBody>
      </p:sp>
      <p:sp>
        <p:nvSpPr>
          <p:cNvPr id="2" name="accent-12">
            <a:extLst>
              <a:ext uri="{FF2B5EF4-FFF2-40B4-BE49-F238E27FC236}">
                <a16:creationId xmlns:a16="http://schemas.microsoft.com/office/drawing/2014/main" id="{A01256F0-1F07-48ED-8941-98F45F84B122}"/>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12-chart-frame">
            <a:extLst>
              <a:ext uri="{FF2B5EF4-FFF2-40B4-BE49-F238E27FC236}">
                <a16:creationId xmlns:a16="http://schemas.microsoft.com/office/drawing/2014/main" id="{5D916AED-5A8A-4180-BD5C-CD925D6C6965}"/>
              </a:ext>
            </a:extLst>
          </p:cNvPr>
          <p:cNvSpPr>
            <a:spLocks noGrp="1"/>
          </p:cNvSpPr>
          <p:nvPr/>
        </p:nvSpPr>
        <p:spPr>
          <a:xfrm>
            <a:off x="390525" y="1219200"/>
            <a:ext cx="5715000" cy="4762500"/>
          </a:xfrm>
          <a:prstGeom prst="roundRect">
            <a:avLst>
              <a:gd name="adj" fmla="val 1600"/>
            </a:avLst>
          </a:prstGeom>
          <a:solidFill>
            <a:srgbClr val="FFFFFF"/>
          </a:solidFill>
          <a:ln w="14288">
            <a:solidFill>
              <a:srgbClr val="2B3C59"/>
            </a:solidFill>
            <a:prstDash val="solid"/>
          </a:ln>
        </p:spPr>
      </p:sp>
      <p:pic>
        <p:nvPicPr>
          <p:cNvPr id="23" name="Picture 22"/>
          <p:cNvPicPr>
            <a:picLocks noChangeAspect="1"/>
          </p:cNvPicPr>
          <p:nvPr/>
        </p:nvPicPr>
        <p:blipFill>
          <a:blip r:embed="rId3"/>
          <a:stretch/>
        </p:blipFill>
        <p:spPr>
          <a:xfrm>
            <a:off x="552450" y="1540873"/>
            <a:ext cx="5391150" cy="4004854"/>
          </a:xfrm>
          <a:prstGeom prst="rect">
            <a:avLst/>
          </a:prstGeom>
        </p:spPr>
      </p:pic>
      <p:sp>
        <p:nvSpPr>
          <p:cNvPr id="5" name="s12-panel-0">
            <a:extLst>
              <a:ext uri="{FF2B5EF4-FFF2-40B4-BE49-F238E27FC236}">
                <a16:creationId xmlns:a16="http://schemas.microsoft.com/office/drawing/2014/main" id="{5D0BFA81-662F-45A7-9DDB-53D963CE2C5D}"/>
              </a:ext>
            </a:extLst>
          </p:cNvPr>
          <p:cNvSpPr>
            <a:spLocks noGrp="1"/>
          </p:cNvSpPr>
          <p:nvPr/>
        </p:nvSpPr>
        <p:spPr>
          <a:xfrm>
            <a:off x="6477000" y="1219200"/>
            <a:ext cx="5324475" cy="1381125"/>
          </a:xfrm>
          <a:prstGeom prst="roundRect">
            <a:avLst>
              <a:gd name="adj" fmla="val 5517"/>
            </a:avLst>
          </a:prstGeom>
          <a:solidFill>
            <a:srgbClr val="102D46"/>
          </a:solidFill>
          <a:ln w="16193">
            <a:solidFill>
              <a:srgbClr val="38BDF8"/>
            </a:solidFill>
            <a:prstDash val="solid"/>
          </a:ln>
        </p:spPr>
      </p:sp>
      <p:sp>
        <p:nvSpPr>
          <p:cNvPr id="6" name="s12-stat-0">
            <a:extLst>
              <a:ext uri="{FF2B5EF4-FFF2-40B4-BE49-F238E27FC236}">
                <a16:creationId xmlns:a16="http://schemas.microsoft.com/office/drawing/2014/main" id="{3342E3F4-1D61-4B1A-9F79-9BE613BA8DC7}"/>
              </a:ext>
            </a:extLst>
          </p:cNvPr>
          <p:cNvSpPr>
            <a:spLocks noGrp="1"/>
          </p:cNvSpPr>
          <p:nvPr/>
        </p:nvSpPr>
        <p:spPr>
          <a:xfrm>
            <a:off x="6762750" y="14097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3D8DFF"/>
                </a:solidFill>
                <a:latin typeface="Arial"/>
                <a:ea typeface="Arial"/>
                <a:cs typeface="Arial"/>
              </a:defRPr>
            </a:pPr>
            <a:r>
              <a:rPr sz="3000" b="1">
                <a:solidFill>
                  <a:srgbClr val="38BDF8"/>
                </a:solidFill>
                <a:latin typeface="Arial"/>
                <a:ea typeface="Arial"/>
                <a:cs typeface="Arial"/>
              </a:rPr>
              <a:t>73.13%</a:t>
            </a:r>
          </a:p>
        </p:txBody>
      </p:sp>
      <p:sp>
        <p:nvSpPr>
          <p:cNvPr id="7" name="s12-label-0">
            <a:extLst>
              <a:ext uri="{FF2B5EF4-FFF2-40B4-BE49-F238E27FC236}">
                <a16:creationId xmlns:a16="http://schemas.microsoft.com/office/drawing/2014/main" id="{9AC6DB6B-9595-4755-AFF7-E6946C6E753F}"/>
              </a:ext>
            </a:extLst>
          </p:cNvPr>
          <p:cNvSpPr>
            <a:spLocks noGrp="1"/>
          </p:cNvSpPr>
          <p:nvPr/>
        </p:nvSpPr>
        <p:spPr>
          <a:xfrm>
            <a:off x="9048750" y="15430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Jumping Knowledge · L = 32</a:t>
            </a:r>
          </a:p>
        </p:txBody>
      </p:sp>
      <p:sp>
        <p:nvSpPr>
          <p:cNvPr id="8" name="s12-win">
            <a:extLst>
              <a:ext uri="{FF2B5EF4-FFF2-40B4-BE49-F238E27FC236}">
                <a16:creationId xmlns:a16="http://schemas.microsoft.com/office/drawing/2014/main" id="{A2963CF7-93F0-424A-8091-B0AEFAB6741F}"/>
              </a:ext>
            </a:extLst>
          </p:cNvPr>
          <p:cNvSpPr>
            <a:spLocks noGrp="1"/>
          </p:cNvSpPr>
          <p:nvPr/>
        </p:nvSpPr>
        <p:spPr>
          <a:xfrm>
            <a:off x="6762750" y="209550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3D8DFF"/>
                </a:solidFill>
                <a:latin typeface="Arial"/>
                <a:ea typeface="Arial"/>
                <a:cs typeface="Arial"/>
              </a:defRPr>
            </a:pPr>
            <a:r>
              <a:rPr sz="1200" b="1">
                <a:solidFill>
                  <a:srgbClr val="38BDF8"/>
                </a:solidFill>
                <a:latin typeface="Arial"/>
                <a:ea typeface="Arial"/>
                <a:cs typeface="Arial"/>
              </a:rPr>
              <a:t>highest tested mean accuracy at L = 32</a:t>
            </a:r>
          </a:p>
        </p:txBody>
      </p:sp>
      <p:sp>
        <p:nvSpPr>
          <p:cNvPr id="9" name="s12-panel-1">
            <a:extLst>
              <a:ext uri="{FF2B5EF4-FFF2-40B4-BE49-F238E27FC236}">
                <a16:creationId xmlns:a16="http://schemas.microsoft.com/office/drawing/2014/main" id="{1ACBF6A6-FCA4-4016-A9BD-76CE8FC8BE54}"/>
              </a:ext>
            </a:extLst>
          </p:cNvPr>
          <p:cNvSpPr>
            <a:spLocks noGrp="1"/>
          </p:cNvSpPr>
          <p:nvPr/>
        </p:nvSpPr>
        <p:spPr>
          <a:xfrm>
            <a:off x="6477000" y="2895600"/>
            <a:ext cx="5324475" cy="1381125"/>
          </a:xfrm>
          <a:prstGeom prst="roundRect">
            <a:avLst>
              <a:gd name="adj" fmla="val 5517"/>
            </a:avLst>
          </a:prstGeom>
          <a:solidFill>
            <a:srgbClr val="13243B"/>
          </a:solidFill>
          <a:ln w="11906">
            <a:solidFill>
              <a:srgbClr val="9B87F5"/>
            </a:solidFill>
            <a:prstDash val="solid"/>
          </a:ln>
        </p:spPr>
      </p:sp>
      <p:sp>
        <p:nvSpPr>
          <p:cNvPr id="10" name="s12-stat-1">
            <a:extLst>
              <a:ext uri="{FF2B5EF4-FFF2-40B4-BE49-F238E27FC236}">
                <a16:creationId xmlns:a16="http://schemas.microsoft.com/office/drawing/2014/main" id="{9AEAE7D2-A43A-484E-A555-04C5207F6801}"/>
              </a:ext>
            </a:extLst>
          </p:cNvPr>
          <p:cNvSpPr>
            <a:spLocks noGrp="1"/>
          </p:cNvSpPr>
          <p:nvPr/>
        </p:nvSpPr>
        <p:spPr>
          <a:xfrm>
            <a:off x="6762750" y="30861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111111"/>
                </a:solidFill>
                <a:latin typeface="Arial"/>
                <a:ea typeface="Arial"/>
                <a:cs typeface="Arial"/>
              </a:defRPr>
            </a:pPr>
            <a:r>
              <a:rPr sz="3000" b="1">
                <a:solidFill>
                  <a:srgbClr val="9B87F5"/>
                </a:solidFill>
                <a:latin typeface="Arial"/>
                <a:ea typeface="Arial"/>
                <a:cs typeface="Arial"/>
              </a:rPr>
              <a:t>58.07%</a:t>
            </a:r>
          </a:p>
        </p:txBody>
      </p:sp>
      <p:sp>
        <p:nvSpPr>
          <p:cNvPr id="11" name="s12-label-1">
            <a:extLst>
              <a:ext uri="{FF2B5EF4-FFF2-40B4-BE49-F238E27FC236}">
                <a16:creationId xmlns:a16="http://schemas.microsoft.com/office/drawing/2014/main" id="{29B14939-8764-4278-8E9E-B083C69D3566}"/>
              </a:ext>
            </a:extLst>
          </p:cNvPr>
          <p:cNvSpPr>
            <a:spLocks noGrp="1"/>
          </p:cNvSpPr>
          <p:nvPr/>
        </p:nvSpPr>
        <p:spPr>
          <a:xfrm>
            <a:off x="9048750" y="32194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PairNorm · L = 32</a:t>
            </a:r>
          </a:p>
        </p:txBody>
      </p:sp>
      <p:sp>
        <p:nvSpPr>
          <p:cNvPr id="12" name="s12-panel-2">
            <a:extLst>
              <a:ext uri="{FF2B5EF4-FFF2-40B4-BE49-F238E27FC236}">
                <a16:creationId xmlns:a16="http://schemas.microsoft.com/office/drawing/2014/main" id="{82E971F3-CCD3-40ED-B2C0-3916129CA463}"/>
              </a:ext>
            </a:extLst>
          </p:cNvPr>
          <p:cNvSpPr>
            <a:spLocks noGrp="1"/>
          </p:cNvSpPr>
          <p:nvPr/>
        </p:nvSpPr>
        <p:spPr>
          <a:xfrm>
            <a:off x="6477000" y="4572000"/>
            <a:ext cx="5324475" cy="1381125"/>
          </a:xfrm>
          <a:prstGeom prst="roundRect">
            <a:avLst>
              <a:gd name="adj" fmla="val 5517"/>
            </a:avLst>
          </a:prstGeom>
          <a:solidFill>
            <a:srgbClr val="13243B"/>
          </a:solidFill>
          <a:ln w="11906">
            <a:solidFill>
              <a:srgbClr val="F4C15D"/>
            </a:solidFill>
            <a:prstDash val="solid"/>
          </a:ln>
        </p:spPr>
      </p:sp>
      <p:sp>
        <p:nvSpPr>
          <p:cNvPr id="13" name="s12-stat-2">
            <a:extLst>
              <a:ext uri="{FF2B5EF4-FFF2-40B4-BE49-F238E27FC236}">
                <a16:creationId xmlns:a16="http://schemas.microsoft.com/office/drawing/2014/main" id="{94F80BAC-A360-4CE7-94B0-1697339EF65C}"/>
              </a:ext>
            </a:extLst>
          </p:cNvPr>
          <p:cNvSpPr>
            <a:spLocks noGrp="1"/>
          </p:cNvSpPr>
          <p:nvPr/>
        </p:nvSpPr>
        <p:spPr>
          <a:xfrm>
            <a:off x="6762750" y="47625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111111"/>
                </a:solidFill>
                <a:latin typeface="Arial"/>
                <a:ea typeface="Arial"/>
                <a:cs typeface="Arial"/>
              </a:defRPr>
            </a:pPr>
            <a:r>
              <a:rPr sz="3000" b="1">
                <a:solidFill>
                  <a:srgbClr val="F4C15D"/>
                </a:solidFill>
                <a:latin typeface="Arial"/>
                <a:ea typeface="Arial"/>
                <a:cs typeface="Arial"/>
              </a:rPr>
              <a:t>19.25%</a:t>
            </a:r>
          </a:p>
        </p:txBody>
      </p:sp>
      <p:sp>
        <p:nvSpPr>
          <p:cNvPr id="14" name="s12-label-2">
            <a:extLst>
              <a:ext uri="{FF2B5EF4-FFF2-40B4-BE49-F238E27FC236}">
                <a16:creationId xmlns:a16="http://schemas.microsoft.com/office/drawing/2014/main" id="{A3C755AB-9654-4D9D-BA59-FE7E23BB9068}"/>
              </a:ext>
            </a:extLst>
          </p:cNvPr>
          <p:cNvSpPr>
            <a:spLocks noGrp="1"/>
          </p:cNvSpPr>
          <p:nvPr/>
        </p:nvSpPr>
        <p:spPr>
          <a:xfrm>
            <a:off x="9048750" y="48958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Residual only · L = 32</a:t>
            </a:r>
          </a:p>
        </p:txBody>
      </p:sp>
      <p:sp>
        <p:nvSpPr>
          <p:cNvPr id="15" name="footer-rule-12">
            <a:extLst>
              <a:ext uri="{FF2B5EF4-FFF2-40B4-BE49-F238E27FC236}">
                <a16:creationId xmlns:a16="http://schemas.microsoft.com/office/drawing/2014/main" id="{4C17A744-7019-49A7-BFB7-03528B0F770D}"/>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6" name="footer-label-12">
            <a:extLst>
              <a:ext uri="{FF2B5EF4-FFF2-40B4-BE49-F238E27FC236}">
                <a16:creationId xmlns:a16="http://schemas.microsoft.com/office/drawing/2014/main" id="{39CA8573-2E0C-4F50-9C37-659E7334F5B4}"/>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7" name="footer-page-12">
            <a:extLst>
              <a:ext uri="{FF2B5EF4-FFF2-40B4-BE49-F238E27FC236}">
                <a16:creationId xmlns:a16="http://schemas.microsoft.com/office/drawing/2014/main" id="{8E46B01D-53AF-4D7B-BADC-C5D2CAC0DEAA}"/>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15</a:t>
            </a:r>
          </a:p>
        </p:txBody>
      </p:sp>
    </p:spTree>
    <p:extLst>
      <p:ext uri="{BB962C8B-B14F-4D97-AF65-F5344CB8AC3E}">
        <p14:creationId xmlns:p14="http://schemas.microsoft.com/office/powerpoint/2010/main" val="24975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8" name="title-12">
            <a:extLst>
              <a:ext uri="{FF2B5EF4-FFF2-40B4-BE49-F238E27FC236}">
                <a16:creationId xmlns:a16="http://schemas.microsoft.com/office/drawing/2014/main" id="{9DA71D76-2CD5-41D7-9283-CC4EEB197ABD}"/>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700" b="1">
                <a:solidFill>
                  <a:srgbClr val="F8FAFC"/>
                </a:solidFill>
                <a:latin typeface="Arial"/>
                <a:ea typeface="Arial"/>
                <a:cs typeface="Arial"/>
              </a:rPr>
              <a:t>Intervention transfer — the winning mitigation is architecture-dependent</a:t>
            </a:r>
          </a:p>
        </p:txBody>
      </p:sp>
      <p:sp>
        <p:nvSpPr>
          <p:cNvPr id="2" name="accent-12">
            <a:extLst>
              <a:ext uri="{FF2B5EF4-FFF2-40B4-BE49-F238E27FC236}">
                <a16:creationId xmlns:a16="http://schemas.microsoft.com/office/drawing/2014/main" id="{A01256F0-1F07-48ED-8941-98F45F84B122}"/>
              </a:ext>
            </a:extLst>
          </p:cNvPr>
          <p:cNvSpPr>
            <a:spLocks noGrp="1"/>
          </p:cNvSpPr>
          <p:nvPr/>
        </p:nvSpPr>
        <p:spPr>
          <a:xfrm>
            <a:off x="476250" y="1057275"/>
            <a:ext cx="1200150" cy="47625"/>
          </a:xfrm>
          <a:prstGeom prst="rect">
            <a:avLst/>
          </a:prstGeom>
          <a:solidFill>
            <a:srgbClr val="38BDF8"/>
          </a:solidFill>
          <a:ln w="0">
            <a:solidFill>
              <a:srgbClr val="000000">
                <a:alpha val="0"/>
              </a:srgbClr>
            </a:solidFill>
            <a:prstDash val="solid"/>
          </a:ln>
        </p:spPr>
      </p:sp>
      <p:sp>
        <p:nvSpPr>
          <p:cNvPr id="3" name="sD-chart-frame">
            <a:extLst>
              <a:ext uri="{FF2B5EF4-FFF2-40B4-BE49-F238E27FC236}">
                <a16:creationId xmlns:a16="http://schemas.microsoft.com/office/drawing/2014/main" id="{5D916AED-5A8A-4180-BD5C-CD925D6C6965}"/>
              </a:ext>
            </a:extLst>
          </p:cNvPr>
          <p:cNvSpPr>
            <a:spLocks noGrp="1"/>
          </p:cNvSpPr>
          <p:nvPr/>
        </p:nvSpPr>
        <p:spPr>
          <a:xfrm>
            <a:off x="390525" y="1219200"/>
            <a:ext cx="5715000" cy="4762500"/>
          </a:xfrm>
          <a:prstGeom prst="roundRect">
            <a:avLst>
              <a:gd name="adj" fmla="val 1600"/>
            </a:avLst>
          </a:prstGeom>
          <a:solidFill>
            <a:srgbClr val="FFFFFF"/>
          </a:solidFill>
          <a:ln w="14288">
            <a:solidFill>
              <a:srgbClr val="2B3C59"/>
            </a:solidFill>
            <a:prstDash val="solid"/>
          </a:ln>
        </p:spPr>
      </p:sp>
      <p:pic>
        <p:nvPicPr>
          <p:cNvPr id="23" name="Picture 22"/>
          <p:cNvPicPr>
            <a:picLocks noChangeAspect="1"/>
          </p:cNvPicPr>
          <p:nvPr/>
        </p:nvPicPr>
        <p:blipFill>
          <a:blip r:embed="rId3"/>
          <a:stretch/>
        </p:blipFill>
        <p:spPr>
          <a:xfrm>
            <a:off x="552450" y="1540873"/>
            <a:ext cx="5391150" cy="4004854"/>
          </a:xfrm>
          <a:prstGeom prst="rect">
            <a:avLst/>
          </a:prstGeom>
        </p:spPr>
      </p:pic>
      <p:sp>
        <p:nvSpPr>
          <p:cNvPr id="5" name="sD-panel-0">
            <a:extLst>
              <a:ext uri="{FF2B5EF4-FFF2-40B4-BE49-F238E27FC236}">
                <a16:creationId xmlns:a16="http://schemas.microsoft.com/office/drawing/2014/main" id="{5D0BFA81-662F-45A7-9DDB-53D963CE2C5D}"/>
              </a:ext>
            </a:extLst>
          </p:cNvPr>
          <p:cNvSpPr>
            <a:spLocks noGrp="1"/>
          </p:cNvSpPr>
          <p:nvPr/>
        </p:nvSpPr>
        <p:spPr>
          <a:xfrm>
            <a:off x="6477000" y="1219200"/>
            <a:ext cx="5324475" cy="1381125"/>
          </a:xfrm>
          <a:prstGeom prst="roundRect">
            <a:avLst>
              <a:gd name="adj" fmla="val 5517"/>
            </a:avLst>
          </a:prstGeom>
          <a:solidFill>
            <a:srgbClr val="102D46"/>
          </a:solidFill>
          <a:ln w="16193">
            <a:solidFill>
              <a:srgbClr val="38BDF8"/>
            </a:solidFill>
            <a:prstDash val="solid"/>
          </a:ln>
        </p:spPr>
      </p:sp>
      <p:sp>
        <p:nvSpPr>
          <p:cNvPr id="6" name="sD-stat-0">
            <a:extLst>
              <a:ext uri="{FF2B5EF4-FFF2-40B4-BE49-F238E27FC236}">
                <a16:creationId xmlns:a16="http://schemas.microsoft.com/office/drawing/2014/main" id="{3342E3F4-1D61-4B1A-9F79-9BE613BA8DC7}"/>
              </a:ext>
            </a:extLst>
          </p:cNvPr>
          <p:cNvSpPr>
            <a:spLocks noGrp="1"/>
          </p:cNvSpPr>
          <p:nvPr/>
        </p:nvSpPr>
        <p:spPr>
          <a:xfrm>
            <a:off x="6762750" y="14097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3D8DFF"/>
                </a:solidFill>
                <a:latin typeface="Arial"/>
                <a:ea typeface="Arial"/>
                <a:cs typeface="Arial"/>
              </a:defRPr>
            </a:pPr>
            <a:r>
              <a:rPr sz="3000" b="1">
                <a:solidFill>
                  <a:srgbClr val="38BDF8"/>
                </a:solidFill>
                <a:latin typeface="Arial"/>
                <a:ea typeface="Arial"/>
                <a:cs typeface="Arial"/>
              </a:rPr>
              <a:t>73.13%</a:t>
            </a:r>
          </a:p>
        </p:txBody>
      </p:sp>
      <p:sp>
        <p:nvSpPr>
          <p:cNvPr id="7" name="sD-label-0">
            <a:extLst>
              <a:ext uri="{FF2B5EF4-FFF2-40B4-BE49-F238E27FC236}">
                <a16:creationId xmlns:a16="http://schemas.microsoft.com/office/drawing/2014/main" id="{9AC6DB6B-9595-4755-AFF7-E6946C6E753F}"/>
              </a:ext>
            </a:extLst>
          </p:cNvPr>
          <p:cNvSpPr>
            <a:spLocks noGrp="1"/>
          </p:cNvSpPr>
          <p:nvPr/>
        </p:nvSpPr>
        <p:spPr>
          <a:xfrm>
            <a:off x="9048750" y="15430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GCN + JK · macro-F1 0.7249</a:t>
            </a:r>
          </a:p>
        </p:txBody>
      </p:sp>
      <p:sp>
        <p:nvSpPr>
          <p:cNvPr id="8" name="sD-win">
            <a:extLst>
              <a:ext uri="{FF2B5EF4-FFF2-40B4-BE49-F238E27FC236}">
                <a16:creationId xmlns:a16="http://schemas.microsoft.com/office/drawing/2014/main" id="{A2963CF7-93F0-424A-8091-B0AEFAB6741F}"/>
              </a:ext>
            </a:extLst>
          </p:cNvPr>
          <p:cNvSpPr>
            <a:spLocks noGrp="1"/>
          </p:cNvSpPr>
          <p:nvPr/>
        </p:nvSpPr>
        <p:spPr>
          <a:xfrm>
            <a:off x="6762750" y="209550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3D8DFF"/>
                </a:solidFill>
                <a:latin typeface="Arial"/>
                <a:ea typeface="Arial"/>
                <a:cs typeface="Arial"/>
              </a:defRPr>
            </a:pPr>
            <a:r>
              <a:rPr sz="1200" b="1">
                <a:solidFill>
                  <a:srgbClr val="38BDF8"/>
                </a:solidFill>
                <a:latin typeface="Arial"/>
                <a:ea typeface="Arial"/>
                <a:cs typeface="Arial"/>
              </a:rPr>
              <a:t>JK transfers to GAT, not to GraphSAGE</a:t>
            </a:r>
          </a:p>
        </p:txBody>
      </p:sp>
      <p:sp>
        <p:nvSpPr>
          <p:cNvPr id="9" name="sD-panel-1">
            <a:extLst>
              <a:ext uri="{FF2B5EF4-FFF2-40B4-BE49-F238E27FC236}">
                <a16:creationId xmlns:a16="http://schemas.microsoft.com/office/drawing/2014/main" id="{1ACBF6A6-FCA4-4016-A9BD-76CE8FC8BE54}"/>
              </a:ext>
            </a:extLst>
          </p:cNvPr>
          <p:cNvSpPr>
            <a:spLocks noGrp="1"/>
          </p:cNvSpPr>
          <p:nvPr/>
        </p:nvSpPr>
        <p:spPr>
          <a:xfrm>
            <a:off x="6477000" y="2895600"/>
            <a:ext cx="5324475" cy="1381125"/>
          </a:xfrm>
          <a:prstGeom prst="roundRect">
            <a:avLst>
              <a:gd name="adj" fmla="val 5517"/>
            </a:avLst>
          </a:prstGeom>
          <a:solidFill>
            <a:srgbClr val="13243B"/>
          </a:solidFill>
          <a:ln w="11906">
            <a:solidFill>
              <a:srgbClr val="9B87F5"/>
            </a:solidFill>
            <a:prstDash val="solid"/>
          </a:ln>
        </p:spPr>
      </p:sp>
      <p:sp>
        <p:nvSpPr>
          <p:cNvPr id="10" name="sD-stat-1">
            <a:extLst>
              <a:ext uri="{FF2B5EF4-FFF2-40B4-BE49-F238E27FC236}">
                <a16:creationId xmlns:a16="http://schemas.microsoft.com/office/drawing/2014/main" id="{9AEAE7D2-A43A-484E-A555-04C5207F6801}"/>
              </a:ext>
            </a:extLst>
          </p:cNvPr>
          <p:cNvSpPr>
            <a:spLocks noGrp="1"/>
          </p:cNvSpPr>
          <p:nvPr/>
        </p:nvSpPr>
        <p:spPr>
          <a:xfrm>
            <a:off x="6762750" y="30861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111111"/>
                </a:solidFill>
                <a:latin typeface="Arial"/>
                <a:ea typeface="Arial"/>
                <a:cs typeface="Arial"/>
              </a:defRPr>
            </a:pPr>
            <a:r>
              <a:rPr sz="3000" b="1">
                <a:solidFill>
                  <a:srgbClr val="9B87F5"/>
                </a:solidFill>
                <a:latin typeface="Arial"/>
                <a:ea typeface="Arial"/>
                <a:cs typeface="Arial"/>
              </a:rPr>
              <a:t>72.09%</a:t>
            </a:r>
          </a:p>
        </p:txBody>
      </p:sp>
      <p:sp>
        <p:nvSpPr>
          <p:cNvPr id="11" name="sD-label-1">
            <a:extLst>
              <a:ext uri="{FF2B5EF4-FFF2-40B4-BE49-F238E27FC236}">
                <a16:creationId xmlns:a16="http://schemas.microsoft.com/office/drawing/2014/main" id="{29B14939-8764-4278-8E9E-B083C69D3566}"/>
              </a:ext>
            </a:extLst>
          </p:cNvPr>
          <p:cNvSpPr>
            <a:spLocks noGrp="1"/>
          </p:cNvSpPr>
          <p:nvPr/>
        </p:nvSpPr>
        <p:spPr>
          <a:xfrm>
            <a:off x="9048750" y="32194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GAT + JK · macro-F1 0.7252</a:t>
            </a:r>
          </a:p>
        </p:txBody>
      </p:sp>
      <p:sp>
        <p:nvSpPr>
          <p:cNvPr id="12" name="sD-panel-2">
            <a:extLst>
              <a:ext uri="{FF2B5EF4-FFF2-40B4-BE49-F238E27FC236}">
                <a16:creationId xmlns:a16="http://schemas.microsoft.com/office/drawing/2014/main" id="{82E971F3-CCD3-40ED-B2C0-3916129CA463}"/>
              </a:ext>
            </a:extLst>
          </p:cNvPr>
          <p:cNvSpPr>
            <a:spLocks noGrp="1"/>
          </p:cNvSpPr>
          <p:nvPr/>
        </p:nvSpPr>
        <p:spPr>
          <a:xfrm>
            <a:off x="6477000" y="4572000"/>
            <a:ext cx="5324475" cy="1381125"/>
          </a:xfrm>
          <a:prstGeom prst="roundRect">
            <a:avLst>
              <a:gd name="adj" fmla="val 5517"/>
            </a:avLst>
          </a:prstGeom>
          <a:solidFill>
            <a:srgbClr val="13243B"/>
          </a:solidFill>
          <a:ln w="11906">
            <a:solidFill>
              <a:srgbClr val="F4C15D"/>
            </a:solidFill>
            <a:prstDash val="solid"/>
          </a:ln>
        </p:spPr>
      </p:sp>
      <p:sp>
        <p:nvSpPr>
          <p:cNvPr id="13" name="sD-stat-2">
            <a:extLst>
              <a:ext uri="{FF2B5EF4-FFF2-40B4-BE49-F238E27FC236}">
                <a16:creationId xmlns:a16="http://schemas.microsoft.com/office/drawing/2014/main" id="{94F80BAC-A360-4CE7-94B0-1697339EF65C}"/>
              </a:ext>
            </a:extLst>
          </p:cNvPr>
          <p:cNvSpPr>
            <a:spLocks noGrp="1"/>
          </p:cNvSpPr>
          <p:nvPr/>
        </p:nvSpPr>
        <p:spPr>
          <a:xfrm>
            <a:off x="6762750" y="4762500"/>
            <a:ext cx="209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111111"/>
                </a:solidFill>
                <a:latin typeface="Arial"/>
                <a:ea typeface="Arial"/>
                <a:cs typeface="Arial"/>
              </a:defRPr>
            </a:pPr>
            <a:r>
              <a:rPr sz="3000" b="1">
                <a:solidFill>
                  <a:srgbClr val="F4C15D"/>
                </a:solidFill>
                <a:latin typeface="Arial"/>
                <a:ea typeface="Arial"/>
                <a:cs typeface="Arial"/>
              </a:rPr>
              <a:t>40.47%</a:t>
            </a:r>
          </a:p>
        </p:txBody>
      </p:sp>
      <p:sp>
        <p:nvSpPr>
          <p:cNvPr id="14" name="sD-label-2">
            <a:extLst>
              <a:ext uri="{FF2B5EF4-FFF2-40B4-BE49-F238E27FC236}">
                <a16:creationId xmlns:a16="http://schemas.microsoft.com/office/drawing/2014/main" id="{A3C755AB-9654-4D9D-BA59-FE7E23BB9068}"/>
              </a:ext>
            </a:extLst>
          </p:cNvPr>
          <p:cNvSpPr>
            <a:spLocks noGrp="1"/>
          </p:cNvSpPr>
          <p:nvPr/>
        </p:nvSpPr>
        <p:spPr>
          <a:xfrm>
            <a:off x="9048750" y="4895850"/>
            <a:ext cx="2333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425" b="0">
                <a:solidFill>
                  <a:srgbClr val="5F6368"/>
                </a:solidFill>
                <a:latin typeface="Arial"/>
                <a:ea typeface="Arial"/>
                <a:cs typeface="Arial"/>
              </a:defRPr>
            </a:pPr>
            <a:r>
              <a:rPr sz="1350" b="0">
                <a:solidFill>
                  <a:srgbClr val="D6E0ED"/>
                </a:solidFill>
                <a:latin typeface="Arial"/>
                <a:ea typeface="Arial"/>
                <a:cs typeface="Arial"/>
              </a:rPr>
              <a:t>GraphSAGE + JK · macro-F1 0.2611</a:t>
            </a:r>
          </a:p>
        </p:txBody>
      </p:sp>
      <p:sp>
        <p:nvSpPr>
          <p:cNvPr id="15" name="footer-rule-12">
            <a:extLst>
              <a:ext uri="{FF2B5EF4-FFF2-40B4-BE49-F238E27FC236}">
                <a16:creationId xmlns:a16="http://schemas.microsoft.com/office/drawing/2014/main" id="{4C17A744-7019-49A7-BFB7-03528B0F770D}"/>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6" name="footer-label-12">
            <a:extLst>
              <a:ext uri="{FF2B5EF4-FFF2-40B4-BE49-F238E27FC236}">
                <a16:creationId xmlns:a16="http://schemas.microsoft.com/office/drawing/2014/main" id="{39CA8573-2E0C-4F50-9C37-659E7334F5B4}"/>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a:solidFill>
                  <a:srgbClr val="94A3B8"/>
                </a:solidFill>
                <a:latin typeface="Arial"/>
                <a:ea typeface="Arial"/>
                <a:cs typeface="Arial"/>
              </a:rPr>
              <a:t>CSE 705 · CORA GNN STUDY</a:t>
            </a:r>
          </a:p>
        </p:txBody>
      </p:sp>
      <p:sp>
        <p:nvSpPr>
          <p:cNvPr id="17" name="footer-page-12">
            <a:extLst>
              <a:ext uri="{FF2B5EF4-FFF2-40B4-BE49-F238E27FC236}">
                <a16:creationId xmlns:a16="http://schemas.microsoft.com/office/drawing/2014/main" id="{8E46B01D-53AF-4D7B-BADC-C5D2CAC0DEAA}"/>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38BDF8"/>
                </a:solidFill>
                <a:latin typeface="Arial"/>
                <a:ea typeface="Arial"/>
                <a:cs typeface="Arial"/>
              </a:rPr>
              <a:t>16</a:t>
            </a:r>
          </a:p>
        </p:txBody>
      </p:sp>
    </p:spTree>
    <p:extLst>
      <p:ext uri="{BB962C8B-B14F-4D97-AF65-F5344CB8AC3E}">
        <p14:creationId xmlns:p14="http://schemas.microsoft.com/office/powerpoint/2010/main" val="24975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17" name="title-13">
            <a:extLst>
              <a:ext uri="{FF2B5EF4-FFF2-40B4-BE49-F238E27FC236}">
                <a16:creationId xmlns:a16="http://schemas.microsoft.com/office/drawing/2014/main" id="{BF81E232-A6E4-486F-ADE9-8D7ED71B535A}"/>
              </a:ext>
            </a:extLst>
          </p:cNvPr>
          <p:cNvSpPr>
            <a:spLocks noGrp="1"/>
          </p:cNvSpPr>
          <p:nvPr/>
        </p:nvSpPr>
        <p:spPr>
          <a:xfrm>
            <a:off x="476250" y="247650"/>
            <a:ext cx="112395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3000" b="1">
                <a:solidFill>
                  <a:srgbClr val="111111"/>
                </a:solidFill>
                <a:latin typeface="Arial"/>
                <a:ea typeface="Arial"/>
                <a:cs typeface="Arial"/>
              </a:defRPr>
            </a:pPr>
            <a:r>
              <a:rPr sz="2625" b="1">
                <a:solidFill>
                  <a:srgbClr val="F8FAFC"/>
                </a:solidFill>
                <a:latin typeface="Arial"/>
                <a:ea typeface="Arial"/>
                <a:cs typeface="Arial"/>
              </a:rPr>
              <a:t>Mechanistic interpretation — GCNII preserves the initial signal</a:t>
            </a:r>
          </a:p>
        </p:txBody>
      </p:sp>
      <p:sp>
        <p:nvSpPr>
          <p:cNvPr id="2" name="accent-13">
            <a:extLst>
              <a:ext uri="{FF2B5EF4-FFF2-40B4-BE49-F238E27FC236}">
                <a16:creationId xmlns:a16="http://schemas.microsoft.com/office/drawing/2014/main" id="{C14185CC-ED0B-4FDB-A3AB-C172B072743C}"/>
              </a:ext>
            </a:extLst>
          </p:cNvPr>
          <p:cNvSpPr>
            <a:spLocks noGrp="1"/>
          </p:cNvSpPr>
          <p:nvPr/>
        </p:nvSpPr>
        <p:spPr>
          <a:xfrm>
            <a:off x="476250" y="1057275"/>
            <a:ext cx="1200150" cy="47625"/>
          </a:xfrm>
          <a:prstGeom prst="rect">
            <a:avLst/>
          </a:prstGeom>
          <a:solidFill>
            <a:srgbClr val="9B87F5"/>
          </a:solidFill>
          <a:ln w="0">
            <a:solidFill>
              <a:srgbClr val="000000">
                <a:alpha val="0"/>
              </a:srgbClr>
            </a:solidFill>
            <a:prstDash val="solid"/>
          </a:ln>
        </p:spPr>
      </p:sp>
      <p:sp>
        <p:nvSpPr>
          <p:cNvPr id="3" name="s13-context">
            <a:extLst>
              <a:ext uri="{FF2B5EF4-FFF2-40B4-BE49-F238E27FC236}">
                <a16:creationId xmlns:a16="http://schemas.microsoft.com/office/drawing/2014/main" id="{88F86B9D-25F6-476F-BBE8-AE6089A71365}"/>
              </a:ext>
            </a:extLst>
          </p:cNvPr>
          <p:cNvSpPr>
            <a:spLocks noGrp="1"/>
          </p:cNvSpPr>
          <p:nvPr/>
        </p:nvSpPr>
        <p:spPr>
          <a:xfrm>
            <a:off x="390525" y="1333500"/>
            <a:ext cx="11410950" cy="523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0">
                <a:solidFill>
                  <a:srgbClr val="5F6368"/>
                </a:solidFill>
                <a:latin typeface="Arial"/>
                <a:ea typeface="Arial"/>
                <a:cs typeface="Arial"/>
              </a:defRPr>
            </a:pPr>
            <a:r>
              <a:rPr sz="1725" b="0">
                <a:solidFill>
                  <a:srgbClr val="94A3B8"/>
                </a:solidFill>
                <a:latin typeface="Arial"/>
                <a:ea typeface="Arial"/>
                <a:cs typeface="Arial"/>
              </a:rPr>
              <a:t>Initial residuals and identity mapping alter information flow across layers</a:t>
            </a:r>
          </a:p>
        </p:txBody>
      </p:sp>
      <p:sp>
        <p:nvSpPr>
          <p:cNvPr id="4" name="s13-panel-0">
            <a:extLst>
              <a:ext uri="{FF2B5EF4-FFF2-40B4-BE49-F238E27FC236}">
                <a16:creationId xmlns:a16="http://schemas.microsoft.com/office/drawing/2014/main" id="{5545AFEF-694B-4056-9ABE-530510C9CE8D}"/>
              </a:ext>
            </a:extLst>
          </p:cNvPr>
          <p:cNvSpPr>
            <a:spLocks noGrp="1"/>
          </p:cNvSpPr>
          <p:nvPr/>
        </p:nvSpPr>
        <p:spPr>
          <a:xfrm>
            <a:off x="390525" y="2333625"/>
            <a:ext cx="3571875" cy="2952750"/>
          </a:xfrm>
          <a:prstGeom prst="roundRect">
            <a:avLst>
              <a:gd name="adj" fmla="val 2581"/>
            </a:avLst>
          </a:prstGeom>
          <a:solidFill>
            <a:srgbClr val="102D46"/>
          </a:solidFill>
          <a:ln w="15240">
            <a:solidFill>
              <a:srgbClr val="38BDF8"/>
            </a:solidFill>
            <a:prstDash val="solid"/>
          </a:ln>
        </p:spPr>
      </p:sp>
      <p:sp>
        <p:nvSpPr>
          <p:cNvPr id="5" name="s13-stat-0">
            <a:extLst>
              <a:ext uri="{FF2B5EF4-FFF2-40B4-BE49-F238E27FC236}">
                <a16:creationId xmlns:a16="http://schemas.microsoft.com/office/drawing/2014/main" id="{6C16E6DA-0AA5-469C-9104-3D901F7ABB66}"/>
              </a:ext>
            </a:extLst>
          </p:cNvPr>
          <p:cNvSpPr>
            <a:spLocks noGrp="1"/>
          </p:cNvSpPr>
          <p:nvPr/>
        </p:nvSpPr>
        <p:spPr>
          <a:xfrm>
            <a:off x="6953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3D8DFF"/>
                </a:solidFill>
                <a:latin typeface="Arial"/>
                <a:ea typeface="Arial"/>
                <a:cs typeface="Arial"/>
              </a:defRPr>
            </a:pPr>
            <a:r>
              <a:rPr sz="4050" b="1">
                <a:solidFill>
                  <a:srgbClr val="38BDF8"/>
                </a:solidFill>
                <a:latin typeface="Arial"/>
                <a:ea typeface="Arial"/>
                <a:cs typeface="Arial"/>
              </a:rPr>
              <a:t>83.26%</a:t>
            </a:r>
          </a:p>
        </p:txBody>
      </p:sp>
      <p:sp>
        <p:nvSpPr>
          <p:cNvPr id="6" name="s13-label-0">
            <a:extLst>
              <a:ext uri="{FF2B5EF4-FFF2-40B4-BE49-F238E27FC236}">
                <a16:creationId xmlns:a16="http://schemas.microsoft.com/office/drawing/2014/main" id="{D418CB4B-3D14-4A1B-97F6-CFAA4A91AF5A}"/>
              </a:ext>
            </a:extLst>
          </p:cNvPr>
          <p:cNvSpPr>
            <a:spLocks noGrp="1"/>
          </p:cNvSpPr>
          <p:nvPr/>
        </p:nvSpPr>
        <p:spPr>
          <a:xfrm>
            <a:off x="695325" y="4095750"/>
            <a:ext cx="2952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mean test accuracy</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at L = 32</a:t>
            </a:r>
          </a:p>
        </p:txBody>
      </p:sp>
      <p:sp>
        <p:nvSpPr>
          <p:cNvPr id="7" name="s13-panel-1">
            <a:extLst>
              <a:ext uri="{FF2B5EF4-FFF2-40B4-BE49-F238E27FC236}">
                <a16:creationId xmlns:a16="http://schemas.microsoft.com/office/drawing/2014/main" id="{E164A625-86B6-415B-8546-451D696FF36A}"/>
              </a:ext>
            </a:extLst>
          </p:cNvPr>
          <p:cNvSpPr>
            <a:spLocks noGrp="1"/>
          </p:cNvSpPr>
          <p:nvPr/>
        </p:nvSpPr>
        <p:spPr>
          <a:xfrm>
            <a:off x="4314825" y="2333625"/>
            <a:ext cx="3571875" cy="2952750"/>
          </a:xfrm>
          <a:prstGeom prst="roundRect">
            <a:avLst>
              <a:gd name="adj" fmla="val 2581"/>
            </a:avLst>
          </a:prstGeom>
          <a:solidFill>
            <a:srgbClr val="1A2038"/>
          </a:solidFill>
          <a:ln w="15240">
            <a:solidFill>
              <a:srgbClr val="9B87F5"/>
            </a:solidFill>
            <a:prstDash val="solid"/>
          </a:ln>
        </p:spPr>
      </p:sp>
      <p:sp>
        <p:nvSpPr>
          <p:cNvPr id="8" name="s13-stat-1">
            <a:extLst>
              <a:ext uri="{FF2B5EF4-FFF2-40B4-BE49-F238E27FC236}">
                <a16:creationId xmlns:a16="http://schemas.microsoft.com/office/drawing/2014/main" id="{4EC17C0A-09B5-447D-A94B-05D4F2008C17}"/>
              </a:ext>
            </a:extLst>
          </p:cNvPr>
          <p:cNvSpPr>
            <a:spLocks noGrp="1"/>
          </p:cNvSpPr>
          <p:nvPr/>
        </p:nvSpPr>
        <p:spPr>
          <a:xfrm>
            <a:off x="4619625"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050" b="1">
                <a:solidFill>
                  <a:srgbClr val="111111"/>
                </a:solidFill>
                <a:latin typeface="Arial"/>
                <a:ea typeface="Arial"/>
                <a:cs typeface="Arial"/>
              </a:defRPr>
            </a:pPr>
            <a:r>
              <a:rPr sz="4050" b="1">
                <a:solidFill>
                  <a:srgbClr val="9B87F5"/>
                </a:solidFill>
                <a:latin typeface="Arial"/>
                <a:ea typeface="Arial"/>
                <a:cs typeface="Arial"/>
              </a:rPr>
              <a:t>↑</a:t>
            </a:r>
          </a:p>
        </p:txBody>
      </p:sp>
      <p:sp>
        <p:nvSpPr>
          <p:cNvPr id="9" name="s13-label-1">
            <a:extLst>
              <a:ext uri="{FF2B5EF4-FFF2-40B4-BE49-F238E27FC236}">
                <a16:creationId xmlns:a16="http://schemas.microsoft.com/office/drawing/2014/main" id="{5D357B75-FB53-4BDD-AAC0-C91C84591B38}"/>
              </a:ext>
            </a:extLst>
          </p:cNvPr>
          <p:cNvSpPr>
            <a:spLocks noGrp="1"/>
          </p:cNvSpPr>
          <p:nvPr/>
        </p:nvSpPr>
        <p:spPr>
          <a:xfrm>
            <a:off x="4619625" y="4095750"/>
            <a:ext cx="2952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accuracy trend</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across tested depths</a:t>
            </a:r>
          </a:p>
        </p:txBody>
      </p:sp>
      <p:sp>
        <p:nvSpPr>
          <p:cNvPr id="10" name="s13-panel-2">
            <a:extLst>
              <a:ext uri="{FF2B5EF4-FFF2-40B4-BE49-F238E27FC236}">
                <a16:creationId xmlns:a16="http://schemas.microsoft.com/office/drawing/2014/main" id="{2B950B39-68D2-4B2E-A627-E9EEA28396D0}"/>
              </a:ext>
            </a:extLst>
          </p:cNvPr>
          <p:cNvSpPr>
            <a:spLocks noGrp="1"/>
          </p:cNvSpPr>
          <p:nvPr/>
        </p:nvSpPr>
        <p:spPr>
          <a:xfrm>
            <a:off x="8229600" y="2333625"/>
            <a:ext cx="3571875" cy="2952750"/>
          </a:xfrm>
          <a:prstGeom prst="roundRect">
            <a:avLst>
              <a:gd name="adj" fmla="val 2581"/>
            </a:avLst>
          </a:prstGeom>
          <a:solidFill>
            <a:srgbClr val="102D35"/>
          </a:solidFill>
          <a:ln w="15240">
            <a:solidFill>
              <a:srgbClr val="2DD4BF"/>
            </a:solidFill>
            <a:prstDash val="solid"/>
          </a:ln>
        </p:spPr>
      </p:sp>
      <p:sp>
        <p:nvSpPr>
          <p:cNvPr id="11" name="s13-stat-2">
            <a:extLst>
              <a:ext uri="{FF2B5EF4-FFF2-40B4-BE49-F238E27FC236}">
                <a16:creationId xmlns:a16="http://schemas.microsoft.com/office/drawing/2014/main" id="{56D836C7-A43F-4922-AE8E-09C8744DFD60}"/>
              </a:ext>
            </a:extLst>
          </p:cNvPr>
          <p:cNvSpPr>
            <a:spLocks noGrp="1"/>
          </p:cNvSpPr>
          <p:nvPr/>
        </p:nvSpPr>
        <p:spPr>
          <a:xfrm>
            <a:off x="8534400" y="2857500"/>
            <a:ext cx="2952750" cy="1000125"/>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3300" b="1">
                <a:solidFill>
                  <a:srgbClr val="111111"/>
                </a:solidFill>
                <a:latin typeface="Arial"/>
                <a:ea typeface="Arial"/>
                <a:cs typeface="Arial"/>
              </a:defRPr>
            </a:pPr>
            <a:r>
              <a:rPr sz="3300" b="1">
                <a:solidFill>
                  <a:srgbClr val="2DD4BF"/>
                </a:solidFill>
                <a:latin typeface="Arial"/>
                <a:ea typeface="Arial"/>
                <a:cs typeface="Arial"/>
              </a:rPr>
              <a:t>stable</a:t>
            </a:r>
          </a:p>
        </p:txBody>
      </p:sp>
      <p:sp>
        <p:nvSpPr>
          <p:cNvPr id="12" name="s13-label-2">
            <a:extLst>
              <a:ext uri="{FF2B5EF4-FFF2-40B4-BE49-F238E27FC236}">
                <a16:creationId xmlns:a16="http://schemas.microsoft.com/office/drawing/2014/main" id="{3EEEF9A1-BB02-4C08-8A91-D701CF058647}"/>
              </a:ext>
            </a:extLst>
          </p:cNvPr>
          <p:cNvSpPr>
            <a:spLocks noGrp="1"/>
          </p:cNvSpPr>
          <p:nvPr/>
        </p:nvSpPr>
        <p:spPr>
          <a:xfrm>
            <a:off x="8534400" y="4095750"/>
            <a:ext cx="2952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5F6368"/>
                </a:solidFill>
                <a:latin typeface="Arial"/>
                <a:ea typeface="Arial"/>
                <a:cs typeface="Arial"/>
              </a:defRPr>
            </a:pPr>
            <a:r>
              <a:rPr sz="1575" b="0">
                <a:solidFill>
                  <a:srgbClr val="D6E0ED"/>
                </a:solidFill>
                <a:latin typeface="Arial"/>
                <a:ea typeface="Arial"/>
                <a:cs typeface="Arial"/>
              </a:rPr>
              <a:t>near-flat geometric</a:t>
            </a:r>
          </a:p>
          <a:p>
            <a:pPr algn="l">
              <a:buNone/>
              <a:defRPr sz="1650" b="0">
                <a:solidFill>
                  <a:srgbClr val="5F6368"/>
                </a:solidFill>
                <a:latin typeface="Arial"/>
                <a:ea typeface="Arial"/>
                <a:cs typeface="Arial"/>
              </a:defRPr>
            </a:pPr>
            <a:r>
              <a:rPr sz="1575" b="0">
                <a:solidFill>
                  <a:srgbClr val="D6E0ED"/>
                </a:solidFill>
                <a:latin typeface="Arial"/>
                <a:ea typeface="Arial"/>
                <a:cs typeface="Arial"/>
              </a:rPr>
              <a:t>collapse slopes</a:t>
            </a:r>
          </a:p>
        </p:txBody>
      </p:sp>
      <p:sp>
        <p:nvSpPr>
          <p:cNvPr id="13" name="s13-takeaway">
            <a:extLst>
              <a:ext uri="{FF2B5EF4-FFF2-40B4-BE49-F238E27FC236}">
                <a16:creationId xmlns:a16="http://schemas.microsoft.com/office/drawing/2014/main" id="{45E08F06-6378-4710-B27F-A93F4CAEB47C}"/>
              </a:ext>
            </a:extLst>
          </p:cNvPr>
          <p:cNvSpPr>
            <a:spLocks noGrp="1"/>
          </p:cNvSpPr>
          <p:nvPr/>
        </p:nvSpPr>
        <p:spPr>
          <a:xfrm>
            <a:off x="1428750" y="5619750"/>
            <a:ext cx="9334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575" b="1">
                <a:solidFill>
                  <a:srgbClr val="111111"/>
                </a:solidFill>
                <a:latin typeface="Arial"/>
                <a:ea typeface="Arial"/>
                <a:cs typeface="Arial"/>
              </a:defRPr>
            </a:pPr>
            <a:r>
              <a:rPr sz="1500" b="1">
                <a:solidFill>
                  <a:srgbClr val="F8FAFC"/>
                </a:solidFill>
                <a:latin typeface="Arial"/>
                <a:ea typeface="Arial"/>
                <a:cs typeface="Arial"/>
              </a:rPr>
              <a:t>The evidence is consistent with information-preserving paths as a prerequisite for effective depth; it does not establish a unique causal mechanism.</a:t>
            </a:r>
          </a:p>
        </p:txBody>
      </p:sp>
      <p:sp>
        <p:nvSpPr>
          <p:cNvPr id="14" name="footer-rule-13">
            <a:extLst>
              <a:ext uri="{FF2B5EF4-FFF2-40B4-BE49-F238E27FC236}">
                <a16:creationId xmlns:a16="http://schemas.microsoft.com/office/drawing/2014/main" id="{2995131D-C3D6-48CA-89F7-11C552B1F279}"/>
              </a:ext>
            </a:extLst>
          </p:cNvPr>
          <p:cNvSpPr>
            <a:spLocks noGrp="1"/>
          </p:cNvSpPr>
          <p:nvPr/>
        </p:nvSpPr>
        <p:spPr>
          <a:xfrm>
            <a:off x="476250" y="6191250"/>
            <a:ext cx="11239500" cy="9525"/>
          </a:xfrm>
          <a:prstGeom prst="rect">
            <a:avLst/>
          </a:prstGeom>
          <a:solidFill>
            <a:srgbClr val="2B3C59"/>
          </a:solidFill>
          <a:ln w="0">
            <a:solidFill>
              <a:srgbClr val="000000">
                <a:alpha val="0"/>
              </a:srgbClr>
            </a:solidFill>
            <a:prstDash val="solid"/>
          </a:ln>
        </p:spPr>
      </p:sp>
      <p:sp>
        <p:nvSpPr>
          <p:cNvPr id="15" name="footer-label-13">
            <a:extLst>
              <a:ext uri="{FF2B5EF4-FFF2-40B4-BE49-F238E27FC236}">
                <a16:creationId xmlns:a16="http://schemas.microsoft.com/office/drawing/2014/main" id="{A5F2E626-FBAB-4137-AF75-24884458551E}"/>
              </a:ext>
            </a:extLst>
          </p:cNvPr>
          <p:cNvSpPr>
            <a:spLocks noGrp="1"/>
          </p:cNvSpPr>
          <p:nvPr/>
        </p:nvSpPr>
        <p:spPr>
          <a:xfrm>
            <a:off x="476250" y="6286500"/>
            <a:ext cx="40005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0">
                <a:solidFill>
                  <a:srgbClr val="5F6368"/>
                </a:solidFill>
                <a:latin typeface="Arial"/>
                <a:ea typeface="Arial"/>
                <a:cs typeface="Arial"/>
              </a:defRPr>
            </a:pPr>
            <a:r>
              <a:rPr sz="975" b="0" dirty="0">
                <a:solidFill>
                  <a:srgbClr val="94A3B8"/>
                </a:solidFill>
                <a:latin typeface="Arial"/>
                <a:ea typeface="Arial"/>
                <a:cs typeface="Arial"/>
              </a:rPr>
              <a:t>CSE 705 · CORA GNN STUDY</a:t>
            </a:r>
          </a:p>
        </p:txBody>
      </p:sp>
      <p:sp>
        <p:nvSpPr>
          <p:cNvPr id="16" name="footer-page-13">
            <a:extLst>
              <a:ext uri="{FF2B5EF4-FFF2-40B4-BE49-F238E27FC236}">
                <a16:creationId xmlns:a16="http://schemas.microsoft.com/office/drawing/2014/main" id="{5EDBCD97-A147-423F-AFB9-2C172840D37A}"/>
              </a:ext>
            </a:extLst>
          </p:cNvPr>
          <p:cNvSpPr>
            <a:spLocks noGrp="1"/>
          </p:cNvSpPr>
          <p:nvPr/>
        </p:nvSpPr>
        <p:spPr>
          <a:xfrm>
            <a:off x="11191875" y="6286500"/>
            <a:ext cx="523875"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r">
              <a:buNone/>
              <a:defRPr sz="1050" b="0">
                <a:solidFill>
                  <a:srgbClr val="5F6368"/>
                </a:solidFill>
                <a:latin typeface="Arial"/>
                <a:ea typeface="Arial"/>
                <a:cs typeface="Arial"/>
              </a:defRPr>
            </a:pPr>
            <a:r>
              <a:rPr sz="975" b="1">
                <a:solidFill>
                  <a:srgbClr val="9B87F5"/>
                </a:solidFill>
                <a:latin typeface="Arial"/>
                <a:ea typeface="Arial"/>
                <a:cs typeface="Arial"/>
              </a:rPr>
              <a:t>17</a:t>
            </a:r>
          </a:p>
        </p:txBody>
      </p:sp>
    </p:spTree>
    <p:extLst>
      <p:ext uri="{BB962C8B-B14F-4D97-AF65-F5344CB8AC3E}">
        <p14:creationId xmlns:p14="http://schemas.microsoft.com/office/powerpoint/2010/main" val="1056603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7" name="s14-kicker">
            <a:extLst>
              <a:ext uri="{FF2B5EF4-FFF2-40B4-BE49-F238E27FC236}">
                <a16:creationId xmlns:a16="http://schemas.microsoft.com/office/drawing/2014/main" id="{DCF86C38-C0B0-4F61-93D2-F18902134E57}"/>
              </a:ext>
            </a:extLst>
          </p:cNvPr>
          <p:cNvSpPr>
            <a:spLocks noGrp="1"/>
          </p:cNvSpPr>
          <p:nvPr/>
        </p:nvSpPr>
        <p:spPr>
          <a:xfrm>
            <a:off x="571500" y="495300"/>
            <a:ext cx="4762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1">
                <a:solidFill>
                  <a:srgbClr val="3D8DFF"/>
                </a:solidFill>
                <a:latin typeface="Arial"/>
                <a:ea typeface="Arial"/>
                <a:cs typeface="Arial"/>
              </a:defRPr>
            </a:pPr>
            <a:r>
              <a:rPr sz="1500" b="1">
                <a:solidFill>
                  <a:srgbClr val="38BDF8"/>
                </a:solidFill>
                <a:latin typeface="Arial"/>
                <a:ea typeface="Arial"/>
                <a:cs typeface="Arial"/>
              </a:rPr>
              <a:t>CONCLUSIONS · SCOPE · NEXT STEPS</a:t>
            </a:r>
          </a:p>
        </p:txBody>
      </p:sp>
      <p:sp>
        <p:nvSpPr>
          <p:cNvPr id="2" name="s14-title">
            <a:extLst>
              <a:ext uri="{FF2B5EF4-FFF2-40B4-BE49-F238E27FC236}">
                <a16:creationId xmlns:a16="http://schemas.microsoft.com/office/drawing/2014/main" id="{6A5C60FD-2217-49DB-8661-0136ABA202CD}"/>
              </a:ext>
            </a:extLst>
          </p:cNvPr>
          <p:cNvSpPr>
            <a:spLocks noGrp="1"/>
          </p:cNvSpPr>
          <p:nvPr/>
        </p:nvSpPr>
        <p:spPr>
          <a:xfrm>
            <a:off x="571500" y="1352550"/>
            <a:ext cx="10001250" cy="2095500"/>
          </a:xfrm>
          <a:prstGeom prst="rect">
            <a:avLst/>
          </a:prstGeom>
          <a:solidFill>
            <a:srgbClr val="000000">
              <a:alpha val="0"/>
            </a:srgbClr>
          </a:solidFill>
          <a:ln w="0">
            <a:solidFill>
              <a:srgbClr val="000000">
                <a:alpha val="0"/>
              </a:srgbClr>
            </a:solidFill>
            <a:prstDash val="solid"/>
          </a:ln>
        </p:spPr>
        <p:txBody>
          <a:bodyPr lIns="0" tIns="0" rIns="0" bIns="0" anchor="b"/>
          <a:lstStyle/>
          <a:p>
            <a:pPr algn="l">
              <a:buNone/>
              <a:defRPr sz="4950" b="1">
                <a:solidFill>
                  <a:srgbClr val="111111"/>
                </a:solidFill>
                <a:latin typeface="Arial"/>
                <a:ea typeface="Arial"/>
                <a:cs typeface="Arial"/>
              </a:defRPr>
            </a:pPr>
            <a:r>
              <a:rPr sz="4950" b="1">
                <a:solidFill>
                  <a:srgbClr val="F8FAFC"/>
                </a:solidFill>
                <a:latin typeface="Arial"/>
                <a:ea typeface="Arial"/>
                <a:cs typeface="Arial"/>
              </a:rPr>
              <a:t>Conclusions and</a:t>
            </a:r>
          </a:p>
          <a:p>
            <a:pPr algn="l">
              <a:buNone/>
              <a:defRPr sz="4950" b="1">
                <a:solidFill>
                  <a:srgbClr val="111111"/>
                </a:solidFill>
                <a:latin typeface="Arial"/>
                <a:ea typeface="Arial"/>
                <a:cs typeface="Arial"/>
              </a:defRPr>
            </a:pPr>
            <a:r>
              <a:rPr sz="4950" b="1">
                <a:solidFill>
                  <a:srgbClr val="F8FAFC"/>
                </a:solidFill>
                <a:latin typeface="Arial"/>
                <a:ea typeface="Arial"/>
                <a:cs typeface="Arial"/>
              </a:rPr>
              <a:t>research implications</a:t>
            </a:r>
          </a:p>
        </p:txBody>
      </p:sp>
      <p:sp>
        <p:nvSpPr>
          <p:cNvPr id="3" name="s14-accent">
            <a:extLst>
              <a:ext uri="{FF2B5EF4-FFF2-40B4-BE49-F238E27FC236}">
                <a16:creationId xmlns:a16="http://schemas.microsoft.com/office/drawing/2014/main" id="{AB5845AE-0718-4CE8-934B-D8B2CB13BEE8}"/>
              </a:ext>
            </a:extLst>
          </p:cNvPr>
          <p:cNvSpPr>
            <a:spLocks noGrp="1"/>
          </p:cNvSpPr>
          <p:nvPr/>
        </p:nvSpPr>
        <p:spPr>
          <a:xfrm>
            <a:off x="571500" y="3781425"/>
            <a:ext cx="2571750" cy="66675"/>
          </a:xfrm>
          <a:prstGeom prst="rect">
            <a:avLst/>
          </a:prstGeom>
          <a:solidFill>
            <a:srgbClr val="9B87F5"/>
          </a:solidFill>
          <a:ln w="0">
            <a:solidFill>
              <a:srgbClr val="000000">
                <a:alpha val="0"/>
              </a:srgbClr>
            </a:solidFill>
            <a:prstDash val="solid"/>
          </a:ln>
        </p:spPr>
      </p:sp>
      <p:sp>
        <p:nvSpPr>
          <p:cNvPr id="4" name="s14-points">
            <a:extLst>
              <a:ext uri="{FF2B5EF4-FFF2-40B4-BE49-F238E27FC236}">
                <a16:creationId xmlns:a16="http://schemas.microsoft.com/office/drawing/2014/main" id="{22CD0230-9BF2-41BB-997A-1B94C54DCCA6}"/>
              </a:ext>
            </a:extLst>
          </p:cNvPr>
          <p:cNvSpPr>
            <a:spLocks noGrp="1"/>
          </p:cNvSpPr>
          <p:nvPr/>
        </p:nvSpPr>
        <p:spPr>
          <a:xfrm>
            <a:off x="571500" y="4229100"/>
            <a:ext cx="733425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5F6368"/>
                </a:solidFill>
                <a:latin typeface="Arial"/>
                <a:ea typeface="Arial"/>
                <a:cs typeface="Arial"/>
              </a:defRPr>
            </a:pPr>
            <a:r>
              <a:rPr sz="1650" b="0">
                <a:solidFill>
                  <a:srgbClr val="D6E0ED"/>
                </a:solidFill>
                <a:latin typeface="Arial"/>
                <a:ea typeface="Arial"/>
                <a:cs typeface="Arial"/>
              </a:rPr>
              <a:t>01  Depth failure is architecture-specific: two architectures never train, one trains and collapses.</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02  Accuracy and representation geometry must be read together, and before training as well as after.</a:t>
            </a:r>
          </a:p>
          <a:p>
            <a:pPr algn="l">
              <a:buNone/>
              <a:defRPr sz="1725" b="0">
                <a:solidFill>
                  <a:srgbClr val="5F6368"/>
                </a:solidFill>
                <a:latin typeface="Arial"/>
                <a:ea typeface="Arial"/>
                <a:cs typeface="Arial"/>
              </a:defRPr>
            </a:pPr>
            <a:r>
              <a:rPr sz="1650" b="0">
                <a:solidFill>
                  <a:srgbClr val="D6E0ED"/>
                </a:solidFill>
                <a:latin typeface="Arial"/>
                <a:ea typeface="Arial"/>
                <a:cs typeface="Arial"/>
              </a:rPr>
              <a:t>03  The effective mitigation is architecture-dependent; evidence is limited to Cora, one split, ten seeds.</a:t>
            </a:r>
          </a:p>
        </p:txBody>
      </p:sp>
      <p:sp>
        <p:nvSpPr>
          <p:cNvPr id="5" name="s14-question">
            <a:extLst>
              <a:ext uri="{FF2B5EF4-FFF2-40B4-BE49-F238E27FC236}">
                <a16:creationId xmlns:a16="http://schemas.microsoft.com/office/drawing/2014/main" id="{F942F8F4-12BC-4921-90B9-A384AE3651CC}"/>
              </a:ext>
            </a:extLst>
          </p:cNvPr>
          <p:cNvSpPr>
            <a:spLocks noGrp="1"/>
          </p:cNvSpPr>
          <p:nvPr/>
        </p:nvSpPr>
        <p:spPr>
          <a:xfrm>
            <a:off x="6667500" y="4514850"/>
            <a:ext cx="4857750" cy="10477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800" b="1">
                <a:solidFill>
                  <a:srgbClr val="3D8DFF"/>
                </a:solidFill>
                <a:latin typeface="Arial"/>
                <a:ea typeface="Arial"/>
                <a:cs typeface="Arial"/>
              </a:defRPr>
            </a:pPr>
            <a:r>
              <a:rPr sz="1500" b="1" dirty="0">
                <a:solidFill>
                  <a:srgbClr val="38BDF8"/>
                </a:solidFill>
                <a:latin typeface="Arial"/>
                <a:ea typeface="Arial"/>
                <a:cs typeface="Arial"/>
              </a:rPr>
              <a:t>.</a:t>
            </a:r>
          </a:p>
        </p:txBody>
      </p:sp>
      <p:sp>
        <p:nvSpPr>
          <p:cNvPr id="6" name="s14-footer">
            <a:extLst>
              <a:ext uri="{FF2B5EF4-FFF2-40B4-BE49-F238E27FC236}">
                <a16:creationId xmlns:a16="http://schemas.microsoft.com/office/drawing/2014/main" id="{11081BA7-E54E-47CD-BBEF-B1FA9E8519AE}"/>
              </a:ext>
            </a:extLst>
          </p:cNvPr>
          <p:cNvSpPr>
            <a:spLocks noGrp="1"/>
          </p:cNvSpPr>
          <p:nvPr/>
        </p:nvSpPr>
        <p:spPr>
          <a:xfrm>
            <a:off x="390525" y="6048375"/>
            <a:ext cx="2381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b="0">
                <a:solidFill>
                  <a:srgbClr val="5F6368"/>
                </a:solidFill>
                <a:latin typeface="Arial"/>
                <a:ea typeface="Arial"/>
                <a:cs typeface="Arial"/>
              </a:defRPr>
            </a:pPr>
            <a:endParaRPr sz="1350" b="0" dirty="0">
              <a:solidFill>
                <a:srgbClr val="94A3B8"/>
              </a:solidFill>
              <a:latin typeface="Arial"/>
              <a:ea typeface="Arial"/>
              <a:cs typeface="Arial"/>
            </a:endParaRPr>
          </a:p>
        </p:txBody>
      </p:sp>
    </p:spTree>
    <p:extLst>
      <p:ext uri="{BB962C8B-B14F-4D97-AF65-F5344CB8AC3E}">
        <p14:creationId xmlns:p14="http://schemas.microsoft.com/office/powerpoint/2010/main" val="104869580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3972</Words>
  <Application>Microsoft Office PowerPoint</Application>
  <DocSecurity>0</DocSecurity>
  <PresentationFormat>Widescreen</PresentationFormat>
  <Paragraphs>293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 Math</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Yiheng Wu</cp:lastModifiedBy>
  <cp:revision>2</cp:revision>
  <dcterms:created xsi:type="dcterms:W3CDTF">2026-08-01T20:11:46Z</dcterms:created>
  <dcterms:modified xsi:type="dcterms:W3CDTF">2026-08-03T17:01:38Z</dcterms:modified>
</cp:coreProperties>
</file>