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21"/>
    <p:sldId id="259" r:id="rId4"/>
    <p:sldId id="260" r:id="rId5"/>
    <p:sldId id="261" r:id="rId6"/>
    <p:sldId id="262" r:id="rId7"/>
    <p:sldId id="263" r:id="rId8"/>
    <p:sldId id="264" r:id="rId9"/>
    <p:sldId id="265" r:id="rId10"/>
    <p:sldId id="266" r:id="rId22"/>
    <p:sldId id="267" r:id="rId11"/>
    <p:sldId id="268" r:id="rId23"/>
    <p:sldId id="269" r:id="rId12"/>
    <p:sldId id="270" r:id="rId13"/>
    <p:sldId id="271" r:id="rId24"/>
    <p:sldId id="272" r:id="rId14"/>
    <p:sldId id="273"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305" y="55"/>
      </p:cViewPr>
      <p:guideLst/>
    </p:cSldViewPr>
  </p:slideViewPr>
  <p:notesTextViewPr>
    <p:cViewPr>
      <p:scale>
        <a:sx n="1" d="1"/>
        <a:sy n="1" d="1"/>
      </p:scale>
      <p:origin x="0" y="-391"/>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dirty="0"/>
              <a:t>Good afternoon. My name is Kiarash Ara, and this is joint work with Yiheng Wu at McMaster University.</a:t>
            </a:r>
            <a:r>
              <a:rPr dirty="0" err="1"/>
              <a:t/>
            </a:r>
            <a:r>
              <a:rPr dirty="0"/>
              <a:t/>
            </a:r>
          </a:p>
          <a:p>
            <a:r>
              <a:rPr dirty="0"/>
              <a:t>Our project studies what happens to graph neural networks when they get deeper. The short version is this. Depth does not fail in one single way. It fails differently depending on the architecture.</a:t>
            </a:r>
            <a:r>
              <a:rPr dirty="0" err="1"/>
              <a:t/>
            </a:r>
            <a:r>
              <a:rPr dirty="0"/>
              <a:t/>
            </a:r>
          </a:p>
          <a:p>
            <a:r>
              <a:rPr dirty="0"/>
              <a:t>We measured that on the Cora citation network, across four architectures, five depths, and ten random seeds. Over the next twenty minutes I will show you how we separated those failure modes, and why accuracy alone cannot do it.</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2 of 18</a:t>
            </a:r>
          </a:p>
          <a:p>
            <a:r>
              <a:rPr dirty="0"/>
              <a:t>Let me start with why depth matters at all.</a:t>
            </a:r>
            <a:r>
              <a:rPr dirty="0" err="1"/>
              <a:t/>
            </a:r>
            <a:r>
              <a:rPr dirty="0"/>
              <a:t/>
            </a:r>
          </a:p>
          <a:p>
            <a:r>
              <a:rPr dirty="0"/>
              <a:t>A graph neural network passes messages between connected nodes. Each layer lets a node see one hop further into the graph. So depth is how the model widens its view.</a:t>
            </a:r>
            <a:r>
              <a:rPr dirty="0" err="1"/>
              <a:t/>
            </a:r>
            <a:r>
              <a:rPr dirty="0"/>
              <a:t/>
            </a:r>
          </a:p>
          <a:p>
            <a:r>
              <a:rPr dirty="0"/>
              <a:t>For a graph convolutional network, one layer looks like the equation on the screen. We multiply by a normalized propagation operator, multiply by a weight matrix, and apply a nonlinearity.</a:t>
            </a:r>
            <a:r>
              <a:rPr dirty="0" err="1"/>
              <a:t/>
            </a:r>
            <a:r>
              <a:rPr dirty="0"/>
              <a:t/>
            </a:r>
          </a:p>
          <a:p>
            <a:r>
              <a:rPr dirty="0"/>
              <a:t>The problem is that applying that operator again and again pulls node representations toward one another. Nodes that started out different become similar.</a:t>
            </a:r>
            <a:r>
              <a:rPr dirty="0" err="1"/>
              <a:t/>
            </a:r>
            <a:r>
              <a:rPr dirty="0"/>
              <a:t/>
            </a:r>
          </a:p>
          <a:p>
            <a:r>
              <a:rPr dirty="0"/>
              <a:t>The panel on the left illustrates that on a small toy graph. It is only an illustration. Every claim I make after this slide comes from measurements on Cora. The question we asked is whether that contraction looks the same for every architecture.</a:t>
            </a:r>
            <a:r>
              <a:rPr dirty="0" err="1"/>
              <a:t/>
            </a:r>
            <a:r>
              <a:rPr dirty="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4 of 18</a:t>
            </a:r>
          </a:p>
          <a:p>
            <a:r>
              <a:rPr dirty="0"/>
              <a:t>So the primary question is this. How does depth change both predictive behavior and the geometry of the hidden representations?</a:t>
            </a:r>
            <a:r>
              <a:rPr dirty="0" err="1"/>
              <a:t/>
            </a:r>
            <a:r>
              <a:rPr dirty="0"/>
              <a:t/>
            </a:r>
          </a:p>
          <a:p>
            <a:r>
              <a:rPr dirty="0"/>
              <a:t>We compare across two to thirty-two layers, holding the data and the training protocol fixed, so that depth is the only thing that moves.</a:t>
            </a:r>
            <a:r>
              <a:rPr dirty="0" err="1"/>
              <a:t/>
            </a:r>
            <a:r>
              <a:rPr dirty="0"/>
              <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r>
              <a:rPr dirty="0" err="1"/>
              <a:t/>
            </a:r>
            <a:r>
              <a:rPr dirty="0"/>
              <a:t/>
            </a:r>
          </a:p>
          <a:p>
            <a:r>
              <a:rPr dirty="0"/>
              <a:t>These are stated in advance. They tell you what would count as a result before you see any of the numbers.</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5 of 18</a:t>
            </a:r>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6 of 18</a:t>
            </a:r>
          </a:p>
          <a:p>
            <a:r>
              <a:rPr dirty="0"/>
              <a:t>We compare four architectures, chosen because they aggregate information in genuinely different ways.</a:t>
            </a:r>
            <a:r>
              <a:rPr dirty="0" err="1"/>
              <a:t/>
            </a:r>
            <a:r>
              <a:rPr dirty="0"/>
              <a:t/>
            </a:r>
          </a:p>
          <a:p>
            <a:r>
              <a:rPr dirty="0"/>
              <a:t>GCN uses symmetric normalized propagation. It is our reference point for depth-induced contraction.</a:t>
            </a:r>
            <a:r>
              <a:rPr dirty="0" err="1"/>
              <a:t/>
            </a:r>
            <a:r>
              <a:rPr dirty="0"/>
              <a:t/>
            </a:r>
          </a:p>
          <a:p>
            <a:r>
              <a:rPr dirty="0"/>
              <a:t>GraphSAGE keeps the node's own features in a separate term from the neighborhood average, so self information and neighbor information are handled separately.</a:t>
            </a:r>
            <a:r>
              <a:rPr dirty="0" err="1"/>
              <a:t/>
            </a:r>
            <a:r>
              <a:rPr dirty="0"/>
              <a:t/>
            </a:r>
          </a:p>
          <a:p>
            <a:r>
              <a:rPr dirty="0"/>
              <a:t>GAT learns attention weights over neighbors. That lets us ask whether adaptive weighting delays collapse.</a:t>
            </a:r>
            <a:r>
              <a:rPr dirty="0" err="1"/>
              <a:t/>
            </a:r>
            <a:r>
              <a:rPr dirty="0"/>
              <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These are the two instruments. The important thing is that they do not measure the same property.</a:t>
            </a:r>
            <a:r>
              <a:rPr lang="en-US" dirty="0"/>
              <a:t/>
            </a:r>
            <a:endParaRPr dirty="0"/>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r>
              <a:rPr lang="en-US" dirty="0"/>
              <a:t/>
            </a:r>
            <a:endParaRPr dirty="0"/>
          </a:p>
          <a:p>
            <a:r>
              <a:rPr dirty="0"/>
              <a:t>Dirichlet energy asks something different. It measures how much representations differ across the edges of the graph, with degree normalization. It is quadratic in magnitude. If you scale the representation by c, the energy scales by c squared.</a:t>
            </a:r>
            <a:r>
              <a:rPr lang="en-US" dirty="0"/>
              <a:t/>
            </a:r>
            <a:endParaRPr dirty="0"/>
          </a:p>
          <a:p>
            <a:r>
              <a:rPr dirty="0"/>
              <a:t>So one metric sees direction and ignores size. The other sees both.</a:t>
            </a:r>
            <a:r>
              <a:rPr lang="en-US" dirty="0"/>
              <a:t/>
            </a:r>
            <a:endParaRPr dirty="0"/>
          </a:p>
          <a:p>
            <a:r>
              <a:rPr dirty="0"/>
              <a:t>That difference is deliberate. It means that when the two metrics disagree, the disagreement is informative rather than contradictory. Later in the talk I will show you a case where they disagree completely, and where that disagreement is the finding.</a:t>
            </a:r>
            <a:r>
              <a:rPr lang="en-US" dirty="0"/>
              <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10 of 18</a:t>
            </a:r>
          </a:p>
          <a:p>
            <a:r>
              <a:rPr dirty="0"/>
              <a:t>Now the same runs, viewed through geometry rather than accuracy.</a:t>
            </a:r>
            <a:r>
              <a:rPr dirty="0" err="1"/>
              <a:t/>
            </a:r>
            <a:r>
              <a:rPr dirty="0"/>
              <a:t/>
            </a:r>
            <a:r>
              <a:rPr dirty="0" err="1"/>
              <a:t/>
            </a:r>
            <a:r>
              <a:rPr dirty="0"/>
              <a:t/>
            </a:r>
          </a:p>
          <a:p>
            <a:r>
              <a:rPr dirty="0"/>
              <a:t>This is MAD against depth. GraphSAGE and GAT fall to essentially zero. Their node representations end up pointing in the same direction. That is directional collapse.</a:t>
            </a:r>
            <a:r>
              <a:rPr dirty="0" err="1"/>
              <a:t/>
            </a:r>
            <a:r>
              <a:rPr dirty="0"/>
              <a:t/>
            </a:r>
            <a:r>
              <a:rPr dirty="0" err="1"/>
              <a:t/>
            </a:r>
            <a:r>
              <a:rPr dirty="0"/>
              <a:t/>
            </a:r>
          </a:p>
          <a:p>
            <a:r>
              <a:rPr dirty="0"/>
              <a:t>GCN does not. It holds around zero point one eight even at thirty-two layers.</a:t>
            </a:r>
            <a:r>
              <a:rPr dirty="0" err="1"/>
              <a:t/>
            </a:r>
            <a:r>
              <a:rPr dirty="0"/>
              <a:t/>
            </a:r>
            <a:r>
              <a:rPr dirty="0" err="1"/>
              <a:t/>
            </a:r>
            <a:r>
              <a:rPr dirty="0"/>
              <a:t/>
            </a:r>
          </a:p>
          <a:p>
            <a:r>
              <a:rPr dirty="0"/>
              <a:t>But look back at the previous slide. All three lost roughly the same amount of accuracy.</a:t>
            </a:r>
            <a:r>
              <a:rPr dirty="0" err="1"/>
              <a:t/>
            </a:r>
            <a:r>
              <a:rPr dirty="0"/>
              <a:t/>
            </a:r>
            <a:r>
              <a:rPr dirty="0" err="1"/>
              <a:t/>
            </a:r>
            <a:r>
              <a:rPr dirty="0"/>
              <a:t/>
            </a:r>
          </a:p>
          <a:p>
            <a:r>
              <a:rPr dirty="0"/>
              <a:t>So we have architectures with similar accuracy and completely different internal states. Accuracy is not telling us what happened inside the model. This is the point where a study that reported accuracy alone would have to stop.</a:t>
            </a:r>
            <a:r>
              <a:rPr dirty="0" err="1"/>
              <a:t/>
            </a:r>
            <a:r>
              <a:rPr dirty="0"/>
              <a:t/>
            </a:r>
            <a:r>
              <a:rPr dirty="0" err="1"/>
              <a:t/>
            </a:r>
            <a:r>
              <a:rPr dirty="0"/>
              <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12 of 18</a:t>
            </a:r>
          </a:p>
          <a:p>
            <a:r>
              <a:rPr dirty="0"/>
              <a:t>Let me now separate what the architecture does from what training does.</a:t>
            </a:r>
            <a:r>
              <a:rPr dirty="0" err="1"/>
              <a:t/>
            </a:r>
            <a:r>
              <a:rPr dirty="0"/>
              <a:t/>
            </a:r>
          </a:p>
          <a:p>
            <a:r>
              <a:rPr dirty="0"/>
              <a:t>The epoch-zero capture is taken before any gradient step. The weights are random. So anything we see here is caused by the propagation operator and the initialization, not by learning.</a:t>
            </a:r>
            <a:r>
              <a:rPr dirty="0" err="1"/>
              <a:t/>
            </a:r>
            <a:r>
              <a:rPr dirty="0"/>
              <a:t/>
            </a:r>
          </a:p>
          <a:p>
            <a:r>
              <a:rPr dirty="0"/>
              <a:t>At epoch zero, GCN and GAT lose both direction and magnitude as depth increases. Their energy ratio falls by about twelve and ten orders of magnitude by depth thirty-two.</a:t>
            </a:r>
            <a:r>
              <a:rPr dirty="0" err="1"/>
              <a:t/>
            </a:r>
            <a:r>
              <a:rPr dirty="0"/>
              <a:t/>
            </a:r>
          </a:p>
          <a:p>
            <a:r>
              <a:rPr dirty="0"/>
              <a:t>GraphSAGE behaves differently. Its MAD collapses, but its energy does not vanish. It settles around nineteen.</a:t>
            </a:r>
            <a:r>
              <a:rPr dirty="0" err="1"/>
              <a:t/>
            </a:r>
            <a:r>
              <a:rPr dirty="0"/>
              <a:t/>
            </a:r>
          </a:p>
          <a:p>
            <a:r>
              <a:rPr dirty="0"/>
              <a:t>That is a strange combination, and it is the subject of the next slide. The checkpoint and final captures then tell us what training changed.</a:t>
            </a:r>
            <a:r>
              <a:rPr dirty="0" err="1"/>
              <a:t/>
            </a:r>
            <a:r>
              <a:rPr dirty="0"/>
              <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15 of 18</a:t>
            </a:r>
          </a:p>
          <a:p>
            <a:r>
              <a:rPr dirty="0"/>
              <a:t>Given all of that, what actually helps?</a:t>
            </a:r>
            <a:r>
              <a:rPr dirty="0" err="1"/>
              <a:t/>
            </a:r>
            <a:r>
              <a:rPr dirty="0"/>
              <a:t/>
            </a:r>
            <a:r>
              <a:rPr dirty="0" err="1"/>
              <a:t/>
            </a:r>
            <a:r>
              <a:rPr dirty="0"/>
              <a:t/>
            </a:r>
          </a:p>
          <a:p>
            <a:r>
              <a:rPr dirty="0"/>
              <a:t>We tested three mitigations on GCN at depth thirty-two, against an unmitigated baseline of twenty-four percent.</a:t>
            </a:r>
            <a:r>
              <a:rPr dirty="0" err="1"/>
              <a:t/>
            </a:r>
            <a:r>
              <a:rPr dirty="0"/>
              <a:t/>
            </a:r>
            <a:r>
              <a:rPr dirty="0" err="1"/>
              <a:t/>
            </a:r>
            <a:r>
              <a:rPr dirty="0"/>
              <a:t/>
            </a:r>
          </a:p>
          <a:p>
            <a:r>
              <a:rPr dirty="0"/>
              <a:t>Jumping Knowledge is the clear winner at seventy-three percent. It changes the readout rather than the propagation, so the classifier can draw on earlier layers instead of only the deepest one.</a:t>
            </a:r>
            <a:r>
              <a:rPr dirty="0" err="1"/>
              <a:t/>
            </a:r>
            <a:r>
              <a:rPr dirty="0"/>
              <a:t/>
            </a:r>
            <a:r>
              <a:rPr dirty="0" err="1"/>
              <a:t/>
            </a:r>
            <a:r>
              <a:rPr dirty="0"/>
              <a:t/>
            </a:r>
          </a:p>
          <a:p>
            <a:r>
              <a:rPr dirty="0"/>
              <a:t>PairNorm reaches fifty-eight percent. It works directly on the geometry, rescaling representations so their spread does not shrink with depth.</a:t>
            </a:r>
            <a:r>
              <a:rPr dirty="0" err="1"/>
              <a:t/>
            </a:r>
            <a:r>
              <a:rPr dirty="0"/>
              <a:t/>
            </a:r>
            <a:r>
              <a:rPr dirty="0" err="1"/>
              <a:t/>
            </a:r>
            <a:r>
              <a:rPr dirty="0"/>
              <a:t/>
            </a:r>
          </a:p>
          <a:p>
            <a:r>
              <a:rPr dirty="0"/>
              <a:t>Residual connections alone reach nineteen percent, which is below the baseline. Combining PairNorm with residual is also worse than PairNorm by itself.</a:t>
            </a:r>
            <a:r>
              <a:rPr dirty="0" err="1"/>
              <a:t/>
            </a:r>
            <a:r>
              <a:rPr dirty="0"/>
              <a:t/>
            </a:r>
            <a:r>
              <a:rPr dirty="0" err="1"/>
              <a:t/>
            </a:r>
            <a:r>
              <a:rPr dirty="0"/>
              <a:t/>
            </a:r>
          </a:p>
          <a:p>
            <a:r>
              <a:rPr dirty="0"/>
              <a:t>So these are not interchangeable tools. They target different mechanisms, and combining them does not simply add their benefits.</a:t>
            </a:r>
            <a:r>
              <a:rPr dirty="0" err="1"/>
              <a:t/>
            </a:r>
            <a:r>
              <a:rPr dirty="0"/>
              <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Three conclusions.</a:t>
            </a:r>
            <a:r>
              <a:rPr dirty="0" err="1"/>
              <a:t/>
            </a:r>
            <a:r>
              <a:rPr dirty="0"/>
              <a:t/>
            </a:r>
          </a:p>
          <a:p>
            <a:r>
              <a:rPr dirty="0"/>
              <a:t>First, depth-related failure is architecture-specific. Two of our architectures never trained at depth thirty-two. One trained and then developed a contract-then-amplify signature. Treating those as the same phenomenon would be a mistake.</a:t>
            </a:r>
            <a:r>
              <a:rPr dirty="0" err="1"/>
              <a:t/>
            </a:r>
            <a:r>
              <a:rPr dirty="0"/>
              <a:t/>
            </a:r>
          </a:p>
          <a:p>
            <a:r>
              <a:rPr dirty="0"/>
              <a:t>Second, accuracy and representation geometry have to be read together, and measured before training as well as after. That is what allowed us to separate a model that never learned from one that learned and then collapsed.</a:t>
            </a:r>
            <a:r>
              <a:rPr dirty="0" err="1"/>
              <a:t/>
            </a:r>
            <a:r>
              <a:rPr dirty="0"/>
              <a:t/>
            </a:r>
          </a:p>
          <a:p>
            <a:r>
              <a:rPr dirty="0"/>
              <a:t>Third, the effective mitigation depends on the architecture. Jumping Knowledge transferred to GAT and not to GraphSAGE.</a:t>
            </a:r>
            <a:r>
              <a:rPr dirty="0" err="1"/>
              <a:t/>
            </a:r>
            <a:r>
              <a:rPr dirty="0"/>
              <a:t/>
            </a:r>
          </a:p>
          <a:p>
            <a:r>
              <a:rPr dirty="0"/>
              <a:t>On scope, this is one dataset, one split, and ten seeds. We do not claim a universal depth limit. What we think transfers is the method, not the numbers.</a:t>
            </a:r>
            <a:r>
              <a:rPr dirty="0" err="1"/>
              <a:t/>
            </a:r>
            <a:r>
              <a:rPr dirty="0"/>
              <a:t/>
            </a:r>
          </a:p>
          <a:p>
            <a:r>
              <a:rPr dirty="0"/>
              <a:t>Thank you. I am happy to take questions.</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This slide is the reason the project is designed the way it is.</a:t>
            </a:r>
            <a:r>
              <a:rPr dirty="0" err="1"/>
              <a:t/>
            </a:r>
            <a:r>
              <a:rPr dirty="0"/>
              <a:t/>
            </a:r>
          </a:p>
          <a:p>
            <a:r>
              <a:rPr dirty="0"/>
              <a:t>Suppose a deep model performs badly. There are two very different explanations.</a:t>
            </a:r>
            <a:r>
              <a:rPr dirty="0" err="1"/>
              <a:t/>
            </a:r>
            <a:r>
              <a:rPr dirty="0"/>
              <a:t/>
            </a:r>
          </a:p>
          <a:p>
            <a:r>
              <a:rPr dirty="0"/>
              <a:t>The first is that the model never trained. The optimizer never moved the weights. Whatever the representation looks like, it is what random propagation produced, not what learning produced.</a:t>
            </a:r>
            <a:r>
              <a:rPr dirty="0" err="1"/>
              <a:t/>
            </a:r>
            <a:r>
              <a:rPr dirty="0"/>
              <a:t/>
            </a:r>
          </a:p>
          <a:p>
            <a:r>
              <a:rPr dirty="0"/>
              <a:t>The second is that the model did train, and then repeated propagation contracted what it had learned.</a:t>
            </a:r>
            <a:r>
              <a:rPr dirty="0" err="1"/>
              <a:t/>
            </a:r>
            <a:r>
              <a:rPr dirty="0"/>
              <a:t/>
            </a:r>
          </a:p>
          <a:p>
            <a:r>
              <a:rPr dirty="0"/>
              <a:t>Here is the difficulty. Both of these end up at roughly the same accuracy, near the majority-class floor. If you only look at the final accuracy number, the two are indistinguishable.</a:t>
            </a:r>
            <a:r>
              <a:rPr dirty="0" err="1"/>
              <a:t/>
            </a:r>
            <a:r>
              <a:rPr dirty="0"/>
              <a:t/>
            </a:r>
          </a:p>
          <a:p>
            <a:r>
              <a:rPr dirty="0"/>
              <a:t>The only way to tell them apart is to look inside the model, and to look before training as well as after. That is exactly what our measurement design does.</a:t>
            </a:r>
            <a:r>
              <a:rPr dirty="0" err="1"/>
              <a:t/>
            </a:r>
            <a:r>
              <a:rPr dirty="0"/>
              <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oversmooth.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So why do GraphSAGE's two metrics disagree?</a:t>
            </a:r>
            <a:r>
              <a:rPr dirty="0" err="1"/>
              <a:t/>
            </a:r>
            <a:r>
              <a:rPr dirty="0"/>
              <a:t/>
            </a:r>
            <a:r>
              <a:rPr dirty="0" err="1"/>
              <a:t/>
            </a:r>
            <a:r>
              <a:rPr dirty="0"/>
              <a:t/>
            </a:r>
          </a:p>
          <a:p>
            <a:r>
              <a:rPr dirty="0"/>
              <a:t>We ran a singular value decomposition on its representations at depth sixteen, across three seeds.</a:t>
            </a:r>
            <a:r>
              <a:rPr dirty="0" err="1"/>
              <a:t/>
            </a:r>
            <a:r>
              <a:rPr dirty="0"/>
              <a:t/>
            </a:r>
            <a:r>
              <a:rPr dirty="0" err="1"/>
              <a:t/>
            </a:r>
            <a:r>
              <a:rPr dirty="0"/>
              <a:t/>
            </a:r>
          </a:p>
          <a:p>
            <a:r>
              <a:rPr dirty="0"/>
              <a:t>The result is that the representation is exactly rank one. The top singular value carries the entire energy, a fraction of one point zero zero zero zero. Every node lies on a single line.</a:t>
            </a:r>
            <a:r>
              <a:rPr dirty="0" err="1"/>
              <a:t/>
            </a:r>
            <a:r>
              <a:rPr dirty="0"/>
              <a:t/>
            </a:r>
            <a:r>
              <a:rPr dirty="0" err="1"/>
              <a:t/>
            </a:r>
            <a:r>
              <a:rPr dirty="0"/>
              <a:t/>
            </a:r>
          </a:p>
          <a:p>
            <a:r>
              <a:rPr dirty="0"/>
              <a:t>The question is which line. Its top singular vector matches the constant direction with cosine one point zero zero zero zero. Against the square root of degree direction it is zero point nine five.</a:t>
            </a:r>
            <a:r>
              <a:rPr dirty="0" err="1"/>
              <a:t/>
            </a:r>
            <a:r>
              <a:rPr dirty="0"/>
              <a:t/>
            </a:r>
            <a:r>
              <a:rPr dirty="0" err="1"/>
              <a:t/>
            </a:r>
            <a:r>
              <a:rPr dirty="0"/>
              <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r>
              <a:rPr dirty="0" err="1"/>
              <a:t/>
            </a:r>
            <a:r>
              <a:rPr dirty="0"/>
              <a:t/>
            </a:r>
            <a:r>
              <a:rPr dirty="0" err="1"/>
              <a:t/>
            </a:r>
            <a:r>
              <a:rPr dirty="0"/>
              <a:t/>
            </a:r>
          </a:p>
          <a:p>
            <a:r>
              <a:rPr dirty="0"/>
              <a:t>So GraphSAGE collapses onto a direction where energy is not zero. Its representations align completely, MAD goes to zero, and the energy stays high. Both metrics are correct. They are answering different questions.</a:t>
            </a:r>
            <a:r>
              <a:rPr dirty="0" err="1"/>
              <a:t/>
            </a:r>
            <a:r>
              <a:rPr dirty="0"/>
              <a:t/>
            </a:r>
            <a:r>
              <a:rPr dirty="0" err="1"/>
              <a:t/>
            </a:r>
            <a:r>
              <a:rPr dirty="0"/>
              <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16 of 18</a:t>
            </a:r>
          </a:p>
          <a:p>
            <a:r>
              <a:rPr dirty="0"/>
              <a:t>Jumping Knowledge won on GCN, so we carried it to the other two architectures. Same mitigation, same protocol, ten seeds each.</a:t>
            </a:r>
            <a:r>
              <a:rPr dirty="0" err="1"/>
              <a:t/>
            </a:r>
            <a:r>
              <a:rPr dirty="0"/>
              <a:t/>
            </a:r>
            <a:r>
              <a:rPr dirty="0" err="1"/>
              <a:t/>
            </a:r>
            <a:r>
              <a:rPr dirty="0"/>
              <a:t/>
            </a:r>
          </a:p>
          <a:p>
            <a:r>
              <a:rPr dirty="0"/>
              <a:t>On GAT it works. Seventy-two percent, essentially matching GCN's seventy-three. The macro-F1 values are almost identical as well.</a:t>
            </a:r>
            <a:r>
              <a:rPr dirty="0" err="1"/>
              <a:t/>
            </a:r>
            <a:r>
              <a:rPr dirty="0"/>
              <a:t/>
            </a:r>
            <a:r>
              <a:rPr dirty="0" err="1"/>
              <a:t/>
            </a:r>
            <a:r>
              <a:rPr dirty="0"/>
              <a:t/>
            </a:r>
          </a:p>
          <a:p>
            <a:r>
              <a:rPr dirty="0"/>
              <a:t>On GraphSAGE it does not. It reaches forty percent. That is a real improvement, and all ten seeds sit above the majority-class floor, so I do not want to dismiss it. But it is about a third of what the same mitigation achieves on the other two.</a:t>
            </a:r>
            <a:r>
              <a:rPr dirty="0" err="1"/>
              <a:t/>
            </a:r>
            <a:r>
              <a:rPr dirty="0"/>
              <a:t/>
            </a:r>
            <a:r>
              <a:rPr dirty="0" err="1"/>
              <a:t/>
            </a:r>
            <a:r>
              <a:rPr dirty="0"/>
              <a:t/>
            </a:r>
          </a:p>
          <a:p>
            <a:r>
              <a:rPr dirty="0"/>
              <a:t>The macro-F1 tells you more. Zero point two six, against zero point seven two for the other two. So even the accuracy it does recover is not spread evenly across the seven classes.</a:t>
            </a:r>
            <a:r>
              <a:rPr dirty="0" err="1"/>
              <a:t/>
            </a:r>
            <a:r>
              <a:rPr dirty="0"/>
              <a:t/>
            </a:r>
            <a:r>
              <a:rPr dirty="0" err="1"/>
              <a:t/>
            </a:r>
            <a:r>
              <a:rPr dirty="0"/>
              <a:t/>
            </a:r>
          </a:p>
          <a:p>
            <a:r>
              <a:rPr dirty="0"/>
              <a:t>The conclusion is that you cannot choose a mitigation from the depth alone. It depends on which architecture you are trying to fix.</a:t>
            </a:r>
            <a:r>
              <a:rPr dirty="0" err="1"/>
              <a:t/>
            </a:r>
            <a:r>
              <a:rPr dirty="0"/>
              <a:t/>
            </a:r>
            <a:r>
              <a:rPr dirty="0" err="1"/>
              <a:t/>
            </a:r>
            <a:r>
              <a:rPr dirty="0"/>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sp>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Message passing expands the receptive field by one hop per layer.</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For a GCN, H⁽ˡ⁺¹⁾ = σ(</a:t>
            </a:r>
            <a:r>
              <a:rPr sz="1725" b="0" dirty="0" err="1">
                <a:solidFill>
                  <a:srgbClr val="D6E0ED"/>
                </a:solidFill>
                <a:latin typeface="Arial"/>
                <a:ea typeface="Arial"/>
                <a:cs typeface="Arial"/>
              </a:rPr>
              <a:t>ÃH⁽ˡ⁾W⁽ˡ</a:t>
            </a:r>
            <a:r>
              <a:rPr sz="1725" b="0" dirty="0">
                <a:solidFill>
                  <a:srgbClr val="D6E0ED"/>
                </a:solidFill>
                <a:latin typeface="Arial"/>
                <a:ea typeface="Arial"/>
                <a:cs typeface="Arial"/>
              </a:rPr>
              <a:t>⁾); repeated application of the normalized propagation operator can contract node-level variation.</a:t>
            </a:r>
          </a:p>
          <a:p>
            <a:endParaRPr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sz="1725" b="0" dirty="0">
                <a:solidFill>
                  <a:srgbClr val="D6E0ED"/>
                </a:solidFill>
                <a:latin typeface="Arial"/>
                <a:ea typeface="Arial"/>
                <a:cs typeface="Arial"/>
              </a:rPr>
              <a:t>The empirical question is whether this contraction produces the same failure signature across architectures.</a:t>
            </a:r>
          </a:p>
        </p:txBody>
      </p:sp>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sp>
      <p:pic>
        <p:nvPicPr>
          <p:cNvPr id="16" name="Picture 15"/>
          <p:cNvPicPr>
            <a:picLocks noChangeAspect="1"/>
          </p:cNvPicPr>
          <p:nvPr/>
        </p:nvPicPr>
        <p:blipFill>
          <a:blip r:embed="rId3"/>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H1  Accuracy degrades non-uniformly.</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H2  Geometric collapse is not equivalent across models.</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H3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Cosine-distance geometry</a:t>
            </a:r>
          </a:p>
        </p:txBody>
      </p:sp>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Dᵢⱼ = 1 − cos(hᵢ, hⱼ)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MAD(H) = mean₍Dᵢⱼ≠0₎ Dᵢⱼ</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Scale-invariant; lower values indicate directional collapse.</a:t>
            </a:r>
          </a:p>
        </p:txBody>
      </p:sp>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E(H) = 1/(2p) Σ₍ᵢ,ⱼ₎∈Ẽ ‖hᵢ/√d̃ᵢ − hⱼ/√d̃ⱼ‖²</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Fixed augmented graph; sensitive to representation magnitude.</a:t>
            </a:r>
          </a:p>
        </p:txBody>
      </p:sp>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01  Depth failure is architecture-specific: two architectures never train, one trains and collapses.</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02  Accuracy and representation geometry must be read together, and before training as well as after.</a:t>
            </a:r>
          </a:p>
          <a:p>
            <a:pPr algn="l">
              <a:buNone/>
              <a:defRPr sz="1725" b="0">
                <a:solidFill>
                  <a:srgbClr val="5F6368"/>
                </a:solidFill>
                <a:latin typeface="Arial"/>
                <a:ea typeface="Arial"/>
                <a:cs typeface="Arial"/>
              </a:defRPr>
            </a:pPr>
            <a:r>
              <a:rPr sz="1650" b="0">
                <a:solidFill>
                  <a:srgbClr val="D6E0ED"/>
                </a:solidFill>
                <a:latin typeface="Arial"/>
                <a:ea typeface="Arial"/>
                <a:cs typeface="Arial"/>
              </a:rPr>
              <a:t>03  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GCN + JK · macro-F1 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JK transfers to GAT, not to GraphSAGE</a:t>
            </a: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GAT + JK · macro-F1 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GraphSAGE + JK · macro-F1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1803</Words>
  <Application>Microsoft Office PowerPoint</Application>
  <DocSecurity>0</DocSecurity>
  <PresentationFormat>Widescreen</PresentationFormat>
  <Paragraphs>193</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Yiheng Wu</cp:lastModifiedBy>
  <cp:revision>1</cp:revision>
  <dcterms:created xsi:type="dcterms:W3CDTF">2026-08-01T20:11:46Z</dcterms:created>
  <dcterms:modified xsi:type="dcterms:W3CDTF">2026-08-01T20:24:54Z</dcterms:modified>
</cp:coreProperties>
</file>