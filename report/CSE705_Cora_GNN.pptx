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085" autoAdjust="0"/>
  </p:normalViewPr>
  <p:slideViewPr>
    <p:cSldViewPr snapToGrid="0">
      <p:cViewPr varScale="1">
        <p:scale>
          <a:sx n="72" d="100"/>
          <a:sy n="72" d="100"/>
        </p:scale>
        <p:origin x="203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dirty="0"/>
              <a:t>PRESENTER: Kiarash  ·  opening, integration owner  ·  hand off to Yiheng after this slide</a:t>
            </a:r>
            <a:endParaRPr lang="en-US" dirty="0"/>
          </a:p>
          <a:p>
            <a:endParaRPr dirty="0"/>
          </a:p>
          <a:p>
            <a:r>
              <a:rPr lang="en-US" dirty="0"/>
              <a:t>Hello</a:t>
            </a:r>
            <a:r>
              <a:rPr dirty="0"/>
              <a:t>. My name is Kiarash Ara, and this is joint work with Yiheng Wu</a:t>
            </a:r>
            <a:r>
              <a:rPr lang="en-US" dirty="0"/>
              <a:t>,</a:t>
            </a:r>
            <a:r>
              <a:rPr dirty="0"/>
              <a:t> </a:t>
            </a:r>
            <a:r>
              <a:rPr lang="en-US" dirty="0"/>
              <a:t>as part of Deep Learning course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lang="en-US" dirty="0"/>
          </a:p>
          <a:p>
            <a:r>
              <a:rPr lang="en-US" dirty="0"/>
              <a:t>Next Yiheng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PRESENTER: Yiheng  ·  oversmoothing phenomenon, embedding visualization</a:t>
            </a:r>
            <a:endParaRPr lang="en-US" dirty="0"/>
          </a:p>
          <a:p>
            <a:endParaRPr dirty="0"/>
          </a:p>
          <a:p>
            <a:r>
              <a:rPr dirty="0"/>
              <a:t>Let’s start with why depth matters at all.</a:t>
            </a:r>
          </a:p>
          <a:p>
            <a:r>
              <a:rPr dirty="0"/>
              <a:t>A graph neural network passes messages between connected nodes. Each layer lets a node see one hop further into the graph. So depth is how the model widens its view.</a:t>
            </a:r>
          </a:p>
          <a:p>
            <a:r>
              <a:rPr dirty="0"/>
              <a:t>For a graph convolutional network, one layer looks like the equation on the screen. We multiply by a normalized propagation operator, multiply by a weight matrix, and apply a nonlinearity.</a:t>
            </a:r>
          </a:p>
          <a:p>
            <a:r>
              <a:rPr dirty="0"/>
              <a:t>The problem is that applying that operator again and again pulls node representations toward one another. Nodes that started out different become similar, or in another word their specific properties get diluted.</a:t>
            </a:r>
          </a:p>
          <a:p>
            <a:r>
              <a:rPr dirty="0"/>
              <a:t>The panel on the left illustrates that on a small social network, with an untrained model at one through five layers. Watch the shape rather than the colors. At one layer the points fill the box; by four layers they have collapsed onto almost a single line.</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p>
          <a:p>
            <a:r>
              <a:rPr dirty="0"/>
              <a:t>This is only an illustration. Every claim after this slide comes from measurements on Cora. The question we asked is whether that contraction looks the same for every architecture.</a:t>
            </a:r>
            <a:endParaRPr lang="en-US"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PRESENTER: Yiheng  ·  motivates the internal-state measurement  ·  hand off to Kiarash after this slide</a:t>
            </a:r>
            <a:endParaRPr lang="en-US" dirty="0"/>
          </a:p>
          <a:p>
            <a:endParaRPr dirty="0"/>
          </a:p>
          <a:p>
            <a:r>
              <a:rPr dirty="0"/>
              <a:t>This slide </a:t>
            </a:r>
            <a:r>
              <a:rPr lang="en-US" dirty="0"/>
              <a:t>shows</a:t>
            </a:r>
            <a:r>
              <a:rPr dirty="0"/>
              <a:t>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PRESENTER: Kiarash  ·  study design, joint analysis</a:t>
            </a:r>
            <a:endParaRPr lang="en-US" dirty="0"/>
          </a:p>
          <a:p>
            <a:endParaRPr dirty="0"/>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PRESENTER: Kiarash  ·  data pipeline</a:t>
            </a:r>
            <a:endParaRPr lang="en-US" dirty="0"/>
          </a:p>
          <a:p>
            <a:endParaRPr dirty="0"/>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PRESENTER: Kiarash  ·  architecture implementations</a:t>
            </a:r>
            <a:endParaRPr lang="en-US" dirty="0"/>
          </a:p>
          <a:p>
            <a:endParaRPr dirty="0"/>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PRESENTER: Kiarash  ·  experiment harness, depth-sweep infrastructure  ·  hand off to Yiheng after this slide</a:t>
            </a:r>
            <a:endParaRPr lang="en-US" dirty="0"/>
          </a:p>
          <a:p>
            <a:endParaRPr dirty="0"/>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PRESENTER: Yiheng  ·  Dirichlet energy and MAD, metrics owner  ·  hand off to Kiarash after this slide</a:t>
            </a:r>
            <a:endParaRPr lang="en-US" dirty="0"/>
          </a:p>
          <a:p>
            <a:endParaRPr dirty="0"/>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PRESENTER: Kiarash  ·  depth sweep  ·  hand off to Yiheng after this slide</a:t>
            </a:r>
            <a:endParaRPr lang="en-US" dirty="0"/>
          </a:p>
          <a:p>
            <a:endParaRPr dirty="0"/>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PRESENTER: Yiheng  ·  MAD  ·  hand off to Kiarash after this slide</a:t>
            </a:r>
            <a:endParaRPr lang="en-US" dirty="0"/>
          </a:p>
          <a:p>
            <a:endParaRPr dirty="0"/>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PRESENTER: Kiarash  ·  training and evaluation loop  ·  hand off to Yiheng after this slide</a:t>
            </a:r>
            <a:endParaRPr lang="en-US" dirty="0"/>
          </a:p>
          <a:p>
            <a:endParaRPr dirty="0"/>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a:t>
            </a:r>
            <a:r>
              <a:rPr dirty="0" err="1"/>
              <a:t>oversmooth</a:t>
            </a:r>
            <a:r>
              <a:rPr dirty="0"/>
              <a:t>.</a:t>
            </a:r>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PRESENTER: Yiheng  ·  epoch-0 metric captures</a:t>
            </a:r>
            <a:endParaRPr lang="en-US" dirty="0"/>
          </a:p>
          <a:p>
            <a:endParaRPr dirty="0"/>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PRESENTER: Yiheng  ·  metric interpretation</a:t>
            </a:r>
            <a:endParaRPr lang="en-US" dirty="0"/>
          </a:p>
          <a:p>
            <a:endParaRPr dirty="0"/>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one point zero zero zero zero.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PRESENTER: Yiheng  ·  Dirichlet energy  ·  hand off to Kiarash after this slide</a:t>
            </a:r>
            <a:endParaRPr lang="en-US" dirty="0"/>
          </a:p>
          <a:p>
            <a:endParaRPr dirty="0"/>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PRESENTER: Kiarash  ·  mitigation ablations</a:t>
            </a:r>
            <a:endParaRPr lang="en-US" dirty="0"/>
          </a:p>
          <a:p>
            <a:endParaRPr dirty="0"/>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PRESENTER: Kiarash  ·  mitigation ablations</a:t>
            </a:r>
            <a:endParaRPr lang="en-US" dirty="0"/>
          </a:p>
          <a:p>
            <a:endParaRPr dirty="0"/>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PRESENTER: Kiarash  ·  architectural control</a:t>
            </a:r>
            <a:endParaRPr lang="en-US" dirty="0"/>
          </a:p>
          <a:p>
            <a:endParaRPr dirty="0"/>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PRESENTER: Kiarash  </a:t>
            </a:r>
            <a:r>
              <a:t>·  clos</a:t>
            </a:r>
            <a:r>
              <a:rPr lang="en-US"/>
              <a:t>ing</a:t>
            </a:r>
            <a:endParaRPr lang="en-US" dirty="0"/>
          </a:p>
          <a:p>
            <a:endParaRPr dirty="0"/>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dirty="0"/>
              <a:t>On scope, this is one dataset, one split, and ten seeds. We do not claim a universal depth limit. What we think transfers is the method, not the numbers.</a:t>
            </a:r>
          </a:p>
          <a:p>
            <a:r>
              <a:rPr dirty="0"/>
              <a:t>Thank you</a:t>
            </a:r>
            <a:r>
              <a:rPr lang="en-US" dirty="0"/>
              <a:t> for your attention</a:t>
            </a:r>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mc:AlternateContent xmlns:mc="http://schemas.openxmlformats.org/markup-compatibility/2006">
        <mc:Choice xmlns:a14="http://schemas.microsoft.com/office/drawing/2010/main" Requires="a14">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Message passing expands the receptive field by one hop per layer.</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For a GCN, </a:t>
                </a:r>
                <a14:m>
                  <m:oMath xmlns:m="http://schemas.openxmlformats.org/officeDocument/2006/math">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+1)</m:t>
                        </m:r>
                      </m:sup>
                    </m:s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ea typeface="Cambria Math" panose="02040503050406030204" pitchFamily="18" charset="0"/>
                        <a:cs typeface="Arial"/>
                      </a:rPr>
                      <m:t>𝜎</m:t>
                    </m:r>
                    <m:r>
                      <a:rPr lang="en-US" sz="172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725" b="0" i="1" smtClean="0">
                            <a:solidFill>
                              <a:srgbClr val="D6E0ED"/>
                            </a:solidFill>
                            <a:latin typeface="Cambria Math" panose="02040503050406030204" pitchFamily="18" charset="0"/>
                            <a:ea typeface="Cambria Math" panose="02040503050406030204" pitchFamily="18" charset="0"/>
                            <a:cs typeface="Arial"/>
                          </a:rPr>
                        </m:ctrlPr>
                      </m:accPr>
                      <m:e>
                        <m:r>
                          <a:rPr lang="en-US" sz="1725" b="0" i="1" smtClean="0">
                            <a:solidFill>
                              <a:srgbClr val="D6E0ED"/>
                            </a:solidFill>
                            <a:latin typeface="Cambria Math" panose="02040503050406030204" pitchFamily="18" charset="0"/>
                            <a:ea typeface="Cambria Math" panose="02040503050406030204" pitchFamily="18" charset="0"/>
                            <a:cs typeface="Arial"/>
                          </a:rPr>
                          <m:t>𝐴</m:t>
                        </m:r>
                      </m:e>
                    </m:acc>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m:t>
                        </m:r>
                      </m:sup>
                    </m:sSup>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𝑊</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m:t>
                        </m:r>
                      </m:sup>
                    </m:sSup>
                    <m:r>
                      <a:rPr lang="en-US" sz="1725" b="0" i="1" smtClean="0">
                        <a:solidFill>
                          <a:srgbClr val="D6E0ED"/>
                        </a:solidFill>
                        <a:latin typeface="Cambria Math" panose="02040503050406030204" pitchFamily="18" charset="0"/>
                        <a:ea typeface="Cambria Math" panose="02040503050406030204" pitchFamily="18" charset="0"/>
                        <a:cs typeface="Arial"/>
                      </a:rPr>
                      <m:t>)</m:t>
                    </m:r>
                  </m:oMath>
                </a14:m>
                <a:r>
                  <a:rPr lang="en-US" sz="1725" b="0" dirty="0">
                    <a:solidFill>
                      <a:srgbClr val="D6E0ED"/>
                    </a:solidFill>
                    <a:latin typeface="Arial"/>
                    <a:ea typeface="Arial"/>
                    <a:cs typeface="Arial"/>
                  </a:rPr>
                  <a:t>; repeated application of the normalized propagation operator can contract node-level variation.</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The empirical question is whether this contraction produces the same failure signature across architectures.</a:t>
                </a:r>
                <a:endParaRPr sz="1725" b="0" dirty="0">
                  <a:solidFill>
                    <a:srgbClr val="D6E0ED"/>
                  </a:solidFill>
                  <a:latin typeface="Arial"/>
                  <a:ea typeface="Arial"/>
                  <a:cs typeface="Arial"/>
                </a:endParaRPr>
              </a:p>
            </p:txBody>
          </p:sp>
        </mc:Choice>
        <mc:Fallback>
          <p:sp>
            <p:nvSpPr>
              <p:cNvPr id="3" name="s2-body">
                <a:extLst>
                  <a:ext uri="{FF2B5EF4-FFF2-40B4-BE49-F238E27FC236}">
                    <a16:creationId xmlns:a16="http://schemas.microsoft.com/office/drawing/2014/main" id="{7C8D0AC0-55AD-4AA1-9DA8-9DDBC0B05040}"/>
                  </a:ext>
                </a:extLst>
              </p:cNvPr>
              <p:cNvSpPr>
                <a:spLocks noGrp="1" noRot="1" noChangeAspect="1" noMove="1" noResize="1" noEditPoints="1" noAdjustHandles="1" noChangeArrowheads="1" noChangeShapeType="1" noTextEdit="1"/>
              </p:cNvSpPr>
              <p:nvPr/>
            </p:nvSpPr>
            <p:spPr>
              <a:xfrm>
                <a:off x="476250" y="1714500"/>
                <a:ext cx="5095875" cy="3667125"/>
              </a:xfrm>
              <a:prstGeom prst="rect">
                <a:avLst/>
              </a:prstGeom>
              <a:blipFill>
                <a:blip r:embed="rId3"/>
                <a:stretch>
                  <a:fillRect l="-2628" t="-1824"/>
                </a:stretch>
              </a:blipFill>
              <a:ln w="0">
                <a:solidFill>
                  <a:srgbClr val="000000">
                    <a:alpha val="0"/>
                  </a:srgbClr>
                </a:solidFill>
                <a:prstDash val="solid"/>
              </a:ln>
            </p:spPr>
            <p:txBody>
              <a:bodyPr/>
              <a:lstStyle/>
              <a:p>
                <a:r>
                  <a:rPr lang="en-CA">
                    <a:noFill/>
                  </a:rPr>
                  <a:t> </a:t>
                </a:r>
              </a:p>
            </p:txBody>
          </p:sp>
        </mc:Fallback>
      </mc:AlternateContent>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4"/>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4" y="3333750"/>
            <a:ext cx="5286375"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H1</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Accuracy degrades non-uniformly.</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H2</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Geometric collapse is not equivalent across models.</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H3</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dirty="0">
                <a:solidFill>
                  <a:srgbClr val="F8FAFC"/>
                </a:solidFill>
                <a:latin typeface="Arial"/>
                <a:ea typeface="Arial"/>
                <a:cs typeface="Arial"/>
              </a:rPr>
              <a:t>Cosine-distance geometry</a:t>
            </a:r>
          </a:p>
        </p:txBody>
      </p:sp>
      <mc:AlternateContent xmlns:mc="http://schemas.openxmlformats.org/markup-compatibility/2006" xmlns:a14="http://schemas.microsoft.com/office/drawing/2010/main">
        <mc:Choice Requires="a14">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14:m>
                  <m:oMathPara xmlns:m="http://schemas.openxmlformats.org/officeDocument/2006/math">
                    <m:oMathParaPr>
                      <m:jc m:val="left"/>
                    </m:oMathParaPr>
                    <m:oMath>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US" sz="1575" b="0" i="1" smtClean="0">
                          <a:solidFill>
                            <a:srgbClr val="D6E0ED"/>
                          </a:solidFill>
                          <a:latin typeface="Cambria Math" panose="02040503050406030204" pitchFamily="18" charset="0"/>
                          <a:cs typeface="Arial"/>
                        </a:rPr>
                        <m:t>=1−</m:t>
                      </m:r>
                      <m:r>
                        <m:rPr>
                          <m:sty m:val="p"/>
                        </m:rPr>
                        <a:rPr lang="en-US" sz="1575" b="0" i="0" smtClean="0">
                          <a:solidFill>
                            <a:srgbClr val="D6E0ED"/>
                          </a:solidFill>
                          <a:latin typeface="Cambria Math" panose="02040503050406030204" pitchFamily="18" charset="0"/>
                          <a:cs typeface="Arial"/>
                        </a:rPr>
                        <m:t>cos</m:t>
                      </m:r>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𝑖</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𝑗</m:t>
                          </m:r>
                        </m:sub>
                      </m:sSub>
                      <m:r>
                        <a:rPr lang="en-US" sz="1575" b="0" i="1" smtClean="0">
                          <a:solidFill>
                            <a:srgbClr val="D6E0ED"/>
                          </a:solidFill>
                          <a:latin typeface="Cambria Math" panose="02040503050406030204" pitchFamily="18" charset="0"/>
                          <a:cs typeface="Arial"/>
                        </a:rPr>
                        <m:t>)</m:t>
                      </m:r>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𝑀𝐴𝐷</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𝑚𝑒𝑎𝑛</m:t>
                          </m:r>
                        </m:e>
                        <m:sub>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CA" sz="1575" b="0" i="1" smtClean="0">
                              <a:solidFill>
                                <a:srgbClr val="D6E0ED"/>
                              </a:solidFill>
                              <a:latin typeface="Cambria Math" panose="02040503050406030204" pitchFamily="18" charset="0"/>
                              <a:ea typeface="Cambria Math" panose="02040503050406030204" pitchFamily="18" charset="0"/>
                              <a:cs typeface="Arial"/>
                            </a:rPr>
                            <m:t>≠</m:t>
                          </m:r>
                          <m:r>
                            <a:rPr lang="en-US" sz="1575" b="0" i="1" smtClean="0">
                              <a:solidFill>
                                <a:srgbClr val="D6E0ED"/>
                              </a:solidFill>
                              <a:latin typeface="Cambria Math" panose="02040503050406030204" pitchFamily="18" charset="0"/>
                              <a:ea typeface="Cambria Math" panose="02040503050406030204" pitchFamily="18" charset="0"/>
                              <a:cs typeface="Arial"/>
                            </a:rPr>
                            <m:t>0)</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Scale-invariant; lower values indicate directional collapse.</a:t>
                </a:r>
                <a:endParaRPr sz="1575" b="0" dirty="0">
                  <a:solidFill>
                    <a:srgbClr val="D6E0ED"/>
                  </a:solidFill>
                  <a:latin typeface="Arial"/>
                  <a:ea typeface="Arial"/>
                  <a:cs typeface="Arial"/>
                </a:endParaRPr>
              </a:p>
            </p:txBody>
          </p:sp>
        </mc:Choice>
        <mc:Fallback xmlns="">
          <p:sp>
            <p:nvSpPr>
              <p:cNvPr id="5" name="s7-mad-body">
                <a:extLst>
                  <a:ext uri="{FF2B5EF4-FFF2-40B4-BE49-F238E27FC236}">
                    <a16:creationId xmlns:a16="http://schemas.microsoft.com/office/drawing/2014/main" id="{805D3A81-F39B-4595-ABFF-31103E155164}"/>
                  </a:ext>
                </a:extLst>
              </p:cNvPr>
              <p:cNvSpPr>
                <a:spLocks noGrp="1" noRot="1" noChangeAspect="1" noMove="1" noResize="1" noEditPoints="1" noAdjustHandles="1" noChangeArrowheads="1" noChangeShapeType="1" noTextEdit="1"/>
              </p:cNvSpPr>
              <p:nvPr/>
            </p:nvSpPr>
            <p:spPr>
              <a:xfrm>
                <a:off x="390525" y="3381375"/>
                <a:ext cx="4953000" cy="1428750"/>
              </a:xfrm>
              <a:prstGeom prst="rect">
                <a:avLst/>
              </a:prstGeom>
              <a:blipFill>
                <a:blip r:embed="rId3"/>
                <a:stretch>
                  <a:fillRect l="-2457"/>
                </a:stretch>
              </a:blipFill>
              <a:ln w="0">
                <a:solidFill>
                  <a:srgbClr val="000000">
                    <a:alpha val="0"/>
                  </a:srgbClr>
                </a:solidFill>
                <a:prstDash val="solid"/>
              </a:ln>
            </p:spPr>
            <p:txBody>
              <a:bodyPr/>
              <a:lstStyle/>
              <a:p>
                <a:r>
                  <a:rPr lang="en-CA">
                    <a:noFill/>
                  </a:rPr>
                  <a:t> </a:t>
                </a:r>
              </a:p>
            </p:txBody>
          </p:sp>
        </mc:Fallback>
      </mc:AlternateContent>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mc:AlternateContent xmlns:mc="http://schemas.openxmlformats.org/markup-compatibility/2006" xmlns:a14="http://schemas.microsoft.com/office/drawing/2010/main">
        <mc:Choice Requires="a14">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𝐸</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f>
                        <m:fPr>
                          <m:ctrlPr>
                            <a:rPr lang="en-US" sz="1575" b="0" i="1" smtClean="0">
                              <a:solidFill>
                                <a:srgbClr val="D6E0ED"/>
                              </a:solidFill>
                              <a:latin typeface="Cambria Math" panose="02040503050406030204" pitchFamily="18" charset="0"/>
                              <a:cs typeface="Arial"/>
                            </a:rPr>
                          </m:ctrlPr>
                        </m:fPr>
                        <m:num>
                          <m:r>
                            <a:rPr lang="en-US" sz="1575" b="0" i="1" smtClean="0">
                              <a:solidFill>
                                <a:srgbClr val="D6E0ED"/>
                              </a:solidFill>
                              <a:latin typeface="Cambria Math" panose="02040503050406030204" pitchFamily="18" charset="0"/>
                              <a:cs typeface="Arial"/>
                            </a:rPr>
                            <m:t>1</m:t>
                          </m:r>
                        </m:num>
                        <m:den>
                          <m:r>
                            <a:rPr lang="en-US" sz="1575" b="0" i="1" smtClean="0">
                              <a:solidFill>
                                <a:srgbClr val="D6E0ED"/>
                              </a:solidFill>
                              <a:latin typeface="Cambria Math" panose="02040503050406030204" pitchFamily="18" charset="0"/>
                              <a:cs typeface="Arial"/>
                            </a:rPr>
                            <m:t>2</m:t>
                          </m:r>
                          <m:r>
                            <a:rPr lang="en-US" sz="1575" b="0" i="1" smtClean="0">
                              <a:solidFill>
                                <a:srgbClr val="D6E0ED"/>
                              </a:solidFill>
                              <a:latin typeface="Cambria Math" panose="02040503050406030204" pitchFamily="18" charset="0"/>
                              <a:cs typeface="Arial"/>
                            </a:rPr>
                            <m:t>𝑝</m:t>
                          </m:r>
                        </m:den>
                      </m:f>
                      <m:nary>
                        <m:naryPr>
                          <m:chr m:val="∑"/>
                          <m:supHide m:val="on"/>
                          <m:ctrlPr>
                            <a:rPr lang="en-US" sz="1575" b="0" i="1" smtClean="0">
                              <a:solidFill>
                                <a:srgbClr val="D6E0ED"/>
                              </a:solidFill>
                              <a:latin typeface="Cambria Math" panose="02040503050406030204" pitchFamily="18" charset="0"/>
                              <a:cs typeface="Arial"/>
                            </a:rPr>
                          </m:ctrlPr>
                        </m:naryPr>
                        <m:sub>
                          <m:r>
                            <a:rPr lang="en-US" sz="1575" b="0" i="1" smtClean="0">
                              <a:solidFill>
                                <a:srgbClr val="D6E0ED"/>
                              </a:solidFill>
                              <a:latin typeface="Cambria Math" panose="02040503050406030204" pitchFamily="18" charset="0"/>
                              <a:cs typeface="Arial"/>
                            </a:rPr>
                            <m:t>(</m:t>
                          </m:r>
                          <m:r>
                            <a:rPr lang="en-US" sz="1575" b="0" i="1" smtClean="0">
                              <a:solidFill>
                                <a:srgbClr val="D6E0ED"/>
                              </a:solidFill>
                              <a:latin typeface="Cambria Math" panose="02040503050406030204" pitchFamily="18" charset="0"/>
                              <a:cs typeface="Arial"/>
                            </a:rPr>
                            <m:t>𝑖</m:t>
                          </m:r>
                          <m:r>
                            <a:rPr lang="en-US" sz="1575" b="0" i="1" smtClean="0">
                              <a:solidFill>
                                <a:srgbClr val="D6E0ED"/>
                              </a:solidFill>
                              <a:latin typeface="Cambria Math" panose="02040503050406030204" pitchFamily="18" charset="0"/>
                              <a:cs typeface="Arial"/>
                            </a:rPr>
                            <m:t>,</m:t>
                          </m:r>
                          <m:r>
                            <m:rPr>
                              <m:brk m:alnAt="7"/>
                            </m:rPr>
                            <a:rPr lang="en-US" sz="1575" i="1">
                              <a:solidFill>
                                <a:srgbClr val="D6E0ED"/>
                              </a:solidFill>
                              <a:latin typeface="Cambria Math" panose="02040503050406030204" pitchFamily="18" charset="0"/>
                              <a:cs typeface="Arial"/>
                            </a:rPr>
                            <m:t>𝑗</m:t>
                          </m:r>
                          <m:r>
                            <m:rPr>
                              <m:brk m:alnAt="7"/>
                            </m:rPr>
                            <a:rPr lang="en-US" sz="1575" b="0" i="1" smtClean="0">
                              <a:solidFill>
                                <a:srgbClr val="D6E0ED"/>
                              </a:solidFill>
                              <a:latin typeface="Cambria Math" panose="02040503050406030204" pitchFamily="18" charset="0"/>
                              <a:cs typeface="Arial"/>
                            </a:rPr>
                            <m:t>)</m:t>
                          </m:r>
                          <m:r>
                            <m:rPr>
                              <m:brk m:alnAt="7"/>
                            </m:rPr>
                            <a:rPr lang="en-US" sz="157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575" b="0" i="1" smtClean="0">
                                  <a:solidFill>
                                    <a:srgbClr val="D6E0ED"/>
                                  </a:solidFill>
                                  <a:latin typeface="Cambria Math" panose="02040503050406030204" pitchFamily="18" charset="0"/>
                                  <a:ea typeface="Cambria Math" panose="02040503050406030204" pitchFamily="18" charset="0"/>
                                  <a:cs typeface="Arial"/>
                                </a:rPr>
                              </m:ctrlPr>
                            </m:accPr>
                            <m:e>
                              <m:r>
                                <a:rPr lang="en-US" sz="1575" b="0" i="1" smtClean="0">
                                  <a:solidFill>
                                    <a:srgbClr val="D6E0ED"/>
                                  </a:solidFill>
                                  <a:latin typeface="Cambria Math" panose="02040503050406030204" pitchFamily="18" charset="0"/>
                                  <a:ea typeface="Cambria Math" panose="02040503050406030204" pitchFamily="18" charset="0"/>
                                  <a:cs typeface="Arial"/>
                                </a:rPr>
                                <m:t>𝐸</m:t>
                              </m:r>
                            </m:e>
                          </m:acc>
                        </m:sub>
                        <m:sup/>
                        <m:e>
                          <m:sSubSup>
                            <m:sSubSupPr>
                              <m:ctrlPr>
                                <a:rPr lang="en-US" sz="1575" i="1">
                                  <a:solidFill>
                                    <a:srgbClr val="D6E0ED"/>
                                  </a:solidFill>
                                  <a:latin typeface="Cambria Math" panose="02040503050406030204" pitchFamily="18" charset="0"/>
                                  <a:cs typeface="Arial"/>
                                </a:rPr>
                              </m:ctrlPr>
                            </m:sSubSupPr>
                            <m:e>
                              <m:d>
                                <m:dPr>
                                  <m:begChr m:val="‖"/>
                                  <m:endChr m:val="‖"/>
                                  <m:ctrlPr>
                                    <a:rPr lang="en-US" sz="1575" i="1">
                                      <a:solidFill>
                                        <a:srgbClr val="D6E0ED"/>
                                      </a:solidFill>
                                      <a:latin typeface="Cambria Math" panose="02040503050406030204" pitchFamily="18" charset="0"/>
                                      <a:cs typeface="Arial"/>
                                    </a:rPr>
                                  </m:ctrlPr>
                                </m:dPr>
                                <m:e>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𝑖</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𝑖</m:t>
                                                  </m:r>
                                                </m:sub>
                                              </m:sSub>
                                            </m:e>
                                          </m:acc>
                                        </m:e>
                                      </m:rad>
                                    </m:den>
                                  </m:f>
                                  <m:r>
                                    <a:rPr lang="en-US" sz="1575" i="1">
                                      <a:solidFill>
                                        <a:srgbClr val="D6E0ED"/>
                                      </a:solidFill>
                                      <a:latin typeface="Cambria Math" panose="02040503050406030204" pitchFamily="18" charset="0"/>
                                      <a:cs typeface="Arial"/>
                                    </a:rPr>
                                    <m:t>−</m:t>
                                  </m:r>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𝑗</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𝑗</m:t>
                                                  </m:r>
                                                </m:sub>
                                              </m:sSub>
                                            </m:e>
                                          </m:acc>
                                        </m:e>
                                      </m:rad>
                                    </m:den>
                                  </m:f>
                                </m:e>
                              </m:d>
                            </m:e>
                            <m:sub>
                              <m:r>
                                <a:rPr lang="en-US" sz="1575" i="1">
                                  <a:solidFill>
                                    <a:srgbClr val="D6E0ED"/>
                                  </a:solidFill>
                                  <a:latin typeface="Cambria Math" panose="02040503050406030204" pitchFamily="18" charset="0"/>
                                  <a:cs typeface="Arial"/>
                                </a:rPr>
                                <m:t>2</m:t>
                              </m:r>
                            </m:sub>
                            <m:sup>
                              <m:r>
                                <a:rPr lang="en-US" sz="1575" i="1">
                                  <a:solidFill>
                                    <a:srgbClr val="D6E0ED"/>
                                  </a:solidFill>
                                  <a:latin typeface="Cambria Math" panose="02040503050406030204" pitchFamily="18" charset="0"/>
                                  <a:cs typeface="Arial"/>
                                </a:rPr>
                                <m:t>2</m:t>
                              </m:r>
                            </m:sup>
                          </m:sSubSup>
                        </m:e>
                      </m:nary>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Fixed augmented graph; sensitive to representation magnitude.</a:t>
                </a:r>
                <a:endParaRPr sz="1575" b="0" dirty="0">
                  <a:solidFill>
                    <a:srgbClr val="D6E0ED"/>
                  </a:solidFill>
                  <a:latin typeface="Arial"/>
                  <a:ea typeface="Arial"/>
                  <a:cs typeface="Arial"/>
                </a:endParaRPr>
              </a:p>
            </p:txBody>
          </p:sp>
        </mc:Choice>
        <mc:Fallback xmlns="">
          <p:sp>
            <p:nvSpPr>
              <p:cNvPr id="9" name="s7-energy-body">
                <a:extLst>
                  <a:ext uri="{FF2B5EF4-FFF2-40B4-BE49-F238E27FC236}">
                    <a16:creationId xmlns:a16="http://schemas.microsoft.com/office/drawing/2014/main" id="{F07FFBBD-E9BA-4DB8-8A5B-C9E03B5CEE44}"/>
                  </a:ext>
                </a:extLst>
              </p:cNvPr>
              <p:cNvSpPr>
                <a:spLocks noGrp="1" noRot="1" noChangeAspect="1" noMove="1" noResize="1" noEditPoints="1" noAdjustHandles="1" noChangeArrowheads="1" noChangeShapeType="1" noTextEdit="1"/>
              </p:cNvSpPr>
              <p:nvPr/>
            </p:nvSpPr>
            <p:spPr>
              <a:xfrm>
                <a:off x="6429375" y="3381375"/>
                <a:ext cx="4953000" cy="1428750"/>
              </a:xfrm>
              <a:prstGeom prst="rect">
                <a:avLst/>
              </a:prstGeom>
              <a:blipFill>
                <a:blip r:embed="rId4"/>
                <a:stretch>
                  <a:fillRect l="-2583" b="-851"/>
                </a:stretch>
              </a:blipFill>
              <a:ln w="0">
                <a:solidFill>
                  <a:srgbClr val="000000">
                    <a:alpha val="0"/>
                  </a:srgbClr>
                </a:solidFill>
                <a:prstDash val="solid"/>
              </a:ln>
            </p:spPr>
            <p:txBody>
              <a:bodyPr/>
              <a:lstStyle/>
              <a:p>
                <a:r>
                  <a:rPr lang="en-CA">
                    <a:noFill/>
                  </a:rPr>
                  <a:t> </a:t>
                </a:r>
              </a:p>
            </p:txBody>
          </p:sp>
        </mc:Fallback>
      </mc:AlternateContent>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dirty="0">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8858250" y="15430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GCN + JK</a:t>
            </a:r>
            <a:r>
              <a:rPr lang="en-CA" sz="1350" b="0" dirty="0">
                <a:solidFill>
                  <a:srgbClr val="D6E0ED"/>
                </a:solidFill>
                <a:latin typeface="Arial"/>
                <a:ea typeface="Arial"/>
                <a:cs typeface="Arial"/>
              </a:rPr>
              <a:t> · </a:t>
            </a:r>
            <a:r>
              <a:rPr sz="1350" b="0" dirty="0">
                <a:solidFill>
                  <a:srgbClr val="D6E0ED"/>
                </a:solidFill>
                <a:latin typeface="Arial"/>
                <a:ea typeface="Arial"/>
                <a:cs typeface="Arial"/>
              </a:rPr>
              <a:t>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dirty="0">
                <a:solidFill>
                  <a:srgbClr val="38BDF8"/>
                </a:solidFill>
                <a:latin typeface="Arial"/>
                <a:ea typeface="Arial"/>
                <a:cs typeface="Arial"/>
              </a:rPr>
              <a:t>JK transfers to GAT, not to </a:t>
            </a:r>
            <a:r>
              <a:rPr sz="1200" b="1" dirty="0" err="1">
                <a:solidFill>
                  <a:srgbClr val="38BDF8"/>
                </a:solidFill>
                <a:latin typeface="Arial"/>
                <a:ea typeface="Arial"/>
                <a:cs typeface="Arial"/>
              </a:rPr>
              <a:t>GraphSAGE</a:t>
            </a:r>
            <a:endParaRPr sz="1200" b="1" dirty="0">
              <a:solidFill>
                <a:srgbClr val="38BDF8"/>
              </a:solidFill>
              <a:latin typeface="Arial"/>
              <a:ea typeface="Arial"/>
              <a:cs typeface="Arial"/>
            </a:endParaRP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8858250" y="32194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GAT + JK · 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8004312" y="4895850"/>
            <a:ext cx="3378063"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err="1">
                <a:solidFill>
                  <a:srgbClr val="D6E0ED"/>
                </a:solidFill>
                <a:latin typeface="Arial"/>
                <a:ea typeface="Arial"/>
                <a:cs typeface="Arial"/>
              </a:rPr>
              <a:t>GraphSAGE</a:t>
            </a:r>
            <a:r>
              <a:rPr sz="1350" b="0" dirty="0">
                <a:solidFill>
                  <a:srgbClr val="D6E0ED"/>
                </a:solidFill>
                <a:latin typeface="Arial"/>
                <a:ea typeface="Arial"/>
                <a:cs typeface="Arial"/>
              </a:rPr>
              <a:t> + JK · macro-F1</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Depth failure is architecture-specific: two architectures never train, one trains and collapses.</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Accuracy and representation geometry must be read together, and before training as well as after.</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243</TotalTime>
  <Words>4300</Words>
  <Application>Microsoft Office PowerPoint</Application>
  <DocSecurity>0</DocSecurity>
  <PresentationFormat>Widescreen</PresentationFormat>
  <Paragraphs>347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 Math</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12</cp:revision>
  <dcterms:created xsi:type="dcterms:W3CDTF">2026-08-01T20:11:46Z</dcterms:created>
  <dcterms:modified xsi:type="dcterms:W3CDTF">2026-08-03T17:29:46Z</dcterms:modified>
</cp:coreProperties>
</file>