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21"/>
    <p:sldId id="259" r:id="rId4"/>
    <p:sldId id="260" r:id="rId5"/>
    <p:sldId id="261" r:id="rId6"/>
    <p:sldId id="262" r:id="rId7"/>
    <p:sldId id="263" r:id="rId8"/>
    <p:sldId id="264" r:id="rId9"/>
    <p:sldId id="265" r:id="rId10"/>
    <p:sldId id="266" r:id="rId22"/>
    <p:sldId id="267" r:id="rId11"/>
    <p:sldId id="268" r:id="rId23"/>
    <p:sldId id="269" r:id="rId12"/>
    <p:sldId id="270" r:id="rId13"/>
    <p:sldId id="271" r:id="rId24"/>
    <p:sldId id="272" r:id="rId14"/>
    <p:sldId id="27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305" y="55"/>
      </p:cViewPr>
      <p:guideLst/>
    </p:cSldViewPr>
  </p:slideViewPr>
  <p:notesTextViewPr>
    <p:cViewPr>
      <p:scale>
        <a:sx n="1" d="1"/>
        <a:sy n="1" d="1"/>
      </p:scale>
      <p:origin x="0" y="-391"/>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0:40</a:t>
            </a:r>
          </a:p>
          <a:p>
            <a:endParaRPr dirty="0"/>
          </a:p>
          <a:p>
            <a:r>
              <a:rPr dirty="0"/>
              <a:t>Introduce the study as an empirical examination of architecture-dependent </a:t>
            </a:r>
            <a:r>
              <a:rPr dirty="0" err="1"/>
              <a:t>oversmoothing</a:t>
            </a:r>
            <a:r>
              <a:rPr dirty="0"/>
              <a:t>. The central claim is deliberately limited: increasing depth does not generate one universal failure mode. The observed accuracy, geometry, and training dynamics depend on the propagation architecture and on whether information-preserving pathways are present.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1:00</a:t>
            </a:r>
          </a:p>
          <a:p>
            <a:endParaRPr dirty="0"/>
          </a:p>
          <a:p>
            <a:r>
              <a:rPr dirty="0"/>
              <a:t>Motivate the analysis through the depth–expressivity trade-off. Each layer increases graph context, but repeated aggregation can contract variation in the hidden state. The equation is shown for the GCN case as a representative operator, not as a universal description of </a:t>
            </a:r>
            <a:r>
              <a:rPr dirty="0" err="1"/>
              <a:t>GraphSAGE</a:t>
            </a:r>
            <a:r>
              <a:rPr dirty="0"/>
              <a:t>, GAT, or GCNII. The toy embedding panel is illustrative only; the subsequent Cora experiments provide the evidence.</a:t>
            </a:r>
          </a:p>
          <a:p>
            <a:endParaRPr dirty="0"/>
          </a:p>
          <a:p>
            <a:r>
              <a:rPr dirty="0"/>
              <a:t>[Sources]</a:t>
            </a:r>
          </a:p>
          <a:p>
            <a:r>
              <a:rPr dirty="0"/>
              <a:t>- report/CSE705_GNN_ARAK_WU1261.ipynb — Sections 1.3 and 2.2</a:t>
            </a:r>
          </a:p>
          <a:p>
            <a:r>
              <a:rPr dirty="0"/>
              <a:t>- figures/karate_club_collapse.pdf</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1:00</a:t>
            </a:r>
          </a:p>
          <a:p>
            <a:endParaRPr dirty="0"/>
          </a:p>
          <a:p>
            <a:r>
              <a:rPr dirty="0"/>
              <a:t>State the primary question and the three hypotheses before presenting results. H1 concerns predictive behavior, H2 concerns representation geometry, and H3 concerns intervention specificity. These hypotheses prevent the discussion from reducing </a:t>
            </a:r>
            <a:r>
              <a:rPr dirty="0" err="1"/>
              <a:t>oversmoothing</a:t>
            </a:r>
            <a:r>
              <a:rPr dirty="0"/>
              <a:t> to a single accuracy curve and make clear what evidence would distinguish architectures.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0:55</a:t>
            </a:r>
          </a:p>
          <a:p>
            <a:endParaRPr dirty="0"/>
          </a:p>
          <a:p>
            <a:r>
              <a:rPr dirty="0"/>
              <a:t>Define the task and the controlled benchmark. The graph, node features, labels, and Planetoid split remain fixed. Consequently, the principal experimental factors are architecture, depth, seed, and mitigation. The training set contains only 140 labeled nodes, which makes representation quality consequential without changing the evaluation protocol across runs.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1:00</a:t>
            </a:r>
          </a:p>
          <a:p>
            <a:endParaRPr dirty="0"/>
          </a:p>
          <a:p>
            <a:r>
              <a:rPr dirty="0"/>
              <a:t>Treat the four models as controlled architectural contrasts. GCN supplies the canonical normalized propagation baseline. </a:t>
            </a:r>
            <a:r>
              <a:rPr dirty="0" err="1"/>
              <a:t>GraphSAGE</a:t>
            </a:r>
            <a:r>
              <a:rPr dirty="0"/>
              <a:t> changes the combination of self and neighborhood information. GAT introduces learned neighbor weights. GCNII is not merely another baseline; its initial residual and identity mapping explicitly address trainability and information preservation at depth.</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1:05</a:t>
            </a:r>
          </a:p>
          <a:p>
            <a:endParaRPr dirty="0"/>
          </a:p>
          <a:p>
            <a:r>
              <a:rPr dirty="0"/>
              <a:t>Describe the protocol as three linked analyses. The factorial sweep estimates depth trends across four architectures and five depths using ten independent seeds. Representation diagnostics are captured before learning, at the validation-selected checkpoint, and at the final epoch. The intervention analysis then tests whether common mitigation strategies recover the deep regime under the same evaluation contract.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1:15</a:t>
            </a:r>
          </a:p>
          <a:p>
            <a:endParaRPr dirty="0"/>
          </a:p>
          <a:p>
            <a:r>
              <a:rPr dirty="0"/>
              <a:t>Define both instruments precisely. MAD is the mean non-zero cosine distance between node embeddings and is invariant to positive rescaling. Dirichlet energy is computed per feature dimension on one fixed augmented Cora graph, with degree-normalized endpoints; it changes quadratically with representation magnitude. Their disagreement is therefore interpretable rather than contradictory</a:t>
            </a:r>
            <a:r>
              <a:rPr lang="en-US"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1:15</a:t>
            </a:r>
          </a:p>
          <a:p>
            <a:endParaRPr dirty="0"/>
          </a:p>
          <a:p>
            <a:r>
              <a:rPr dirty="0"/>
              <a:t>Report the first result at two levels. Conventional architectures peak in the shallow regime and deteriorate beyond four layers. In contrast, GCNII attains 83.26 percent mean test accuracy at 32 layers. The appropriate inference is not that depth is beneficial in general, but that the effect of depth is conditional on the architecture used to propagate and preserve information.</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1:05</a:t>
            </a:r>
          </a:p>
          <a:p>
            <a:endParaRPr dirty="0"/>
          </a:p>
          <a:p>
            <a:r>
              <a:rPr dirty="0"/>
              <a:t>Use MAD to reject a single-mechanism account of deep failure. </a:t>
            </a:r>
            <a:r>
              <a:rPr dirty="0" err="1"/>
              <a:t>GraphSAGE</a:t>
            </a:r>
            <a:r>
              <a:rPr dirty="0"/>
              <a:t> and GAT approach directional collapse at high depth, whereas GCN retains greater angular diversity despite losing predictive accuracy. Consequently, similar accuracy endpoints do not establish equivalent internal states, and accuracy alone cannot diagnose </a:t>
            </a:r>
            <a:r>
              <a:rPr dirty="0" err="1"/>
              <a:t>oversmoothing</a:t>
            </a:r>
            <a:r>
              <a:rPr dirty="0"/>
              <a:t>.</a:t>
            </a:r>
          </a:p>
          <a:p>
            <a:endParaRPr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1:10</a:t>
            </a:r>
          </a:p>
          <a:p>
            <a:endParaRPr dirty="0"/>
          </a:p>
          <a:p>
            <a:r>
              <a:rPr dirty="0"/>
              <a:t>The three capture points separate propagation from optimization. Epoch zero isolates architecture-dependent transformations before parameter learning. GCN and GAT already lose direction and magnitude with increasing depth, while </a:t>
            </a:r>
            <a:r>
              <a:rPr dirty="0" err="1"/>
              <a:t>GraphSAGE</a:t>
            </a:r>
            <a:r>
              <a:rPr dirty="0"/>
              <a:t> mainly loses direction. Checkpoint and final states then reveal what optimization restores, preserves, or destabilizes.</a:t>
            </a:r>
          </a:p>
          <a:p>
            <a:endParaRPr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1:10</a:t>
            </a:r>
          </a:p>
          <a:p>
            <a:endParaRPr dirty="0"/>
          </a:p>
          <a:p>
            <a:r>
              <a:rPr dirty="0"/>
              <a:t>Characterize the GCN signature as a contraction–amplification transition. At 32 layers, the selected checkpoint exhibits very low energy through much of the hidden band, followed by a large increase near the output. Nine of ten seeds show the early-band collapse. The representation-level pattern is robust, but attributing it to a particular parameter or gradient mechanism would require additional causal analysis.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1:05</a:t>
            </a:r>
          </a:p>
          <a:p>
            <a:endParaRPr dirty="0"/>
          </a:p>
          <a:p>
            <a:r>
              <a:rPr dirty="0"/>
              <a:t>Compare interventions at 32 layers. Jumping Knowledge produces the largest tested recovery at 73.13 percent, followed by </a:t>
            </a:r>
            <a:r>
              <a:rPr dirty="0" err="1"/>
              <a:t>PairNorm</a:t>
            </a:r>
            <a:r>
              <a:rPr dirty="0"/>
              <a:t> at 58.07 percent. Residual connections alone reach 19.25 percent, and the </a:t>
            </a:r>
            <a:r>
              <a:rPr dirty="0" err="1"/>
              <a:t>PairNorm</a:t>
            </a:r>
            <a:r>
              <a:rPr dirty="0"/>
              <a:t>-plus-residual configuration reaches 24.36 percent, close to the 24.1 percent unmitigated baseline. These results support mechanism-specific rather than interchangeable mitigation.</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1:05</a:t>
            </a:r>
          </a:p>
          <a:p>
            <a:endParaRPr dirty="0"/>
          </a:p>
          <a:p>
            <a:r>
              <a:rPr dirty="0"/>
              <a:t>Interpret GCNII as the constructive contrast. Initial residuals repeatedly reintroduce the projected input, while identity mapping limits destructive transformation across depth. GCNII reaches 83.26 percent mean test accuracy at 32 layers and maintains near-flat geometric trends. This is consistent with information preservation, although the experiment does not identify a unique causal mechanism.</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1:05</a:t>
            </a:r>
          </a:p>
          <a:p>
            <a:endParaRPr dirty="0"/>
          </a:p>
          <a:p>
            <a:r>
              <a:rPr dirty="0"/>
              <a:t>Close with three bounded conclusions. First, depth-related failure is architecture-specific. Second, accuracy must be interpreted with representation geometry. Third, the present evidence is restricted to Cora, a fixed split, and ten seeds, and it does not establish parameter-level causality. The next research step is transfer testing on larger and </a:t>
            </a:r>
            <a:r>
              <a:rPr dirty="0" err="1"/>
              <a:t>heterophilous</a:t>
            </a:r>
            <a:r>
              <a:rPr dirty="0"/>
              <a:t> graphs together with direct gradient and parameter diagnostics.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1:05</a:t>
            </a:r>
          </a:p>
          <a:p>
            <a:endParaRPr dirty="0"/>
          </a:p>
          <a:p>
            <a:r>
              <a:rPr dirty="0"/>
              <a:t>State the problem the study is built to solve. A deep model can fail because it never trained, or because it trained and then collapsed. Both produce accuracy near the majority-class floor, so accuracy cannot tell them apart. Separating them requires measuring the representation before training as well as after, which is what the three capture points provide.</a:t>
            </a:r>
            <a:r>
              <a:rPr dirty="0" err="1"/>
              <a:t/>
            </a:r>
            <a:r>
              <a:rPr dirty="0"/>
              <a:t/>
            </a:r>
          </a:p>
          <a:p>
            <a:endParaRPr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1:30</a:t>
            </a:r>
          </a:p>
          <a:p>
            <a:endParaRPr dirty="0"/>
          </a:p>
          <a:p>
            <a:r>
              <a:rPr dirty="0"/>
              <a:t>This is the study’s central negative result. At depth 32 GraphSAGE and GAT do not train at all: the training loss never leaves ln 7, the uninformed floor, moving only 0.01 to 0.02 nats; early stopping exhausts its patience almost immediately, at 101 to 168 epochs against GCN’s 315 to 883; and the checkpoint MAD is indistinguishable from the epoch-0 MAD. None of the three is computed from the others, which is what makes their agreement convergence rather than circularity. Attributing this failure to oversmoothing would be incorrect, because nothing was learned to oversmooth.</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1:20</a:t>
            </a:r>
          </a:p>
          <a:p>
            <a:endParaRPr dirty="0"/>
          </a:p>
          <a:p>
            <a:r>
              <a:rPr dirty="0"/>
              <a:t>Explain the metric disagreement rather than only reporting it. A singular-value decomposition at depth 16, over three seeds, shows GraphSAGE’s representation is exactly rank-1, and its dominant direction is the constant vector at cosine 1.0000, against 0.9512 for the square-root-degree direction. Because Cora’s degrees range from 2 to 169, the augmented Laplacian’s null space is the square-root-degree direction, not the constant vector. GraphSAGE therefore collapses onto a direction on which Dirichlet energy is not zero, which is why MAD reaches zero while energy plateaus near 19.</a:t>
            </a:r>
            <a:r>
              <a:rPr dirty="0" err="1"/>
              <a:t/>
            </a:r>
            <a:r>
              <a:rPr dirty="0"/>
              <a:t/>
            </a:r>
            <a:r>
              <a:rPr dirty="0" err="1"/>
              <a:t/>
            </a:r>
            <a:r>
              <a:rPr dirty="0"/>
              <a:t/>
            </a:r>
          </a:p>
          <a:p>
            <a:endParaRPr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1:15</a:t>
            </a:r>
          </a:p>
          <a:p>
            <a:endParaRPr dirty="0"/>
          </a:p>
          <a:p>
            <a:r>
              <a:rPr dirty="0"/>
              <a:t>Report the transfer experiment. Jumping Knowledge was selected on GCN and then run on GraphSAGE and GAT across the full depth grid, ten seeds each. On GAT it recovers to 72.09 percent, within one standard deviation of GCN’s 73.13, and macro-F1 recovers to essentially the same value. On GraphSAGE it reaches only 40.47 percent with macro-F1 0.2611. All ten seeds sit above the majority-class floor, so the gain is real, but it is roughly a third of what the same mitigation achieves elsewhere and is not spread evenly across classes. The effective mitigation therefore depends on the architecture, not only on the depth.</a:t>
            </a:r>
            <a:r>
              <a:rPr dirty="0" err="1"/>
              <a:t/>
            </a:r>
            <a:r>
              <a:rPr dirty="0"/>
              <a:t/>
            </a:r>
            <a:r>
              <a:rPr dirty="0" err="1"/>
              <a:t/>
            </a:r>
            <a:r>
              <a:rPr dirty="0"/>
              <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5" name="cover-kicker">
            <a:extLst>
              <a:ext uri="{FF2B5EF4-FFF2-40B4-BE49-F238E27FC236}">
                <a16:creationId xmlns:a16="http://schemas.microsoft.com/office/drawing/2014/main" id="{98B71F65-2938-4749-9F2A-05E769D8064E}"/>
              </a:ext>
            </a:extLst>
          </p:cNvPr>
          <p:cNvSpPr>
            <a:spLocks noGrp="1"/>
          </p:cNvSpPr>
          <p:nvPr/>
        </p:nvSpPr>
        <p:spPr>
          <a:xfrm>
            <a:off x="571500" y="495300"/>
            <a:ext cx="542925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800" b="1">
                <a:solidFill>
                  <a:srgbClr val="3D8DFF"/>
                </a:solidFill>
                <a:latin typeface="Arial"/>
                <a:ea typeface="Arial"/>
                <a:cs typeface="Arial"/>
              </a:defRPr>
            </a:pPr>
            <a:r>
              <a:rPr sz="1500" b="1" dirty="0">
                <a:solidFill>
                  <a:srgbClr val="38BDF8"/>
                </a:solidFill>
                <a:latin typeface="Arial"/>
                <a:ea typeface="Arial"/>
                <a:cs typeface="Arial"/>
              </a:rPr>
              <a:t>CSE 705 · </a:t>
            </a:r>
            <a:r>
              <a:rPr lang="en-US" sz="1500" b="1" dirty="0">
                <a:solidFill>
                  <a:srgbClr val="38BDF8"/>
                </a:solidFill>
                <a:latin typeface="Arial"/>
                <a:ea typeface="Arial"/>
                <a:cs typeface="Arial"/>
              </a:rPr>
              <a:t>Deep Learning</a:t>
            </a:r>
            <a:endParaRPr sz="1500" b="1" dirty="0">
              <a:solidFill>
                <a:srgbClr val="38BDF8"/>
              </a:solidFill>
              <a:latin typeface="Arial"/>
              <a:ea typeface="Arial"/>
              <a:cs typeface="Arial"/>
            </a:endParaRPr>
          </a:p>
        </p:txBody>
      </p:sp>
      <p:sp>
        <p:nvSpPr>
          <p:cNvPr id="2" name="cover-title">
            <a:extLst>
              <a:ext uri="{FF2B5EF4-FFF2-40B4-BE49-F238E27FC236}">
                <a16:creationId xmlns:a16="http://schemas.microsoft.com/office/drawing/2014/main" id="{EA2C7C3B-5FEE-499C-9393-EDBA4AFAAA4C}"/>
              </a:ext>
            </a:extLst>
          </p:cNvPr>
          <p:cNvSpPr>
            <a:spLocks noGrp="1"/>
          </p:cNvSpPr>
          <p:nvPr/>
        </p:nvSpPr>
        <p:spPr>
          <a:xfrm>
            <a:off x="571500" y="1504950"/>
            <a:ext cx="9239250" cy="2381250"/>
          </a:xfrm>
          <a:prstGeom prst="rect">
            <a:avLst/>
          </a:prstGeom>
          <a:solidFill>
            <a:srgbClr val="000000">
              <a:alpha val="0"/>
            </a:srgbClr>
          </a:solidFill>
          <a:ln w="0">
            <a:solidFill>
              <a:srgbClr val="000000">
                <a:alpha val="0"/>
              </a:srgbClr>
            </a:solidFill>
            <a:prstDash val="solid"/>
          </a:ln>
        </p:spPr>
        <p:txBody>
          <a:bodyPr lIns="0" tIns="0" rIns="0" bIns="0" anchor="b"/>
          <a:lstStyle/>
          <a:p>
            <a:pPr algn="l">
              <a:buNone/>
              <a:defRPr sz="5400" b="1">
                <a:solidFill>
                  <a:srgbClr val="111111"/>
                </a:solidFill>
                <a:latin typeface="Arial"/>
                <a:ea typeface="Arial"/>
                <a:cs typeface="Arial"/>
              </a:defRPr>
            </a:pPr>
            <a:r>
              <a:rPr sz="5850" b="1">
                <a:solidFill>
                  <a:srgbClr val="F8FAFC"/>
                </a:solidFill>
                <a:latin typeface="Arial"/>
                <a:ea typeface="Arial"/>
                <a:cs typeface="Arial"/>
              </a:rPr>
              <a:t>Architecture-dependent</a:t>
            </a:r>
          </a:p>
          <a:p>
            <a:pPr algn="l">
              <a:buNone/>
              <a:defRPr sz="5400" b="1">
                <a:solidFill>
                  <a:srgbClr val="111111"/>
                </a:solidFill>
                <a:latin typeface="Arial"/>
                <a:ea typeface="Arial"/>
                <a:cs typeface="Arial"/>
              </a:defRPr>
            </a:pPr>
            <a:r>
              <a:rPr sz="5850" b="1">
                <a:solidFill>
                  <a:srgbClr val="F8FAFC"/>
                </a:solidFill>
                <a:latin typeface="Arial"/>
                <a:ea typeface="Arial"/>
                <a:cs typeface="Arial"/>
              </a:rPr>
              <a:t>deep GNN oversmoothing</a:t>
            </a:r>
          </a:p>
        </p:txBody>
      </p:sp>
      <p:sp>
        <p:nvSpPr>
          <p:cNvPr id="3" name="cover-accent">
            <a:extLst>
              <a:ext uri="{FF2B5EF4-FFF2-40B4-BE49-F238E27FC236}">
                <a16:creationId xmlns:a16="http://schemas.microsoft.com/office/drawing/2014/main" id="{69102AEB-C7DB-493F-B3C2-08EDB0D3E81F}"/>
              </a:ext>
            </a:extLst>
          </p:cNvPr>
          <p:cNvSpPr>
            <a:spLocks noGrp="1"/>
          </p:cNvSpPr>
          <p:nvPr/>
        </p:nvSpPr>
        <p:spPr>
          <a:xfrm>
            <a:off x="571500" y="4248150"/>
            <a:ext cx="2571750" cy="66675"/>
          </a:xfrm>
          <a:prstGeom prst="rect">
            <a:avLst/>
          </a:prstGeom>
          <a:solidFill>
            <a:srgbClr val="9B87F5"/>
          </a:solidFill>
          <a:ln w="0">
            <a:solidFill>
              <a:srgbClr val="000000">
                <a:alpha val="0"/>
              </a:srgbClr>
            </a:solidFill>
            <a:prstDash val="solid"/>
          </a:ln>
        </p:spPr>
      </p:sp>
      <p:sp>
        <p:nvSpPr>
          <p:cNvPr id="4" name="cover-subtitle">
            <a:extLst>
              <a:ext uri="{FF2B5EF4-FFF2-40B4-BE49-F238E27FC236}">
                <a16:creationId xmlns:a16="http://schemas.microsoft.com/office/drawing/2014/main" id="{2C111EF6-24E2-40F9-8844-C153C9D3299F}"/>
              </a:ext>
            </a:extLst>
          </p:cNvPr>
          <p:cNvSpPr>
            <a:spLocks noGrp="1"/>
          </p:cNvSpPr>
          <p:nvPr/>
        </p:nvSpPr>
        <p:spPr>
          <a:xfrm>
            <a:off x="571500" y="4667250"/>
            <a:ext cx="9048750" cy="1066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950" b="0">
                <a:solidFill>
                  <a:srgbClr val="5F6368"/>
                </a:solidFill>
                <a:latin typeface="Arial"/>
                <a:ea typeface="Arial"/>
                <a:cs typeface="Arial"/>
              </a:defRPr>
            </a:pPr>
            <a:r>
              <a:rPr sz="1800" b="0">
                <a:solidFill>
                  <a:srgbClr val="D6E0ED"/>
                </a:solidFill>
                <a:latin typeface="Arial"/>
                <a:ea typeface="Arial"/>
                <a:cs typeface="Arial"/>
              </a:rPr>
              <a:t>A controlled analysis of depth, representation geometry, and mitigation on Cora</a:t>
            </a:r>
          </a:p>
          <a:p>
            <a:pPr algn="l">
              <a:buNone/>
              <a:defRPr sz="1950" b="0">
                <a:solidFill>
                  <a:srgbClr val="5F6368"/>
                </a:solidFill>
                <a:latin typeface="Arial"/>
                <a:ea typeface="Arial"/>
                <a:cs typeface="Arial"/>
              </a:defRPr>
            </a:pPr>
            <a:r>
              <a:rPr sz="1800" b="0">
                <a:solidFill>
                  <a:srgbClr val="D6E0ED"/>
                </a:solidFill>
                <a:latin typeface="Arial"/>
                <a:ea typeface="Arial"/>
                <a:cs typeface="Arial"/>
              </a:rPr>
              <a:t>Kiarash Ara · Yiheng Wu · McMaster University</a:t>
            </a:r>
          </a:p>
        </p:txBody>
      </p:sp>
    </p:spTree>
    <p:extLst>
      <p:ext uri="{BB962C8B-B14F-4D97-AF65-F5344CB8AC3E}">
        <p14:creationId xmlns:p14="http://schemas.microsoft.com/office/powerpoint/2010/main" val="954353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0" name="s2-title">
            <a:extLst>
              <a:ext uri="{FF2B5EF4-FFF2-40B4-BE49-F238E27FC236}">
                <a16:creationId xmlns:a16="http://schemas.microsoft.com/office/drawing/2014/main" id="{FC8CD823-6301-4DB5-87F4-29C4A60BE07F}"/>
              </a:ext>
            </a:extLst>
          </p:cNvPr>
          <p:cNvSpPr>
            <a:spLocks noGrp="1"/>
          </p:cNvSpPr>
          <p:nvPr/>
        </p:nvSpPr>
        <p:spPr>
          <a:xfrm>
            <a:off x="476250" y="304800"/>
            <a:ext cx="5524500" cy="10001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850" b="1">
                <a:solidFill>
                  <a:srgbClr val="111111"/>
                </a:solidFill>
                <a:latin typeface="Arial"/>
                <a:ea typeface="Arial"/>
                <a:cs typeface="Arial"/>
              </a:defRPr>
            </a:pPr>
            <a:r>
              <a:rPr sz="2775" b="1">
                <a:solidFill>
                  <a:srgbClr val="F8FAFC"/>
                </a:solidFill>
                <a:latin typeface="Arial"/>
                <a:ea typeface="Arial"/>
                <a:cs typeface="Arial"/>
              </a:rPr>
              <a:t>The depth–expressivity trade-off in message-passing GNNs</a:t>
            </a:r>
          </a:p>
        </p:txBody>
      </p:sp>
      <p:sp>
        <p:nvSpPr>
          <p:cNvPr id="2" name="s2-accent">
            <a:extLst>
              <a:ext uri="{FF2B5EF4-FFF2-40B4-BE49-F238E27FC236}">
                <a16:creationId xmlns:a16="http://schemas.microsoft.com/office/drawing/2014/main" id="{8B18254D-06F5-4F14-BD88-11C5000CCC13}"/>
              </a:ext>
            </a:extLst>
          </p:cNvPr>
          <p:cNvSpPr>
            <a:spLocks noGrp="1"/>
          </p:cNvSpPr>
          <p:nvPr/>
        </p:nvSpPr>
        <p:spPr>
          <a:xfrm>
            <a:off x="476250" y="1381125"/>
            <a:ext cx="1200150" cy="47625"/>
          </a:xfrm>
          <a:prstGeom prst="rect">
            <a:avLst/>
          </a:prstGeom>
          <a:solidFill>
            <a:srgbClr val="38BDF8"/>
          </a:solidFill>
          <a:ln w="0">
            <a:solidFill>
              <a:srgbClr val="000000">
                <a:alpha val="0"/>
              </a:srgbClr>
            </a:solidFill>
            <a:prstDash val="solid"/>
          </a:ln>
        </p:spPr>
      </p:sp>
      <p:sp>
        <p:nvSpPr>
          <p:cNvPr id="3" name="s2-body">
            <a:extLst>
              <a:ext uri="{FF2B5EF4-FFF2-40B4-BE49-F238E27FC236}">
                <a16:creationId xmlns:a16="http://schemas.microsoft.com/office/drawing/2014/main" id="{7C8D0AC0-55AD-4AA1-9DA8-9DDBC0B05040}"/>
              </a:ext>
            </a:extLst>
          </p:cNvPr>
          <p:cNvSpPr>
            <a:spLocks noGrp="1"/>
          </p:cNvSpPr>
          <p:nvPr/>
        </p:nvSpPr>
        <p:spPr>
          <a:xfrm>
            <a:off x="476250" y="1714500"/>
            <a:ext cx="5095875" cy="36671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75" b="0">
                <a:solidFill>
                  <a:srgbClr val="111111"/>
                </a:solidFill>
                <a:latin typeface="Arial"/>
                <a:ea typeface="Arial"/>
                <a:cs typeface="Arial"/>
              </a:defRPr>
            </a:pPr>
            <a:r>
              <a:rPr sz="1725" b="0" dirty="0">
                <a:solidFill>
                  <a:srgbClr val="D6E0ED"/>
                </a:solidFill>
                <a:latin typeface="Arial"/>
                <a:ea typeface="Arial"/>
                <a:cs typeface="Arial"/>
              </a:rPr>
              <a:t>Message passing expands the receptive field by one hop per layer.</a:t>
            </a:r>
          </a:p>
          <a:p>
            <a:endParaRPr sz="1725" b="0" dirty="0">
              <a:solidFill>
                <a:srgbClr val="D6E0ED"/>
              </a:solidFill>
              <a:latin typeface="Arial"/>
              <a:ea typeface="Arial"/>
              <a:cs typeface="Arial"/>
            </a:endParaRPr>
          </a:p>
          <a:p>
            <a:pPr algn="l">
              <a:buNone/>
              <a:defRPr sz="1875" b="0">
                <a:solidFill>
                  <a:srgbClr val="111111"/>
                </a:solidFill>
                <a:latin typeface="Arial"/>
                <a:ea typeface="Arial"/>
                <a:cs typeface="Arial"/>
              </a:defRPr>
            </a:pPr>
            <a:r>
              <a:rPr sz="1725" b="0" dirty="0">
                <a:solidFill>
                  <a:srgbClr val="D6E0ED"/>
                </a:solidFill>
                <a:latin typeface="Arial"/>
                <a:ea typeface="Arial"/>
                <a:cs typeface="Arial"/>
              </a:rPr>
              <a:t>For a GCN, H⁽ˡ⁺¹⁾ = σ(</a:t>
            </a:r>
            <a:r>
              <a:rPr sz="1725" b="0" dirty="0" err="1">
                <a:solidFill>
                  <a:srgbClr val="D6E0ED"/>
                </a:solidFill>
                <a:latin typeface="Arial"/>
                <a:ea typeface="Arial"/>
                <a:cs typeface="Arial"/>
              </a:rPr>
              <a:t>ÃH⁽ˡ⁾W⁽ˡ</a:t>
            </a:r>
            <a:r>
              <a:rPr sz="1725" b="0" dirty="0">
                <a:solidFill>
                  <a:srgbClr val="D6E0ED"/>
                </a:solidFill>
                <a:latin typeface="Arial"/>
                <a:ea typeface="Arial"/>
                <a:cs typeface="Arial"/>
              </a:rPr>
              <a:t>⁾); repeated application of the normalized propagation operator can contract node-level variation.</a:t>
            </a:r>
          </a:p>
          <a:p>
            <a:endParaRPr sz="1725" b="0" dirty="0">
              <a:solidFill>
                <a:srgbClr val="D6E0ED"/>
              </a:solidFill>
              <a:latin typeface="Arial"/>
              <a:ea typeface="Arial"/>
              <a:cs typeface="Arial"/>
            </a:endParaRPr>
          </a:p>
          <a:p>
            <a:pPr algn="l">
              <a:buNone/>
              <a:defRPr sz="1875" b="0">
                <a:solidFill>
                  <a:srgbClr val="111111"/>
                </a:solidFill>
                <a:latin typeface="Arial"/>
                <a:ea typeface="Arial"/>
                <a:cs typeface="Arial"/>
              </a:defRPr>
            </a:pPr>
            <a:r>
              <a:rPr sz="1725" b="0" dirty="0">
                <a:solidFill>
                  <a:srgbClr val="D6E0ED"/>
                </a:solidFill>
                <a:latin typeface="Arial"/>
                <a:ea typeface="Arial"/>
                <a:cs typeface="Arial"/>
              </a:rPr>
              <a:t>The empirical question is whether this contraction produces the same failure signature across architectures.</a:t>
            </a:r>
          </a:p>
        </p:txBody>
      </p:sp>
      <p:sp>
        <p:nvSpPr>
          <p:cNvPr id="4" name="s2-image-panel">
            <a:extLst>
              <a:ext uri="{FF2B5EF4-FFF2-40B4-BE49-F238E27FC236}">
                <a16:creationId xmlns:a16="http://schemas.microsoft.com/office/drawing/2014/main" id="{76A042D1-5931-422E-AD38-7FBB4FAF7570}"/>
              </a:ext>
            </a:extLst>
          </p:cNvPr>
          <p:cNvSpPr>
            <a:spLocks noGrp="1"/>
          </p:cNvSpPr>
          <p:nvPr/>
        </p:nvSpPr>
        <p:spPr>
          <a:xfrm>
            <a:off x="6096000" y="685800"/>
            <a:ext cx="5705475" cy="5095875"/>
          </a:xfrm>
          <a:prstGeom prst="roundRect">
            <a:avLst>
              <a:gd name="adj" fmla="val 1495"/>
            </a:avLst>
          </a:prstGeom>
          <a:solidFill>
            <a:srgbClr val="0F1B2D"/>
          </a:solidFill>
          <a:ln w="14288">
            <a:solidFill>
              <a:srgbClr val="2B3C59"/>
            </a:solidFill>
            <a:prstDash val="solid"/>
          </a:ln>
        </p:spPr>
      </p:sp>
      <p:pic>
        <p:nvPicPr>
          <p:cNvPr id="16" name="Picture 15"/>
          <p:cNvPicPr>
            <a:picLocks noChangeAspect="1"/>
          </p:cNvPicPr>
          <p:nvPr/>
        </p:nvPicPr>
        <p:blipFill>
          <a:blip r:embed="rId3"/>
          <a:stretch/>
        </p:blipFill>
        <p:spPr>
          <a:xfrm>
            <a:off x="6381750" y="2533217"/>
            <a:ext cx="5143500" cy="1124816"/>
          </a:xfrm>
          <a:prstGeom prst="rect">
            <a:avLst/>
          </a:prstGeom>
        </p:spPr>
      </p:pic>
      <p:sp>
        <p:nvSpPr>
          <p:cNvPr id="6" name="s2-caption">
            <a:extLst>
              <a:ext uri="{FF2B5EF4-FFF2-40B4-BE49-F238E27FC236}">
                <a16:creationId xmlns:a16="http://schemas.microsoft.com/office/drawing/2014/main" id="{1B479A70-C4D1-4D14-B632-6D2A504BEC76}"/>
              </a:ext>
            </a:extLst>
          </p:cNvPr>
          <p:cNvSpPr>
            <a:spLocks noGrp="1"/>
          </p:cNvSpPr>
          <p:nvPr/>
        </p:nvSpPr>
        <p:spPr>
          <a:xfrm>
            <a:off x="6477000" y="4857750"/>
            <a:ext cx="4905375"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350" b="0">
                <a:solidFill>
                  <a:srgbClr val="5F6368"/>
                </a:solidFill>
                <a:latin typeface="Arial"/>
                <a:ea typeface="Arial"/>
                <a:cs typeface="Arial"/>
              </a:defRPr>
            </a:pPr>
            <a:r>
              <a:rPr sz="1275" b="0">
                <a:solidFill>
                  <a:srgbClr val="94A3B8"/>
                </a:solidFill>
                <a:latin typeface="Arial"/>
                <a:ea typeface="Arial"/>
                <a:cs typeface="Arial"/>
              </a:rPr>
              <a:t>Illustrative embedding trajectories. All substantive claims are evaluated on Cora across architectures, depths, and random seeds.</a:t>
            </a:r>
          </a:p>
        </p:txBody>
      </p:sp>
      <p:sp>
        <p:nvSpPr>
          <p:cNvPr id="7" name="footer-rule-2">
            <a:extLst>
              <a:ext uri="{FF2B5EF4-FFF2-40B4-BE49-F238E27FC236}">
                <a16:creationId xmlns:a16="http://schemas.microsoft.com/office/drawing/2014/main" id="{96966D20-EC45-4FD3-BCF5-A244EA402989}"/>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8" name="footer-label-2">
            <a:extLst>
              <a:ext uri="{FF2B5EF4-FFF2-40B4-BE49-F238E27FC236}">
                <a16:creationId xmlns:a16="http://schemas.microsoft.com/office/drawing/2014/main" id="{5969EA9F-39E5-4DA8-A7DE-63290C7D447D}"/>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9" name="footer-page-2">
            <a:extLst>
              <a:ext uri="{FF2B5EF4-FFF2-40B4-BE49-F238E27FC236}">
                <a16:creationId xmlns:a16="http://schemas.microsoft.com/office/drawing/2014/main" id="{8FC84E26-C335-4C35-A5D3-F24A6667176B}"/>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38BDF8"/>
                </a:solidFill>
                <a:latin typeface="Arial"/>
                <a:ea typeface="Arial"/>
                <a:cs typeface="Arial"/>
              </a:rPr>
              <a:t>02</a:t>
            </a:r>
          </a:p>
        </p:txBody>
      </p:sp>
    </p:spTree>
    <p:extLst>
      <p:ext uri="{BB962C8B-B14F-4D97-AF65-F5344CB8AC3E}">
        <p14:creationId xmlns:p14="http://schemas.microsoft.com/office/powerpoint/2010/main" val="219935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3" name="title-3">
            <a:extLst>
              <a:ext uri="{FF2B5EF4-FFF2-40B4-BE49-F238E27FC236}">
                <a16:creationId xmlns:a16="http://schemas.microsoft.com/office/drawing/2014/main" id="{B90F0606-EB8C-4609-90A6-1DEE1BB60F87}"/>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700" b="1">
                <a:solidFill>
                  <a:srgbClr val="F8FAFC"/>
                </a:solidFill>
                <a:latin typeface="Arial"/>
                <a:ea typeface="Arial"/>
                <a:cs typeface="Arial"/>
              </a:rPr>
              <a:t>Research question and testable hypotheses</a:t>
            </a:r>
          </a:p>
        </p:txBody>
      </p:sp>
      <p:sp>
        <p:nvSpPr>
          <p:cNvPr id="2" name="accent-3">
            <a:extLst>
              <a:ext uri="{FF2B5EF4-FFF2-40B4-BE49-F238E27FC236}">
                <a16:creationId xmlns:a16="http://schemas.microsoft.com/office/drawing/2014/main" id="{207E5225-8CB4-4EEE-884E-626ED98AB790}"/>
              </a:ext>
            </a:extLst>
          </p:cNvPr>
          <p:cNvSpPr>
            <a:spLocks noGrp="1"/>
          </p:cNvSpPr>
          <p:nvPr/>
        </p:nvSpPr>
        <p:spPr>
          <a:xfrm>
            <a:off x="476250" y="1057275"/>
            <a:ext cx="1200150" cy="47625"/>
          </a:xfrm>
          <a:prstGeom prst="rect">
            <a:avLst/>
          </a:prstGeom>
          <a:solidFill>
            <a:srgbClr val="9B87F5"/>
          </a:solidFill>
          <a:ln w="0">
            <a:solidFill>
              <a:srgbClr val="000000">
                <a:alpha val="0"/>
              </a:srgbClr>
            </a:solidFill>
            <a:prstDash val="solid"/>
          </a:ln>
        </p:spPr>
      </p:sp>
      <p:sp>
        <p:nvSpPr>
          <p:cNvPr id="3" name="s3-left-label">
            <a:extLst>
              <a:ext uri="{FF2B5EF4-FFF2-40B4-BE49-F238E27FC236}">
                <a16:creationId xmlns:a16="http://schemas.microsoft.com/office/drawing/2014/main" id="{4FF55CCE-12C4-4073-A546-11652927E1A7}"/>
              </a:ext>
            </a:extLst>
          </p:cNvPr>
          <p:cNvSpPr>
            <a:spLocks noGrp="1"/>
          </p:cNvSpPr>
          <p:nvPr/>
        </p:nvSpPr>
        <p:spPr>
          <a:xfrm>
            <a:off x="390525" y="1714500"/>
            <a:ext cx="5334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425" b="1">
                <a:solidFill>
                  <a:srgbClr val="3D8DFF"/>
                </a:solidFill>
                <a:latin typeface="Arial"/>
                <a:ea typeface="Arial"/>
                <a:cs typeface="Arial"/>
              </a:defRPr>
            </a:pPr>
            <a:r>
              <a:rPr sz="1350" b="1">
                <a:solidFill>
                  <a:srgbClr val="38BDF8"/>
                </a:solidFill>
                <a:latin typeface="Arial"/>
                <a:ea typeface="Arial"/>
                <a:cs typeface="Arial"/>
              </a:rPr>
              <a:t>PRIMARY QUESTION</a:t>
            </a:r>
          </a:p>
        </p:txBody>
      </p:sp>
      <p:sp>
        <p:nvSpPr>
          <p:cNvPr id="4" name="s3-left-title">
            <a:extLst>
              <a:ext uri="{FF2B5EF4-FFF2-40B4-BE49-F238E27FC236}">
                <a16:creationId xmlns:a16="http://schemas.microsoft.com/office/drawing/2014/main" id="{A055BD5C-4D2F-478F-82FC-82CC79F0AD3D}"/>
              </a:ext>
            </a:extLst>
          </p:cNvPr>
          <p:cNvSpPr>
            <a:spLocks noGrp="1"/>
          </p:cNvSpPr>
          <p:nvPr/>
        </p:nvSpPr>
        <p:spPr>
          <a:xfrm>
            <a:off x="390525" y="2171700"/>
            <a:ext cx="5048250" cy="952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400" b="1">
                <a:solidFill>
                  <a:srgbClr val="111111"/>
                </a:solidFill>
                <a:latin typeface="Arial"/>
                <a:ea typeface="Arial"/>
                <a:cs typeface="Arial"/>
              </a:defRPr>
            </a:pPr>
            <a:r>
              <a:rPr sz="2325" b="1">
                <a:solidFill>
                  <a:srgbClr val="F8FAFC"/>
                </a:solidFill>
                <a:latin typeface="Arial"/>
                <a:ea typeface="Arial"/>
                <a:cs typeface="Arial"/>
              </a:rPr>
              <a:t>How does depth alter predictive and geometric behavior?</a:t>
            </a:r>
          </a:p>
        </p:txBody>
      </p:sp>
      <p:sp>
        <p:nvSpPr>
          <p:cNvPr id="5" name="s3-left-body">
            <a:extLst>
              <a:ext uri="{FF2B5EF4-FFF2-40B4-BE49-F238E27FC236}">
                <a16:creationId xmlns:a16="http://schemas.microsoft.com/office/drawing/2014/main" id="{D5EB2ABD-2CF8-42B7-AFCC-61BA9253C139}"/>
              </a:ext>
            </a:extLst>
          </p:cNvPr>
          <p:cNvSpPr>
            <a:spLocks noGrp="1"/>
          </p:cNvSpPr>
          <p:nvPr/>
        </p:nvSpPr>
        <p:spPr>
          <a:xfrm>
            <a:off x="390525" y="3333750"/>
            <a:ext cx="5048250" cy="15716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5F6368"/>
                </a:solidFill>
                <a:latin typeface="Arial"/>
                <a:ea typeface="Arial"/>
                <a:cs typeface="Arial"/>
              </a:defRPr>
            </a:pPr>
            <a:r>
              <a:rPr sz="1650" b="0">
                <a:solidFill>
                  <a:srgbClr val="D6E0ED"/>
                </a:solidFill>
                <a:latin typeface="Arial"/>
                <a:ea typeface="Arial"/>
                <a:cs typeface="Arial"/>
              </a:rPr>
              <a:t>Across 2–32 layers, we compare accuracy, representation geometry, and layerwise dynamics under a fixed data and training protocol.</a:t>
            </a:r>
          </a:p>
        </p:txBody>
      </p:sp>
      <p:sp>
        <p:nvSpPr>
          <p:cNvPr id="6" name="s3-divider">
            <a:extLst>
              <a:ext uri="{FF2B5EF4-FFF2-40B4-BE49-F238E27FC236}">
                <a16:creationId xmlns:a16="http://schemas.microsoft.com/office/drawing/2014/main" id="{86C3F9D1-98FE-42D3-AE02-DC334C2424BB}"/>
              </a:ext>
            </a:extLst>
          </p:cNvPr>
          <p:cNvSpPr>
            <a:spLocks noGrp="1"/>
          </p:cNvSpPr>
          <p:nvPr/>
        </p:nvSpPr>
        <p:spPr>
          <a:xfrm>
            <a:off x="5953125" y="1676400"/>
            <a:ext cx="9525" cy="3714750"/>
          </a:xfrm>
          <a:prstGeom prst="rect">
            <a:avLst/>
          </a:prstGeom>
          <a:solidFill>
            <a:srgbClr val="2B3C59"/>
          </a:solidFill>
          <a:ln w="0">
            <a:solidFill>
              <a:srgbClr val="000000">
                <a:alpha val="0"/>
              </a:srgbClr>
            </a:solidFill>
            <a:prstDash val="solid"/>
          </a:ln>
        </p:spPr>
      </p:sp>
      <p:sp>
        <p:nvSpPr>
          <p:cNvPr id="7" name="s3-right-label">
            <a:extLst>
              <a:ext uri="{FF2B5EF4-FFF2-40B4-BE49-F238E27FC236}">
                <a16:creationId xmlns:a16="http://schemas.microsoft.com/office/drawing/2014/main" id="{AEDC6EF6-982D-4CE1-B8B2-583368C34594}"/>
              </a:ext>
            </a:extLst>
          </p:cNvPr>
          <p:cNvSpPr>
            <a:spLocks noGrp="1"/>
          </p:cNvSpPr>
          <p:nvPr/>
        </p:nvSpPr>
        <p:spPr>
          <a:xfrm>
            <a:off x="6429375" y="1714500"/>
            <a:ext cx="5334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425" b="1">
                <a:solidFill>
                  <a:srgbClr val="3D8DFF"/>
                </a:solidFill>
                <a:latin typeface="Arial"/>
                <a:ea typeface="Arial"/>
                <a:cs typeface="Arial"/>
              </a:defRPr>
            </a:pPr>
            <a:r>
              <a:rPr sz="1350" b="1">
                <a:solidFill>
                  <a:srgbClr val="9B87F5"/>
                </a:solidFill>
                <a:latin typeface="Arial"/>
                <a:ea typeface="Arial"/>
                <a:cs typeface="Arial"/>
              </a:rPr>
              <a:t>HYPOTHESES</a:t>
            </a:r>
          </a:p>
        </p:txBody>
      </p:sp>
      <p:sp>
        <p:nvSpPr>
          <p:cNvPr id="8" name="s3-right-title">
            <a:extLst>
              <a:ext uri="{FF2B5EF4-FFF2-40B4-BE49-F238E27FC236}">
                <a16:creationId xmlns:a16="http://schemas.microsoft.com/office/drawing/2014/main" id="{5DE17505-EF2A-4D66-8A70-BF8C4E3007A2}"/>
              </a:ext>
            </a:extLst>
          </p:cNvPr>
          <p:cNvSpPr>
            <a:spLocks noGrp="1"/>
          </p:cNvSpPr>
          <p:nvPr/>
        </p:nvSpPr>
        <p:spPr>
          <a:xfrm>
            <a:off x="6429375" y="2171700"/>
            <a:ext cx="5048250" cy="952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400" b="1">
                <a:solidFill>
                  <a:srgbClr val="111111"/>
                </a:solidFill>
                <a:latin typeface="Arial"/>
                <a:ea typeface="Arial"/>
                <a:cs typeface="Arial"/>
              </a:defRPr>
            </a:pPr>
            <a:r>
              <a:rPr sz="2325" b="1">
                <a:solidFill>
                  <a:srgbClr val="F8FAFC"/>
                </a:solidFill>
                <a:latin typeface="Arial"/>
                <a:ea typeface="Arial"/>
                <a:cs typeface="Arial"/>
              </a:rPr>
              <a:t>Failure signatures should differ by architecture.</a:t>
            </a:r>
          </a:p>
        </p:txBody>
      </p:sp>
      <p:sp>
        <p:nvSpPr>
          <p:cNvPr id="9" name="s3-right-body">
            <a:extLst>
              <a:ext uri="{FF2B5EF4-FFF2-40B4-BE49-F238E27FC236}">
                <a16:creationId xmlns:a16="http://schemas.microsoft.com/office/drawing/2014/main" id="{2080ABF9-8F64-4B56-8180-52BCC055C199}"/>
              </a:ext>
            </a:extLst>
          </p:cNvPr>
          <p:cNvSpPr>
            <a:spLocks noGrp="1"/>
          </p:cNvSpPr>
          <p:nvPr/>
        </p:nvSpPr>
        <p:spPr>
          <a:xfrm>
            <a:off x="6429375" y="3333750"/>
            <a:ext cx="5048250" cy="15716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5F6368"/>
                </a:solidFill>
                <a:latin typeface="Arial"/>
                <a:ea typeface="Arial"/>
                <a:cs typeface="Arial"/>
              </a:defRPr>
            </a:pPr>
            <a:r>
              <a:rPr sz="1650" b="0">
                <a:solidFill>
                  <a:srgbClr val="D6E0ED"/>
                </a:solidFill>
                <a:latin typeface="Arial"/>
                <a:ea typeface="Arial"/>
                <a:cs typeface="Arial"/>
              </a:rPr>
              <a:t>H1  Accuracy degrades non-uniformly.</a:t>
            </a:r>
          </a:p>
          <a:p>
            <a:pPr algn="l">
              <a:buNone/>
              <a:defRPr sz="1725" b="0">
                <a:solidFill>
                  <a:srgbClr val="5F6368"/>
                </a:solidFill>
                <a:latin typeface="Arial"/>
                <a:ea typeface="Arial"/>
                <a:cs typeface="Arial"/>
              </a:defRPr>
            </a:pPr>
            <a:r>
              <a:rPr sz="1650" b="0">
                <a:solidFill>
                  <a:srgbClr val="D6E0ED"/>
                </a:solidFill>
                <a:latin typeface="Arial"/>
                <a:ea typeface="Arial"/>
                <a:cs typeface="Arial"/>
              </a:rPr>
              <a:t>H2  Geometric collapse is not equivalent across models.</a:t>
            </a:r>
          </a:p>
          <a:p>
            <a:pPr algn="l">
              <a:buNone/>
              <a:defRPr sz="1725" b="0">
                <a:solidFill>
                  <a:srgbClr val="5F6368"/>
                </a:solidFill>
                <a:latin typeface="Arial"/>
                <a:ea typeface="Arial"/>
                <a:cs typeface="Arial"/>
              </a:defRPr>
            </a:pPr>
            <a:r>
              <a:rPr sz="1650" b="0">
                <a:solidFill>
                  <a:srgbClr val="D6E0ED"/>
                </a:solidFill>
                <a:latin typeface="Arial"/>
                <a:ea typeface="Arial"/>
                <a:cs typeface="Arial"/>
              </a:rPr>
              <a:t>H3  Effective mitigation depends on the failure mechanism.</a:t>
            </a:r>
          </a:p>
        </p:txBody>
      </p:sp>
      <p:sp>
        <p:nvSpPr>
          <p:cNvPr id="10" name="footer-rule-3">
            <a:extLst>
              <a:ext uri="{FF2B5EF4-FFF2-40B4-BE49-F238E27FC236}">
                <a16:creationId xmlns:a16="http://schemas.microsoft.com/office/drawing/2014/main" id="{02FDD283-9B5A-44D0-BE13-BE5244E8E9C8}"/>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1" name="footer-label-3">
            <a:extLst>
              <a:ext uri="{FF2B5EF4-FFF2-40B4-BE49-F238E27FC236}">
                <a16:creationId xmlns:a16="http://schemas.microsoft.com/office/drawing/2014/main" id="{45DEE4BD-3718-45C6-BC84-3E0116AEB3B3}"/>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2" name="footer-page-3">
            <a:extLst>
              <a:ext uri="{FF2B5EF4-FFF2-40B4-BE49-F238E27FC236}">
                <a16:creationId xmlns:a16="http://schemas.microsoft.com/office/drawing/2014/main" id="{25FCE8FB-78E0-4EEF-BADD-AED7363E7AE4}"/>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9B87F5"/>
                </a:solidFill>
                <a:latin typeface="Arial"/>
                <a:ea typeface="Arial"/>
                <a:cs typeface="Arial"/>
              </a:rPr>
              <a:t>04</a:t>
            </a:r>
          </a:p>
        </p:txBody>
      </p:sp>
    </p:spTree>
    <p:extLst>
      <p:ext uri="{BB962C8B-B14F-4D97-AF65-F5344CB8AC3E}">
        <p14:creationId xmlns:p14="http://schemas.microsoft.com/office/powerpoint/2010/main" val="135314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7" name="title-4">
            <a:extLst>
              <a:ext uri="{FF2B5EF4-FFF2-40B4-BE49-F238E27FC236}">
                <a16:creationId xmlns:a16="http://schemas.microsoft.com/office/drawing/2014/main" id="{B0D80AF7-8CA0-4F33-88DD-598480C33811}"/>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850" b="1">
                <a:solidFill>
                  <a:srgbClr val="F8FAFC"/>
                </a:solidFill>
                <a:latin typeface="Arial"/>
                <a:ea typeface="Arial"/>
                <a:cs typeface="Arial"/>
              </a:rPr>
              <a:t>Benchmark and task specification</a:t>
            </a:r>
          </a:p>
        </p:txBody>
      </p:sp>
      <p:sp>
        <p:nvSpPr>
          <p:cNvPr id="2" name="accent-4">
            <a:extLst>
              <a:ext uri="{FF2B5EF4-FFF2-40B4-BE49-F238E27FC236}">
                <a16:creationId xmlns:a16="http://schemas.microsoft.com/office/drawing/2014/main" id="{78B2312F-4526-43E6-8BA9-FCDDE6ECF358}"/>
              </a:ext>
            </a:extLst>
          </p:cNvPr>
          <p:cNvSpPr>
            <a:spLocks noGrp="1"/>
          </p:cNvSpPr>
          <p:nvPr/>
        </p:nvSpPr>
        <p:spPr>
          <a:xfrm>
            <a:off x="476250" y="1057275"/>
            <a:ext cx="1200150" cy="47625"/>
          </a:xfrm>
          <a:prstGeom prst="rect">
            <a:avLst/>
          </a:prstGeom>
          <a:solidFill>
            <a:srgbClr val="38BDF8"/>
          </a:solidFill>
          <a:ln w="0">
            <a:solidFill>
              <a:srgbClr val="000000">
                <a:alpha val="0"/>
              </a:srgbClr>
            </a:solidFill>
            <a:prstDash val="solid"/>
          </a:ln>
        </p:spPr>
      </p:sp>
      <p:sp>
        <p:nvSpPr>
          <p:cNvPr id="3" name="s4-context">
            <a:extLst>
              <a:ext uri="{FF2B5EF4-FFF2-40B4-BE49-F238E27FC236}">
                <a16:creationId xmlns:a16="http://schemas.microsoft.com/office/drawing/2014/main" id="{24ED17E0-8FCE-4064-B949-56C7D3E34EA1}"/>
              </a:ext>
            </a:extLst>
          </p:cNvPr>
          <p:cNvSpPr>
            <a:spLocks noGrp="1"/>
          </p:cNvSpPr>
          <p:nvPr/>
        </p:nvSpPr>
        <p:spPr>
          <a:xfrm>
            <a:off x="390525" y="1333500"/>
            <a:ext cx="11410950" cy="5238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75" b="0">
                <a:solidFill>
                  <a:srgbClr val="5F6368"/>
                </a:solidFill>
                <a:latin typeface="Arial"/>
                <a:ea typeface="Arial"/>
                <a:cs typeface="Arial"/>
              </a:defRPr>
            </a:pPr>
            <a:r>
              <a:rPr sz="1725" b="0">
                <a:solidFill>
                  <a:srgbClr val="94A3B8"/>
                </a:solidFill>
                <a:latin typeface="Arial"/>
                <a:ea typeface="Arial"/>
                <a:cs typeface="Arial"/>
              </a:rPr>
              <a:t>Cora · transductive, semi-supervised node classification</a:t>
            </a:r>
          </a:p>
        </p:txBody>
      </p:sp>
      <p:sp>
        <p:nvSpPr>
          <p:cNvPr id="4" name="s4-panel-0">
            <a:extLst>
              <a:ext uri="{FF2B5EF4-FFF2-40B4-BE49-F238E27FC236}">
                <a16:creationId xmlns:a16="http://schemas.microsoft.com/office/drawing/2014/main" id="{DF2BD43C-E5DA-4080-9716-DB2DABDFD1A0}"/>
              </a:ext>
            </a:extLst>
          </p:cNvPr>
          <p:cNvSpPr>
            <a:spLocks noGrp="1"/>
          </p:cNvSpPr>
          <p:nvPr/>
        </p:nvSpPr>
        <p:spPr>
          <a:xfrm>
            <a:off x="390525" y="2333625"/>
            <a:ext cx="3571875" cy="2952750"/>
          </a:xfrm>
          <a:prstGeom prst="roundRect">
            <a:avLst>
              <a:gd name="adj" fmla="val 2581"/>
            </a:avLst>
          </a:prstGeom>
          <a:solidFill>
            <a:srgbClr val="13243B"/>
          </a:solidFill>
          <a:ln w="15240">
            <a:solidFill>
              <a:srgbClr val="38BDF8"/>
            </a:solidFill>
            <a:prstDash val="solid"/>
          </a:ln>
        </p:spPr>
      </p:sp>
      <p:sp>
        <p:nvSpPr>
          <p:cNvPr id="5" name="s4-stat-0">
            <a:extLst>
              <a:ext uri="{FF2B5EF4-FFF2-40B4-BE49-F238E27FC236}">
                <a16:creationId xmlns:a16="http://schemas.microsoft.com/office/drawing/2014/main" id="{2A390AD5-4709-42B4-89DB-664FDACA2590}"/>
              </a:ext>
            </a:extLst>
          </p:cNvPr>
          <p:cNvSpPr>
            <a:spLocks noGrp="1"/>
          </p:cNvSpPr>
          <p:nvPr/>
        </p:nvSpPr>
        <p:spPr>
          <a:xfrm>
            <a:off x="695325" y="2857500"/>
            <a:ext cx="2952750" cy="1000125"/>
          </a:xfrm>
          <a:prstGeom prst="rect">
            <a:avLst/>
          </a:prstGeom>
          <a:solidFill>
            <a:srgbClr val="000000">
              <a:alpha val="0"/>
            </a:srgbClr>
          </a:solidFill>
          <a:ln w="0">
            <a:solidFill>
              <a:srgbClr val="000000">
                <a:alpha val="0"/>
              </a:srgbClr>
            </a:solidFill>
            <a:prstDash val="solid"/>
          </a:ln>
        </p:spPr>
        <p:txBody>
          <a:bodyPr lIns="0" tIns="0" rIns="0" bIns="0" anchor="b"/>
          <a:lstStyle/>
          <a:p>
            <a:pPr algn="l">
              <a:buNone/>
              <a:defRPr sz="4050" b="1">
                <a:solidFill>
                  <a:srgbClr val="111111"/>
                </a:solidFill>
                <a:latin typeface="Arial"/>
                <a:ea typeface="Arial"/>
                <a:cs typeface="Arial"/>
              </a:defRPr>
            </a:pPr>
            <a:r>
              <a:rPr sz="4125" b="1">
                <a:solidFill>
                  <a:srgbClr val="38BDF8"/>
                </a:solidFill>
                <a:latin typeface="Arial"/>
                <a:ea typeface="Arial"/>
                <a:cs typeface="Arial"/>
              </a:rPr>
              <a:t>2,708</a:t>
            </a:r>
          </a:p>
        </p:txBody>
      </p:sp>
      <p:sp>
        <p:nvSpPr>
          <p:cNvPr id="6" name="s4-label-0">
            <a:extLst>
              <a:ext uri="{FF2B5EF4-FFF2-40B4-BE49-F238E27FC236}">
                <a16:creationId xmlns:a16="http://schemas.microsoft.com/office/drawing/2014/main" id="{AE098386-BF91-4393-B193-6E79039A994D}"/>
              </a:ext>
            </a:extLst>
          </p:cNvPr>
          <p:cNvSpPr>
            <a:spLocks noGrp="1"/>
          </p:cNvSpPr>
          <p:nvPr/>
        </p:nvSpPr>
        <p:spPr>
          <a:xfrm>
            <a:off x="695325" y="4095750"/>
            <a:ext cx="2952750" cy="762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nodes</a:t>
            </a:r>
          </a:p>
          <a:p>
            <a:pPr algn="l">
              <a:buNone/>
              <a:defRPr sz="1650" b="0">
                <a:solidFill>
                  <a:srgbClr val="5F6368"/>
                </a:solidFill>
                <a:latin typeface="Arial"/>
                <a:ea typeface="Arial"/>
                <a:cs typeface="Arial"/>
              </a:defRPr>
            </a:pPr>
            <a:r>
              <a:rPr sz="1575" b="0">
                <a:solidFill>
                  <a:srgbClr val="D6E0ED"/>
                </a:solidFill>
                <a:latin typeface="Arial"/>
                <a:ea typeface="Arial"/>
                <a:cs typeface="Arial"/>
              </a:rPr>
              <a:t>scientific publications</a:t>
            </a:r>
          </a:p>
        </p:txBody>
      </p:sp>
      <p:sp>
        <p:nvSpPr>
          <p:cNvPr id="7" name="s4-panel-1">
            <a:extLst>
              <a:ext uri="{FF2B5EF4-FFF2-40B4-BE49-F238E27FC236}">
                <a16:creationId xmlns:a16="http://schemas.microsoft.com/office/drawing/2014/main" id="{43BAC2FB-F1D1-42F2-AB86-28E4B385BA10}"/>
              </a:ext>
            </a:extLst>
          </p:cNvPr>
          <p:cNvSpPr>
            <a:spLocks noGrp="1"/>
          </p:cNvSpPr>
          <p:nvPr/>
        </p:nvSpPr>
        <p:spPr>
          <a:xfrm>
            <a:off x="4314825" y="2333625"/>
            <a:ext cx="3571875" cy="2952750"/>
          </a:xfrm>
          <a:prstGeom prst="roundRect">
            <a:avLst>
              <a:gd name="adj" fmla="val 2581"/>
            </a:avLst>
          </a:prstGeom>
          <a:solidFill>
            <a:srgbClr val="1A2038"/>
          </a:solidFill>
          <a:ln w="15240">
            <a:solidFill>
              <a:srgbClr val="9B87F5"/>
            </a:solidFill>
            <a:prstDash val="solid"/>
          </a:ln>
        </p:spPr>
      </p:sp>
      <p:sp>
        <p:nvSpPr>
          <p:cNvPr id="8" name="s4-stat-1">
            <a:extLst>
              <a:ext uri="{FF2B5EF4-FFF2-40B4-BE49-F238E27FC236}">
                <a16:creationId xmlns:a16="http://schemas.microsoft.com/office/drawing/2014/main" id="{2B5ED2C9-406E-4D03-92A6-8F935341015A}"/>
              </a:ext>
            </a:extLst>
          </p:cNvPr>
          <p:cNvSpPr>
            <a:spLocks noGrp="1"/>
          </p:cNvSpPr>
          <p:nvPr/>
        </p:nvSpPr>
        <p:spPr>
          <a:xfrm>
            <a:off x="4619625" y="2857500"/>
            <a:ext cx="2952750" cy="1000125"/>
          </a:xfrm>
          <a:prstGeom prst="rect">
            <a:avLst/>
          </a:prstGeom>
          <a:solidFill>
            <a:srgbClr val="000000">
              <a:alpha val="0"/>
            </a:srgbClr>
          </a:solidFill>
          <a:ln w="0">
            <a:solidFill>
              <a:srgbClr val="000000">
                <a:alpha val="0"/>
              </a:srgbClr>
            </a:solidFill>
            <a:prstDash val="solid"/>
          </a:ln>
        </p:spPr>
        <p:txBody>
          <a:bodyPr lIns="0" tIns="0" rIns="0" bIns="0" anchor="b"/>
          <a:lstStyle/>
          <a:p>
            <a:pPr algn="l">
              <a:buNone/>
              <a:defRPr sz="4050" b="1">
                <a:solidFill>
                  <a:srgbClr val="111111"/>
                </a:solidFill>
                <a:latin typeface="Arial"/>
                <a:ea typeface="Arial"/>
                <a:cs typeface="Arial"/>
              </a:defRPr>
            </a:pPr>
            <a:r>
              <a:rPr sz="4125" b="1">
                <a:solidFill>
                  <a:srgbClr val="9B87F5"/>
                </a:solidFill>
                <a:latin typeface="Arial"/>
                <a:ea typeface="Arial"/>
                <a:cs typeface="Arial"/>
              </a:rPr>
              <a:t>5,278</a:t>
            </a:r>
          </a:p>
        </p:txBody>
      </p:sp>
      <p:sp>
        <p:nvSpPr>
          <p:cNvPr id="9" name="s4-label-1">
            <a:extLst>
              <a:ext uri="{FF2B5EF4-FFF2-40B4-BE49-F238E27FC236}">
                <a16:creationId xmlns:a16="http://schemas.microsoft.com/office/drawing/2014/main" id="{21917C16-EE0B-46DD-ADE5-246E1C66284E}"/>
              </a:ext>
            </a:extLst>
          </p:cNvPr>
          <p:cNvSpPr>
            <a:spLocks noGrp="1"/>
          </p:cNvSpPr>
          <p:nvPr/>
        </p:nvSpPr>
        <p:spPr>
          <a:xfrm>
            <a:off x="4619625" y="4095750"/>
            <a:ext cx="2952750" cy="762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citation links</a:t>
            </a:r>
          </a:p>
          <a:p>
            <a:pPr algn="l">
              <a:buNone/>
              <a:defRPr sz="1650" b="0">
                <a:solidFill>
                  <a:srgbClr val="5F6368"/>
                </a:solidFill>
                <a:latin typeface="Arial"/>
                <a:ea typeface="Arial"/>
                <a:cs typeface="Arial"/>
              </a:defRPr>
            </a:pPr>
            <a:r>
              <a:rPr sz="1575" b="0">
                <a:solidFill>
                  <a:srgbClr val="D6E0ED"/>
                </a:solidFill>
                <a:latin typeface="Arial"/>
                <a:ea typeface="Arial"/>
                <a:cs typeface="Arial"/>
              </a:rPr>
              <a:t>(edges)</a:t>
            </a:r>
          </a:p>
        </p:txBody>
      </p:sp>
      <p:sp>
        <p:nvSpPr>
          <p:cNvPr id="10" name="s4-panel-2">
            <a:extLst>
              <a:ext uri="{FF2B5EF4-FFF2-40B4-BE49-F238E27FC236}">
                <a16:creationId xmlns:a16="http://schemas.microsoft.com/office/drawing/2014/main" id="{66D1A7F3-A875-43BB-BDC6-3437B656AB96}"/>
              </a:ext>
            </a:extLst>
          </p:cNvPr>
          <p:cNvSpPr>
            <a:spLocks noGrp="1"/>
          </p:cNvSpPr>
          <p:nvPr/>
        </p:nvSpPr>
        <p:spPr>
          <a:xfrm>
            <a:off x="8229600" y="2333625"/>
            <a:ext cx="3571875" cy="2952750"/>
          </a:xfrm>
          <a:prstGeom prst="roundRect">
            <a:avLst>
              <a:gd name="adj" fmla="val 2581"/>
            </a:avLst>
          </a:prstGeom>
          <a:solidFill>
            <a:srgbClr val="102D35"/>
          </a:solidFill>
          <a:ln w="15240">
            <a:solidFill>
              <a:srgbClr val="2DD4BF"/>
            </a:solidFill>
            <a:prstDash val="solid"/>
          </a:ln>
        </p:spPr>
      </p:sp>
      <p:sp>
        <p:nvSpPr>
          <p:cNvPr id="11" name="s4-stat-2">
            <a:extLst>
              <a:ext uri="{FF2B5EF4-FFF2-40B4-BE49-F238E27FC236}">
                <a16:creationId xmlns:a16="http://schemas.microsoft.com/office/drawing/2014/main" id="{03921C15-7202-4A40-895F-2FEE749E5B3C}"/>
              </a:ext>
            </a:extLst>
          </p:cNvPr>
          <p:cNvSpPr>
            <a:spLocks noGrp="1"/>
          </p:cNvSpPr>
          <p:nvPr/>
        </p:nvSpPr>
        <p:spPr>
          <a:xfrm>
            <a:off x="8534400" y="2857500"/>
            <a:ext cx="2952750" cy="1000125"/>
          </a:xfrm>
          <a:prstGeom prst="rect">
            <a:avLst/>
          </a:prstGeom>
          <a:solidFill>
            <a:srgbClr val="000000">
              <a:alpha val="0"/>
            </a:srgbClr>
          </a:solidFill>
          <a:ln w="0">
            <a:solidFill>
              <a:srgbClr val="000000">
                <a:alpha val="0"/>
              </a:srgbClr>
            </a:solidFill>
            <a:prstDash val="solid"/>
          </a:ln>
        </p:spPr>
        <p:txBody>
          <a:bodyPr lIns="0" tIns="0" rIns="0" bIns="0" anchor="b"/>
          <a:lstStyle/>
          <a:p>
            <a:pPr algn="l">
              <a:buNone/>
              <a:defRPr sz="4050" b="1">
                <a:solidFill>
                  <a:srgbClr val="111111"/>
                </a:solidFill>
                <a:latin typeface="Arial"/>
                <a:ea typeface="Arial"/>
                <a:cs typeface="Arial"/>
              </a:defRPr>
            </a:pPr>
            <a:r>
              <a:rPr sz="4125" b="1">
                <a:solidFill>
                  <a:srgbClr val="2DD4BF"/>
                </a:solidFill>
                <a:latin typeface="Arial"/>
                <a:ea typeface="Arial"/>
                <a:cs typeface="Arial"/>
              </a:rPr>
              <a:t>7</a:t>
            </a:r>
          </a:p>
        </p:txBody>
      </p:sp>
      <p:sp>
        <p:nvSpPr>
          <p:cNvPr id="12" name="s4-label-2">
            <a:extLst>
              <a:ext uri="{FF2B5EF4-FFF2-40B4-BE49-F238E27FC236}">
                <a16:creationId xmlns:a16="http://schemas.microsoft.com/office/drawing/2014/main" id="{86C3488E-8AE7-40B9-8541-7D1BD89AD5D8}"/>
              </a:ext>
            </a:extLst>
          </p:cNvPr>
          <p:cNvSpPr>
            <a:spLocks noGrp="1"/>
          </p:cNvSpPr>
          <p:nvPr/>
        </p:nvSpPr>
        <p:spPr>
          <a:xfrm>
            <a:off x="8534400" y="4095750"/>
            <a:ext cx="2952750" cy="762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target classes</a:t>
            </a:r>
          </a:p>
          <a:p>
            <a:pPr algn="l">
              <a:buNone/>
              <a:defRPr sz="1650" b="0">
                <a:solidFill>
                  <a:srgbClr val="5F6368"/>
                </a:solidFill>
                <a:latin typeface="Arial"/>
                <a:ea typeface="Arial"/>
                <a:cs typeface="Arial"/>
              </a:defRPr>
            </a:pPr>
            <a:r>
              <a:rPr sz="1575" b="0">
                <a:solidFill>
                  <a:srgbClr val="D6E0ED"/>
                </a:solidFill>
                <a:latin typeface="Arial"/>
                <a:ea typeface="Arial"/>
                <a:cs typeface="Arial"/>
              </a:rPr>
              <a:t>research topics</a:t>
            </a:r>
          </a:p>
        </p:txBody>
      </p:sp>
      <p:sp>
        <p:nvSpPr>
          <p:cNvPr id="13" name="s4-foot">
            <a:extLst>
              <a:ext uri="{FF2B5EF4-FFF2-40B4-BE49-F238E27FC236}">
                <a16:creationId xmlns:a16="http://schemas.microsoft.com/office/drawing/2014/main" id="{ADDB23DF-F60C-40CF-ADE5-1ABF54809A28}"/>
              </a:ext>
            </a:extLst>
          </p:cNvPr>
          <p:cNvSpPr>
            <a:spLocks noGrp="1"/>
          </p:cNvSpPr>
          <p:nvPr/>
        </p:nvSpPr>
        <p:spPr>
          <a:xfrm>
            <a:off x="390525" y="5619750"/>
            <a:ext cx="106680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0">
                <a:solidFill>
                  <a:srgbClr val="5F6368"/>
                </a:solidFill>
                <a:latin typeface="Arial"/>
                <a:ea typeface="Arial"/>
                <a:cs typeface="Arial"/>
              </a:defRPr>
            </a:pPr>
            <a:r>
              <a:rPr sz="1350" b="0">
                <a:solidFill>
                  <a:srgbClr val="94A3B8"/>
                </a:solidFill>
                <a:latin typeface="Arial"/>
                <a:ea typeface="Arial"/>
                <a:cs typeface="Arial"/>
              </a:rPr>
              <a:t>Input dimension: 1,433 binary features · Fixed Planetoid split: 140 train / 500 validation / 1,000 test</a:t>
            </a:r>
          </a:p>
        </p:txBody>
      </p:sp>
      <p:sp>
        <p:nvSpPr>
          <p:cNvPr id="14" name="footer-rule-4">
            <a:extLst>
              <a:ext uri="{FF2B5EF4-FFF2-40B4-BE49-F238E27FC236}">
                <a16:creationId xmlns:a16="http://schemas.microsoft.com/office/drawing/2014/main" id="{6E0D82C8-4B81-462D-BCBD-732106BDD515}"/>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5" name="footer-label-4">
            <a:extLst>
              <a:ext uri="{FF2B5EF4-FFF2-40B4-BE49-F238E27FC236}">
                <a16:creationId xmlns:a16="http://schemas.microsoft.com/office/drawing/2014/main" id="{FDEA75C8-8FFC-4026-A6BD-9AF39CA6AC41}"/>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6" name="footer-page-4">
            <a:extLst>
              <a:ext uri="{FF2B5EF4-FFF2-40B4-BE49-F238E27FC236}">
                <a16:creationId xmlns:a16="http://schemas.microsoft.com/office/drawing/2014/main" id="{C985055C-3FBB-443B-BDB9-B86FBDF872CD}"/>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38BDF8"/>
                </a:solidFill>
                <a:latin typeface="Arial"/>
                <a:ea typeface="Arial"/>
                <a:cs typeface="Arial"/>
              </a:rPr>
              <a:t>05</a:t>
            </a:r>
          </a:p>
        </p:txBody>
      </p:sp>
    </p:spTree>
    <p:extLst>
      <p:ext uri="{BB962C8B-B14F-4D97-AF65-F5344CB8AC3E}">
        <p14:creationId xmlns:p14="http://schemas.microsoft.com/office/powerpoint/2010/main" val="848601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6" name="title-5">
            <a:extLst>
              <a:ext uri="{FF2B5EF4-FFF2-40B4-BE49-F238E27FC236}">
                <a16:creationId xmlns:a16="http://schemas.microsoft.com/office/drawing/2014/main" id="{9ECE8B95-8160-4C4A-A5AC-018E996E47AA}"/>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850" b="1">
                <a:solidFill>
                  <a:srgbClr val="F8FAFC"/>
                </a:solidFill>
                <a:latin typeface="Arial"/>
                <a:ea typeface="Arial"/>
                <a:cs typeface="Arial"/>
              </a:rPr>
              <a:t>Architectural controls isolate distinct propagation mechanisms</a:t>
            </a:r>
          </a:p>
        </p:txBody>
      </p:sp>
      <p:sp>
        <p:nvSpPr>
          <p:cNvPr id="2" name="accent-5">
            <a:extLst>
              <a:ext uri="{FF2B5EF4-FFF2-40B4-BE49-F238E27FC236}">
                <a16:creationId xmlns:a16="http://schemas.microsoft.com/office/drawing/2014/main" id="{35483DAF-8577-49FD-8898-37B1F90169E3}"/>
              </a:ext>
            </a:extLst>
          </p:cNvPr>
          <p:cNvSpPr>
            <a:spLocks noGrp="1"/>
          </p:cNvSpPr>
          <p:nvPr/>
        </p:nvSpPr>
        <p:spPr>
          <a:xfrm>
            <a:off x="476250" y="1057275"/>
            <a:ext cx="1200150" cy="47625"/>
          </a:xfrm>
          <a:prstGeom prst="rect">
            <a:avLst/>
          </a:prstGeom>
          <a:solidFill>
            <a:srgbClr val="9B87F5"/>
          </a:solidFill>
          <a:ln w="0">
            <a:solidFill>
              <a:srgbClr val="000000">
                <a:alpha val="0"/>
              </a:srgbClr>
            </a:solidFill>
            <a:prstDash val="solid"/>
          </a:ln>
        </p:spPr>
      </p:sp>
      <p:sp>
        <p:nvSpPr>
          <p:cNvPr id="3" name="s5-vrule">
            <a:extLst>
              <a:ext uri="{FF2B5EF4-FFF2-40B4-BE49-F238E27FC236}">
                <a16:creationId xmlns:a16="http://schemas.microsoft.com/office/drawing/2014/main" id="{9B4110D5-F1B6-4EE0-B39B-87514075EAA8}"/>
              </a:ext>
            </a:extLst>
          </p:cNvPr>
          <p:cNvSpPr>
            <a:spLocks noGrp="1"/>
          </p:cNvSpPr>
          <p:nvPr/>
        </p:nvSpPr>
        <p:spPr>
          <a:xfrm>
            <a:off x="6096000" y="1619250"/>
            <a:ext cx="9525" cy="4000500"/>
          </a:xfrm>
          <a:prstGeom prst="rect">
            <a:avLst/>
          </a:prstGeom>
          <a:solidFill>
            <a:srgbClr val="2B3C59"/>
          </a:solidFill>
          <a:ln w="0">
            <a:solidFill>
              <a:srgbClr val="000000">
                <a:alpha val="0"/>
              </a:srgbClr>
            </a:solidFill>
            <a:prstDash val="solid"/>
          </a:ln>
        </p:spPr>
      </p:sp>
      <p:sp>
        <p:nvSpPr>
          <p:cNvPr id="4" name="s5-hrule">
            <a:extLst>
              <a:ext uri="{FF2B5EF4-FFF2-40B4-BE49-F238E27FC236}">
                <a16:creationId xmlns:a16="http://schemas.microsoft.com/office/drawing/2014/main" id="{498997EA-810A-4EA7-890A-3B744D487604}"/>
              </a:ext>
            </a:extLst>
          </p:cNvPr>
          <p:cNvSpPr>
            <a:spLocks noGrp="1"/>
          </p:cNvSpPr>
          <p:nvPr/>
        </p:nvSpPr>
        <p:spPr>
          <a:xfrm>
            <a:off x="390525" y="3619500"/>
            <a:ext cx="11410950" cy="9525"/>
          </a:xfrm>
          <a:prstGeom prst="rect">
            <a:avLst/>
          </a:prstGeom>
          <a:solidFill>
            <a:srgbClr val="2B3C59"/>
          </a:solidFill>
          <a:ln w="0">
            <a:solidFill>
              <a:srgbClr val="000000">
                <a:alpha val="0"/>
              </a:srgbClr>
            </a:solidFill>
            <a:prstDash val="solid"/>
          </a:ln>
        </p:spPr>
      </p:sp>
      <p:sp>
        <p:nvSpPr>
          <p:cNvPr id="5" name="s5-label-0">
            <a:extLst>
              <a:ext uri="{FF2B5EF4-FFF2-40B4-BE49-F238E27FC236}">
                <a16:creationId xmlns:a16="http://schemas.microsoft.com/office/drawing/2014/main" id="{90AA5309-3778-442A-B694-2608279BA244}"/>
              </a:ext>
            </a:extLst>
          </p:cNvPr>
          <p:cNvSpPr>
            <a:spLocks noGrp="1"/>
          </p:cNvSpPr>
          <p:nvPr/>
        </p:nvSpPr>
        <p:spPr>
          <a:xfrm>
            <a:off x="390525" y="1695450"/>
            <a:ext cx="49530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111111"/>
                </a:solidFill>
                <a:latin typeface="Arial"/>
                <a:ea typeface="Arial"/>
                <a:cs typeface="Arial"/>
              </a:defRPr>
            </a:pPr>
            <a:r>
              <a:rPr sz="2175" b="1">
                <a:solidFill>
                  <a:srgbClr val="F8FAFC"/>
                </a:solidFill>
                <a:latin typeface="Arial"/>
                <a:ea typeface="Arial"/>
                <a:cs typeface="Arial"/>
              </a:rPr>
              <a:t>GCN</a:t>
            </a:r>
          </a:p>
        </p:txBody>
      </p:sp>
      <p:sp>
        <p:nvSpPr>
          <p:cNvPr id="6" name="s5-body-0">
            <a:extLst>
              <a:ext uri="{FF2B5EF4-FFF2-40B4-BE49-F238E27FC236}">
                <a16:creationId xmlns:a16="http://schemas.microsoft.com/office/drawing/2014/main" id="{F297CD1E-6156-49A0-BB72-D4BDBCB91D57}"/>
              </a:ext>
            </a:extLst>
          </p:cNvPr>
          <p:cNvSpPr>
            <a:spLocks noGrp="1"/>
          </p:cNvSpPr>
          <p:nvPr/>
        </p:nvSpPr>
        <p:spPr>
          <a:xfrm>
            <a:off x="390525" y="2286000"/>
            <a:ext cx="4953000" cy="10001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00" b="0">
                <a:solidFill>
                  <a:srgbClr val="D6E0ED"/>
                </a:solidFill>
                <a:latin typeface="Arial"/>
                <a:ea typeface="Arial"/>
                <a:cs typeface="Arial"/>
              </a:rPr>
              <a:t>Symmetric normalized propagation; reference model for depth-induced contraction.</a:t>
            </a:r>
          </a:p>
        </p:txBody>
      </p:sp>
      <p:sp>
        <p:nvSpPr>
          <p:cNvPr id="7" name="s5-label-1">
            <a:extLst>
              <a:ext uri="{FF2B5EF4-FFF2-40B4-BE49-F238E27FC236}">
                <a16:creationId xmlns:a16="http://schemas.microsoft.com/office/drawing/2014/main" id="{AC70902F-AD2E-4EF3-8C6A-09B9F9A02D55}"/>
              </a:ext>
            </a:extLst>
          </p:cNvPr>
          <p:cNvSpPr>
            <a:spLocks noGrp="1"/>
          </p:cNvSpPr>
          <p:nvPr/>
        </p:nvSpPr>
        <p:spPr>
          <a:xfrm>
            <a:off x="6477000" y="1695450"/>
            <a:ext cx="49530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111111"/>
                </a:solidFill>
                <a:latin typeface="Arial"/>
                <a:ea typeface="Arial"/>
                <a:cs typeface="Arial"/>
              </a:defRPr>
            </a:pPr>
            <a:r>
              <a:rPr sz="2175" b="1">
                <a:solidFill>
                  <a:srgbClr val="F8FAFC"/>
                </a:solidFill>
                <a:latin typeface="Arial"/>
                <a:ea typeface="Arial"/>
                <a:cs typeface="Arial"/>
              </a:rPr>
              <a:t>GraphSAGE</a:t>
            </a:r>
          </a:p>
        </p:txBody>
      </p:sp>
      <p:sp>
        <p:nvSpPr>
          <p:cNvPr id="8" name="s5-body-1">
            <a:extLst>
              <a:ext uri="{FF2B5EF4-FFF2-40B4-BE49-F238E27FC236}">
                <a16:creationId xmlns:a16="http://schemas.microsoft.com/office/drawing/2014/main" id="{FF8F0DDD-2D79-475B-BB11-A2920DA42ABB}"/>
              </a:ext>
            </a:extLst>
          </p:cNvPr>
          <p:cNvSpPr>
            <a:spLocks noGrp="1"/>
          </p:cNvSpPr>
          <p:nvPr/>
        </p:nvSpPr>
        <p:spPr>
          <a:xfrm>
            <a:off x="6477000" y="2286000"/>
            <a:ext cx="4953000" cy="10001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00" b="0">
                <a:solidFill>
                  <a:srgbClr val="D6E0ED"/>
                </a:solidFill>
                <a:latin typeface="Arial"/>
                <a:ea typeface="Arial"/>
                <a:cs typeface="Arial"/>
              </a:rPr>
              <a:t>Mean aggregation with explicit self-features; separates self and neighborhood information.</a:t>
            </a:r>
          </a:p>
        </p:txBody>
      </p:sp>
      <p:sp>
        <p:nvSpPr>
          <p:cNvPr id="9" name="s5-label-2">
            <a:extLst>
              <a:ext uri="{FF2B5EF4-FFF2-40B4-BE49-F238E27FC236}">
                <a16:creationId xmlns:a16="http://schemas.microsoft.com/office/drawing/2014/main" id="{DB93E3EF-8C86-452C-BEDB-596BB7AD53E0}"/>
              </a:ext>
            </a:extLst>
          </p:cNvPr>
          <p:cNvSpPr>
            <a:spLocks noGrp="1"/>
          </p:cNvSpPr>
          <p:nvPr/>
        </p:nvSpPr>
        <p:spPr>
          <a:xfrm>
            <a:off x="390525" y="3857625"/>
            <a:ext cx="49530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111111"/>
                </a:solidFill>
                <a:latin typeface="Arial"/>
                <a:ea typeface="Arial"/>
                <a:cs typeface="Arial"/>
              </a:defRPr>
            </a:pPr>
            <a:r>
              <a:rPr sz="2175" b="1">
                <a:solidFill>
                  <a:srgbClr val="F8FAFC"/>
                </a:solidFill>
                <a:latin typeface="Arial"/>
                <a:ea typeface="Arial"/>
                <a:cs typeface="Arial"/>
              </a:rPr>
              <a:t>GAT</a:t>
            </a:r>
          </a:p>
        </p:txBody>
      </p:sp>
      <p:sp>
        <p:nvSpPr>
          <p:cNvPr id="10" name="s5-body-2">
            <a:extLst>
              <a:ext uri="{FF2B5EF4-FFF2-40B4-BE49-F238E27FC236}">
                <a16:creationId xmlns:a16="http://schemas.microsoft.com/office/drawing/2014/main" id="{D7C35742-60E2-4F66-A25E-E9A743257BD8}"/>
              </a:ext>
            </a:extLst>
          </p:cNvPr>
          <p:cNvSpPr>
            <a:spLocks noGrp="1"/>
          </p:cNvSpPr>
          <p:nvPr/>
        </p:nvSpPr>
        <p:spPr>
          <a:xfrm>
            <a:off x="390525" y="4448175"/>
            <a:ext cx="4953000" cy="10001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00" b="0">
                <a:solidFill>
                  <a:srgbClr val="D6E0ED"/>
                </a:solidFill>
                <a:latin typeface="Arial"/>
                <a:ea typeface="Arial"/>
                <a:cs typeface="Arial"/>
              </a:rPr>
              <a:t>Learned attention weights; tests whether adaptive neighbor weighting delays collapse.</a:t>
            </a:r>
          </a:p>
        </p:txBody>
      </p:sp>
      <p:sp>
        <p:nvSpPr>
          <p:cNvPr id="11" name="s5-label-3">
            <a:extLst>
              <a:ext uri="{FF2B5EF4-FFF2-40B4-BE49-F238E27FC236}">
                <a16:creationId xmlns:a16="http://schemas.microsoft.com/office/drawing/2014/main" id="{A3E20FBE-883D-4865-889D-AE39A332883C}"/>
              </a:ext>
            </a:extLst>
          </p:cNvPr>
          <p:cNvSpPr>
            <a:spLocks noGrp="1"/>
          </p:cNvSpPr>
          <p:nvPr/>
        </p:nvSpPr>
        <p:spPr>
          <a:xfrm>
            <a:off x="6477000" y="3857625"/>
            <a:ext cx="49530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3D8DFF"/>
                </a:solidFill>
                <a:latin typeface="Arial"/>
                <a:ea typeface="Arial"/>
                <a:cs typeface="Arial"/>
              </a:defRPr>
            </a:pPr>
            <a:r>
              <a:rPr sz="2175" b="1">
                <a:solidFill>
                  <a:srgbClr val="38BDF8"/>
                </a:solidFill>
                <a:latin typeface="Arial"/>
                <a:ea typeface="Arial"/>
                <a:cs typeface="Arial"/>
              </a:rPr>
              <a:t>GCNII</a:t>
            </a:r>
          </a:p>
        </p:txBody>
      </p:sp>
      <p:sp>
        <p:nvSpPr>
          <p:cNvPr id="12" name="s5-body-3">
            <a:extLst>
              <a:ext uri="{FF2B5EF4-FFF2-40B4-BE49-F238E27FC236}">
                <a16:creationId xmlns:a16="http://schemas.microsoft.com/office/drawing/2014/main" id="{473ECDE5-6F9E-4439-A156-3B137C0FAC27}"/>
              </a:ext>
            </a:extLst>
          </p:cNvPr>
          <p:cNvSpPr>
            <a:spLocks noGrp="1"/>
          </p:cNvSpPr>
          <p:nvPr/>
        </p:nvSpPr>
        <p:spPr>
          <a:xfrm>
            <a:off x="6477000" y="4448175"/>
            <a:ext cx="4953000" cy="10001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00" b="0">
                <a:solidFill>
                  <a:srgbClr val="D6E0ED"/>
                </a:solidFill>
                <a:latin typeface="Arial"/>
                <a:ea typeface="Arial"/>
                <a:cs typeface="Arial"/>
              </a:rPr>
              <a:t>Initial residuals and identity mapping; purpose-built control for stable deep propagation.</a:t>
            </a:r>
          </a:p>
        </p:txBody>
      </p:sp>
      <p:sp>
        <p:nvSpPr>
          <p:cNvPr id="13" name="footer-rule-5">
            <a:extLst>
              <a:ext uri="{FF2B5EF4-FFF2-40B4-BE49-F238E27FC236}">
                <a16:creationId xmlns:a16="http://schemas.microsoft.com/office/drawing/2014/main" id="{FDCD9255-8BE3-49E2-9DF8-EABDEB1D1E77}"/>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4" name="footer-label-5">
            <a:extLst>
              <a:ext uri="{FF2B5EF4-FFF2-40B4-BE49-F238E27FC236}">
                <a16:creationId xmlns:a16="http://schemas.microsoft.com/office/drawing/2014/main" id="{4DA3DBFC-463C-4CD3-AFF3-CCDF7FCAE32A}"/>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5" name="footer-page-5">
            <a:extLst>
              <a:ext uri="{FF2B5EF4-FFF2-40B4-BE49-F238E27FC236}">
                <a16:creationId xmlns:a16="http://schemas.microsoft.com/office/drawing/2014/main" id="{78E1FDED-D42E-4C7A-9C6A-216F536EB85A}"/>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9B87F5"/>
                </a:solidFill>
                <a:latin typeface="Arial"/>
                <a:ea typeface="Arial"/>
                <a:cs typeface="Arial"/>
              </a:rPr>
              <a:t>06</a:t>
            </a:r>
          </a:p>
        </p:txBody>
      </p:sp>
    </p:spTree>
    <p:extLst>
      <p:ext uri="{BB962C8B-B14F-4D97-AF65-F5344CB8AC3E}">
        <p14:creationId xmlns:p14="http://schemas.microsoft.com/office/powerpoint/2010/main" val="81484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8" name="title-6">
            <a:extLst>
              <a:ext uri="{FF2B5EF4-FFF2-40B4-BE49-F238E27FC236}">
                <a16:creationId xmlns:a16="http://schemas.microsoft.com/office/drawing/2014/main" id="{F9EA760E-9A02-4568-B6C3-1CB3837547AC}"/>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700" b="1">
                <a:solidFill>
                  <a:srgbClr val="F8FAFC"/>
                </a:solidFill>
                <a:latin typeface="Arial"/>
                <a:ea typeface="Arial"/>
                <a:cs typeface="Arial"/>
              </a:rPr>
              <a:t>Experimental protocol and reproducibility controls</a:t>
            </a:r>
          </a:p>
        </p:txBody>
      </p:sp>
      <p:sp>
        <p:nvSpPr>
          <p:cNvPr id="2" name="accent-6">
            <a:extLst>
              <a:ext uri="{FF2B5EF4-FFF2-40B4-BE49-F238E27FC236}">
                <a16:creationId xmlns:a16="http://schemas.microsoft.com/office/drawing/2014/main" id="{61A493ED-5F9D-4639-AB9B-3D5DB01E0F3A}"/>
              </a:ext>
            </a:extLst>
          </p:cNvPr>
          <p:cNvSpPr>
            <a:spLocks noGrp="1"/>
          </p:cNvSpPr>
          <p:nvPr/>
        </p:nvSpPr>
        <p:spPr>
          <a:xfrm>
            <a:off x="476250" y="1057275"/>
            <a:ext cx="1200150" cy="47625"/>
          </a:xfrm>
          <a:prstGeom prst="rect">
            <a:avLst/>
          </a:prstGeom>
          <a:solidFill>
            <a:srgbClr val="38BDF8"/>
          </a:solidFill>
          <a:ln w="0">
            <a:solidFill>
              <a:srgbClr val="000000">
                <a:alpha val="0"/>
              </a:srgbClr>
            </a:solidFill>
            <a:prstDash val="solid"/>
          </a:ln>
        </p:spPr>
      </p:sp>
      <p:sp>
        <p:nvSpPr>
          <p:cNvPr id="3" name="s6-panel-0">
            <a:extLst>
              <a:ext uri="{FF2B5EF4-FFF2-40B4-BE49-F238E27FC236}">
                <a16:creationId xmlns:a16="http://schemas.microsoft.com/office/drawing/2014/main" id="{122F35BD-BC29-4639-A1CF-93D43A39102E}"/>
              </a:ext>
            </a:extLst>
          </p:cNvPr>
          <p:cNvSpPr>
            <a:spLocks noGrp="1"/>
          </p:cNvSpPr>
          <p:nvPr/>
        </p:nvSpPr>
        <p:spPr>
          <a:xfrm>
            <a:off x="390525" y="1524000"/>
            <a:ext cx="3571875" cy="3810000"/>
          </a:xfrm>
          <a:prstGeom prst="roundRect">
            <a:avLst>
              <a:gd name="adj" fmla="val 2133"/>
            </a:avLst>
          </a:prstGeom>
          <a:solidFill>
            <a:srgbClr val="13243B"/>
          </a:solidFill>
          <a:ln w="15240">
            <a:solidFill>
              <a:srgbClr val="38BDF8"/>
            </a:solidFill>
            <a:prstDash val="solid"/>
          </a:ln>
        </p:spPr>
      </p:sp>
      <p:sp>
        <p:nvSpPr>
          <p:cNvPr id="4" name="s6-num-0">
            <a:extLst>
              <a:ext uri="{FF2B5EF4-FFF2-40B4-BE49-F238E27FC236}">
                <a16:creationId xmlns:a16="http://schemas.microsoft.com/office/drawing/2014/main" id="{5427696E-3D35-41ED-BE5B-93BCAB0B6DB9}"/>
              </a:ext>
            </a:extLst>
          </p:cNvPr>
          <p:cNvSpPr>
            <a:spLocks noGrp="1"/>
          </p:cNvSpPr>
          <p:nvPr/>
        </p:nvSpPr>
        <p:spPr>
          <a:xfrm>
            <a:off x="676275" y="1790700"/>
            <a:ext cx="9048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3D8DFF"/>
                </a:solidFill>
                <a:latin typeface="Arial"/>
                <a:ea typeface="Arial"/>
                <a:cs typeface="Arial"/>
              </a:defRPr>
            </a:pPr>
            <a:r>
              <a:rPr sz="1425" b="1">
                <a:solidFill>
                  <a:srgbClr val="38BDF8"/>
                </a:solidFill>
                <a:latin typeface="Arial"/>
                <a:ea typeface="Arial"/>
                <a:cs typeface="Arial"/>
              </a:rPr>
              <a:t>01</a:t>
            </a:r>
          </a:p>
        </p:txBody>
      </p:sp>
      <p:sp>
        <p:nvSpPr>
          <p:cNvPr id="5" name="s6-title-0">
            <a:extLst>
              <a:ext uri="{FF2B5EF4-FFF2-40B4-BE49-F238E27FC236}">
                <a16:creationId xmlns:a16="http://schemas.microsoft.com/office/drawing/2014/main" id="{4903A17B-87A1-49BD-A229-EACBE7777419}"/>
              </a:ext>
            </a:extLst>
          </p:cNvPr>
          <p:cNvSpPr>
            <a:spLocks noGrp="1"/>
          </p:cNvSpPr>
          <p:nvPr/>
        </p:nvSpPr>
        <p:spPr>
          <a:xfrm>
            <a:off x="676275" y="2333625"/>
            <a:ext cx="2952750" cy="5238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111111"/>
                </a:solidFill>
                <a:latin typeface="Arial"/>
                <a:ea typeface="Arial"/>
                <a:cs typeface="Arial"/>
              </a:defRPr>
            </a:pPr>
            <a:r>
              <a:rPr sz="2175" b="1">
                <a:solidFill>
                  <a:srgbClr val="F8FAFC"/>
                </a:solidFill>
                <a:latin typeface="Arial"/>
                <a:ea typeface="Arial"/>
                <a:cs typeface="Arial"/>
              </a:rPr>
              <a:t>Depth sweep</a:t>
            </a:r>
          </a:p>
        </p:txBody>
      </p:sp>
      <p:sp>
        <p:nvSpPr>
          <p:cNvPr id="6" name="s6-body-0">
            <a:extLst>
              <a:ext uri="{FF2B5EF4-FFF2-40B4-BE49-F238E27FC236}">
                <a16:creationId xmlns:a16="http://schemas.microsoft.com/office/drawing/2014/main" id="{6869FDC8-E410-4235-943E-00940946F422}"/>
              </a:ext>
            </a:extLst>
          </p:cNvPr>
          <p:cNvSpPr>
            <a:spLocks noGrp="1"/>
          </p:cNvSpPr>
          <p:nvPr/>
        </p:nvSpPr>
        <p:spPr>
          <a:xfrm>
            <a:off x="676275" y="3048000"/>
            <a:ext cx="2952750" cy="18573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75" b="0">
                <a:solidFill>
                  <a:srgbClr val="D6E0ED"/>
                </a:solidFill>
                <a:latin typeface="Arial"/>
                <a:ea typeface="Arial"/>
                <a:cs typeface="Arial"/>
              </a:rPr>
              <a:t>Architectures: 4</a:t>
            </a:r>
          </a:p>
          <a:p>
            <a:pPr algn="l">
              <a:buNone/>
              <a:defRPr sz="1575" b="0">
                <a:solidFill>
                  <a:srgbClr val="5F6368"/>
                </a:solidFill>
                <a:latin typeface="Arial"/>
                <a:ea typeface="Arial"/>
                <a:cs typeface="Arial"/>
              </a:defRPr>
            </a:pPr>
            <a:r>
              <a:rPr sz="1575" b="0">
                <a:solidFill>
                  <a:srgbClr val="D6E0ED"/>
                </a:solidFill>
                <a:latin typeface="Arial"/>
                <a:ea typeface="Arial"/>
                <a:cs typeface="Arial"/>
              </a:rPr>
              <a:t>Depths: {2, 4, 8, 16, 32}</a:t>
            </a:r>
          </a:p>
          <a:p>
            <a:pPr algn="l">
              <a:buNone/>
              <a:defRPr sz="1575" b="0">
                <a:solidFill>
                  <a:srgbClr val="5F6368"/>
                </a:solidFill>
                <a:latin typeface="Arial"/>
                <a:ea typeface="Arial"/>
                <a:cs typeface="Arial"/>
              </a:defRPr>
            </a:pPr>
            <a:r>
              <a:rPr sz="1575" b="0">
                <a:solidFill>
                  <a:srgbClr val="D6E0ED"/>
                </a:solidFill>
                <a:latin typeface="Arial"/>
                <a:ea typeface="Arial"/>
                <a:cs typeface="Arial"/>
              </a:rPr>
              <a:t>Independent seeds: 10</a:t>
            </a:r>
          </a:p>
        </p:txBody>
      </p:sp>
      <p:sp>
        <p:nvSpPr>
          <p:cNvPr id="7" name="s6-panel-1">
            <a:extLst>
              <a:ext uri="{FF2B5EF4-FFF2-40B4-BE49-F238E27FC236}">
                <a16:creationId xmlns:a16="http://schemas.microsoft.com/office/drawing/2014/main" id="{675B8378-BF84-4F9B-AF9A-695F71F4EB89}"/>
              </a:ext>
            </a:extLst>
          </p:cNvPr>
          <p:cNvSpPr>
            <a:spLocks noGrp="1"/>
          </p:cNvSpPr>
          <p:nvPr/>
        </p:nvSpPr>
        <p:spPr>
          <a:xfrm>
            <a:off x="4314825" y="1524000"/>
            <a:ext cx="3571875" cy="3810000"/>
          </a:xfrm>
          <a:prstGeom prst="roundRect">
            <a:avLst>
              <a:gd name="adj" fmla="val 2133"/>
            </a:avLst>
          </a:prstGeom>
          <a:solidFill>
            <a:srgbClr val="1A2038"/>
          </a:solidFill>
          <a:ln w="15240">
            <a:solidFill>
              <a:srgbClr val="9B87F5"/>
            </a:solidFill>
            <a:prstDash val="solid"/>
          </a:ln>
        </p:spPr>
      </p:sp>
      <p:sp>
        <p:nvSpPr>
          <p:cNvPr id="8" name="s6-num-1">
            <a:extLst>
              <a:ext uri="{FF2B5EF4-FFF2-40B4-BE49-F238E27FC236}">
                <a16:creationId xmlns:a16="http://schemas.microsoft.com/office/drawing/2014/main" id="{D3E1E150-E61A-4B82-A2A4-6EEA8060B556}"/>
              </a:ext>
            </a:extLst>
          </p:cNvPr>
          <p:cNvSpPr>
            <a:spLocks noGrp="1"/>
          </p:cNvSpPr>
          <p:nvPr/>
        </p:nvSpPr>
        <p:spPr>
          <a:xfrm>
            <a:off x="4600575" y="1790700"/>
            <a:ext cx="9048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3D8DFF"/>
                </a:solidFill>
                <a:latin typeface="Arial"/>
                <a:ea typeface="Arial"/>
                <a:cs typeface="Arial"/>
              </a:defRPr>
            </a:pPr>
            <a:r>
              <a:rPr sz="1425" b="1">
                <a:solidFill>
                  <a:srgbClr val="9B87F5"/>
                </a:solidFill>
                <a:latin typeface="Arial"/>
                <a:ea typeface="Arial"/>
                <a:cs typeface="Arial"/>
              </a:rPr>
              <a:t>02</a:t>
            </a:r>
          </a:p>
        </p:txBody>
      </p:sp>
      <p:sp>
        <p:nvSpPr>
          <p:cNvPr id="9" name="s6-title-1">
            <a:extLst>
              <a:ext uri="{FF2B5EF4-FFF2-40B4-BE49-F238E27FC236}">
                <a16:creationId xmlns:a16="http://schemas.microsoft.com/office/drawing/2014/main" id="{522B6B1B-023A-4B1B-AB35-C9949AABCE4E}"/>
              </a:ext>
            </a:extLst>
          </p:cNvPr>
          <p:cNvSpPr>
            <a:spLocks noGrp="1"/>
          </p:cNvSpPr>
          <p:nvPr/>
        </p:nvSpPr>
        <p:spPr>
          <a:xfrm>
            <a:off x="4600575" y="2333625"/>
            <a:ext cx="2952750" cy="5238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111111"/>
                </a:solidFill>
                <a:latin typeface="Arial"/>
                <a:ea typeface="Arial"/>
                <a:cs typeface="Arial"/>
              </a:defRPr>
            </a:pPr>
            <a:r>
              <a:rPr sz="2175" b="1">
                <a:solidFill>
                  <a:srgbClr val="F8FAFC"/>
                </a:solidFill>
                <a:latin typeface="Arial"/>
                <a:ea typeface="Arial"/>
                <a:cs typeface="Arial"/>
              </a:rPr>
              <a:t>Diagnostics</a:t>
            </a:r>
          </a:p>
        </p:txBody>
      </p:sp>
      <p:sp>
        <p:nvSpPr>
          <p:cNvPr id="10" name="s6-body-1">
            <a:extLst>
              <a:ext uri="{FF2B5EF4-FFF2-40B4-BE49-F238E27FC236}">
                <a16:creationId xmlns:a16="http://schemas.microsoft.com/office/drawing/2014/main" id="{304DE4E2-4BB0-48E2-BCBC-0BA950E6C4A0}"/>
              </a:ext>
            </a:extLst>
          </p:cNvPr>
          <p:cNvSpPr>
            <a:spLocks noGrp="1"/>
          </p:cNvSpPr>
          <p:nvPr/>
        </p:nvSpPr>
        <p:spPr>
          <a:xfrm>
            <a:off x="4600575" y="3048000"/>
            <a:ext cx="2952750" cy="18573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75" b="0">
                <a:solidFill>
                  <a:srgbClr val="D6E0ED"/>
                </a:solidFill>
                <a:latin typeface="Arial"/>
                <a:ea typeface="Arial"/>
                <a:cs typeface="Arial"/>
              </a:rPr>
              <a:t>Test accuracy</a:t>
            </a:r>
          </a:p>
          <a:p>
            <a:pPr algn="l">
              <a:buNone/>
              <a:defRPr sz="1575" b="0">
                <a:solidFill>
                  <a:srgbClr val="5F6368"/>
                </a:solidFill>
                <a:latin typeface="Arial"/>
                <a:ea typeface="Arial"/>
                <a:cs typeface="Arial"/>
              </a:defRPr>
            </a:pPr>
            <a:r>
              <a:rPr sz="1575" b="0">
                <a:solidFill>
                  <a:srgbClr val="D6E0ED"/>
                </a:solidFill>
                <a:latin typeface="Arial"/>
                <a:ea typeface="Arial"/>
                <a:cs typeface="Arial"/>
              </a:rPr>
              <a:t>MAD + Dirichlet energy</a:t>
            </a:r>
          </a:p>
          <a:p>
            <a:pPr algn="l">
              <a:buNone/>
              <a:defRPr sz="1575" b="0">
                <a:solidFill>
                  <a:srgbClr val="5F6368"/>
                </a:solidFill>
                <a:latin typeface="Arial"/>
                <a:ea typeface="Arial"/>
                <a:cs typeface="Arial"/>
              </a:defRPr>
            </a:pPr>
            <a:r>
              <a:rPr sz="1575" b="0">
                <a:solidFill>
                  <a:srgbClr val="D6E0ED"/>
                </a:solidFill>
                <a:latin typeface="Arial"/>
                <a:ea typeface="Arial"/>
                <a:cs typeface="Arial"/>
              </a:rPr>
              <a:t>Epoch 0 · checkpoint · final</a:t>
            </a:r>
          </a:p>
        </p:txBody>
      </p:sp>
      <p:sp>
        <p:nvSpPr>
          <p:cNvPr id="11" name="s6-panel-2">
            <a:extLst>
              <a:ext uri="{FF2B5EF4-FFF2-40B4-BE49-F238E27FC236}">
                <a16:creationId xmlns:a16="http://schemas.microsoft.com/office/drawing/2014/main" id="{C469FF48-523C-4B27-8516-EC0EAD8FE339}"/>
              </a:ext>
            </a:extLst>
          </p:cNvPr>
          <p:cNvSpPr>
            <a:spLocks noGrp="1"/>
          </p:cNvSpPr>
          <p:nvPr/>
        </p:nvSpPr>
        <p:spPr>
          <a:xfrm>
            <a:off x="8229600" y="1524000"/>
            <a:ext cx="3571875" cy="3810000"/>
          </a:xfrm>
          <a:prstGeom prst="roundRect">
            <a:avLst>
              <a:gd name="adj" fmla="val 2133"/>
            </a:avLst>
          </a:prstGeom>
          <a:solidFill>
            <a:srgbClr val="102D35"/>
          </a:solidFill>
          <a:ln w="15240">
            <a:solidFill>
              <a:srgbClr val="2DD4BF"/>
            </a:solidFill>
            <a:prstDash val="solid"/>
          </a:ln>
        </p:spPr>
      </p:sp>
      <p:sp>
        <p:nvSpPr>
          <p:cNvPr id="12" name="s6-num-2">
            <a:extLst>
              <a:ext uri="{FF2B5EF4-FFF2-40B4-BE49-F238E27FC236}">
                <a16:creationId xmlns:a16="http://schemas.microsoft.com/office/drawing/2014/main" id="{AE215225-A267-4AC1-9DC9-50B7C7EEA095}"/>
              </a:ext>
            </a:extLst>
          </p:cNvPr>
          <p:cNvSpPr>
            <a:spLocks noGrp="1"/>
          </p:cNvSpPr>
          <p:nvPr/>
        </p:nvSpPr>
        <p:spPr>
          <a:xfrm>
            <a:off x="8515350" y="1790700"/>
            <a:ext cx="9048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3D8DFF"/>
                </a:solidFill>
                <a:latin typeface="Arial"/>
                <a:ea typeface="Arial"/>
                <a:cs typeface="Arial"/>
              </a:defRPr>
            </a:pPr>
            <a:r>
              <a:rPr sz="1425" b="1">
                <a:solidFill>
                  <a:srgbClr val="2DD4BF"/>
                </a:solidFill>
                <a:latin typeface="Arial"/>
                <a:ea typeface="Arial"/>
                <a:cs typeface="Arial"/>
              </a:rPr>
              <a:t>03</a:t>
            </a:r>
          </a:p>
        </p:txBody>
      </p:sp>
      <p:sp>
        <p:nvSpPr>
          <p:cNvPr id="13" name="s6-title-2">
            <a:extLst>
              <a:ext uri="{FF2B5EF4-FFF2-40B4-BE49-F238E27FC236}">
                <a16:creationId xmlns:a16="http://schemas.microsoft.com/office/drawing/2014/main" id="{258F24B7-CAE3-4C44-B0AE-DA929DACE806}"/>
              </a:ext>
            </a:extLst>
          </p:cNvPr>
          <p:cNvSpPr>
            <a:spLocks noGrp="1"/>
          </p:cNvSpPr>
          <p:nvPr/>
        </p:nvSpPr>
        <p:spPr>
          <a:xfrm>
            <a:off x="8515350" y="2333625"/>
            <a:ext cx="2952750" cy="5238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111111"/>
                </a:solidFill>
                <a:latin typeface="Arial"/>
                <a:ea typeface="Arial"/>
                <a:cs typeface="Arial"/>
              </a:defRPr>
            </a:pPr>
            <a:r>
              <a:rPr sz="2175" b="1">
                <a:solidFill>
                  <a:srgbClr val="F8FAFC"/>
                </a:solidFill>
                <a:latin typeface="Arial"/>
                <a:ea typeface="Arial"/>
                <a:cs typeface="Arial"/>
              </a:rPr>
              <a:t>Interventions</a:t>
            </a:r>
          </a:p>
        </p:txBody>
      </p:sp>
      <p:sp>
        <p:nvSpPr>
          <p:cNvPr id="14" name="s6-body-2">
            <a:extLst>
              <a:ext uri="{FF2B5EF4-FFF2-40B4-BE49-F238E27FC236}">
                <a16:creationId xmlns:a16="http://schemas.microsoft.com/office/drawing/2014/main" id="{D55EBC9E-E4A2-40B7-962D-F92B1709263E}"/>
              </a:ext>
            </a:extLst>
          </p:cNvPr>
          <p:cNvSpPr>
            <a:spLocks noGrp="1"/>
          </p:cNvSpPr>
          <p:nvPr/>
        </p:nvSpPr>
        <p:spPr>
          <a:xfrm>
            <a:off x="8515350" y="3048000"/>
            <a:ext cx="2952750" cy="18573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75" b="0">
                <a:solidFill>
                  <a:srgbClr val="D6E0ED"/>
                </a:solidFill>
                <a:latin typeface="Arial"/>
                <a:ea typeface="Arial"/>
                <a:cs typeface="Arial"/>
              </a:rPr>
              <a:t>Residual · PairNorm</a:t>
            </a:r>
          </a:p>
          <a:p>
            <a:pPr algn="l">
              <a:buNone/>
              <a:defRPr sz="1575" b="0">
                <a:solidFill>
                  <a:srgbClr val="5F6368"/>
                </a:solidFill>
                <a:latin typeface="Arial"/>
                <a:ea typeface="Arial"/>
                <a:cs typeface="Arial"/>
              </a:defRPr>
            </a:pPr>
            <a:r>
              <a:rPr sz="1575" b="0">
                <a:solidFill>
                  <a:srgbClr val="D6E0ED"/>
                </a:solidFill>
                <a:latin typeface="Arial"/>
                <a:ea typeface="Arial"/>
                <a:cs typeface="Arial"/>
              </a:rPr>
              <a:t>Jumping Knowledge</a:t>
            </a:r>
          </a:p>
          <a:p>
            <a:pPr algn="l">
              <a:buNone/>
              <a:defRPr sz="1575" b="0">
                <a:solidFill>
                  <a:srgbClr val="5F6368"/>
                </a:solidFill>
                <a:latin typeface="Arial"/>
                <a:ea typeface="Arial"/>
                <a:cs typeface="Arial"/>
              </a:defRPr>
            </a:pPr>
            <a:r>
              <a:rPr sz="1575" b="0">
                <a:solidFill>
                  <a:srgbClr val="D6E0ED"/>
                </a:solidFill>
                <a:latin typeface="Arial"/>
                <a:ea typeface="Arial"/>
                <a:cs typeface="Arial"/>
              </a:rPr>
              <a:t>GCNII architectural control</a:t>
            </a:r>
          </a:p>
        </p:txBody>
      </p:sp>
      <p:sp>
        <p:nvSpPr>
          <p:cNvPr id="15" name="footer-rule-6">
            <a:extLst>
              <a:ext uri="{FF2B5EF4-FFF2-40B4-BE49-F238E27FC236}">
                <a16:creationId xmlns:a16="http://schemas.microsoft.com/office/drawing/2014/main" id="{83B58FDF-E44B-4DF5-AAC2-7D60BD8E5B09}"/>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6" name="footer-label-6">
            <a:extLst>
              <a:ext uri="{FF2B5EF4-FFF2-40B4-BE49-F238E27FC236}">
                <a16:creationId xmlns:a16="http://schemas.microsoft.com/office/drawing/2014/main" id="{1E867763-71F3-49AB-B528-F47E420913B0}"/>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7" name="footer-page-6">
            <a:extLst>
              <a:ext uri="{FF2B5EF4-FFF2-40B4-BE49-F238E27FC236}">
                <a16:creationId xmlns:a16="http://schemas.microsoft.com/office/drawing/2014/main" id="{539824BC-962F-4C50-A865-28B6DA06BCA0}"/>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38BDF8"/>
                </a:solidFill>
                <a:latin typeface="Arial"/>
                <a:ea typeface="Arial"/>
                <a:cs typeface="Arial"/>
              </a:rPr>
              <a:t>07</a:t>
            </a:r>
          </a:p>
        </p:txBody>
      </p:sp>
    </p:spTree>
    <p:extLst>
      <p:ext uri="{BB962C8B-B14F-4D97-AF65-F5344CB8AC3E}">
        <p14:creationId xmlns:p14="http://schemas.microsoft.com/office/powerpoint/2010/main" val="1959507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4" name="title-7">
            <a:extLst>
              <a:ext uri="{FF2B5EF4-FFF2-40B4-BE49-F238E27FC236}">
                <a16:creationId xmlns:a16="http://schemas.microsoft.com/office/drawing/2014/main" id="{7107B142-9239-4A5D-BF62-AF4115416748}"/>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700" b="1">
                <a:solidFill>
                  <a:srgbClr val="F8FAFC"/>
                </a:solidFill>
                <a:latin typeface="Arial"/>
                <a:ea typeface="Arial"/>
                <a:cs typeface="Arial"/>
              </a:rPr>
              <a:t>Representation diagnostics: formal definitions</a:t>
            </a:r>
          </a:p>
        </p:txBody>
      </p:sp>
      <p:sp>
        <p:nvSpPr>
          <p:cNvPr id="2" name="accent-7">
            <a:extLst>
              <a:ext uri="{FF2B5EF4-FFF2-40B4-BE49-F238E27FC236}">
                <a16:creationId xmlns:a16="http://schemas.microsoft.com/office/drawing/2014/main" id="{D682D63B-AEE2-4449-8939-7F286A38EB1D}"/>
              </a:ext>
            </a:extLst>
          </p:cNvPr>
          <p:cNvSpPr>
            <a:spLocks noGrp="1"/>
          </p:cNvSpPr>
          <p:nvPr/>
        </p:nvSpPr>
        <p:spPr>
          <a:xfrm>
            <a:off x="476250" y="1057275"/>
            <a:ext cx="1200150" cy="47625"/>
          </a:xfrm>
          <a:prstGeom prst="rect">
            <a:avLst/>
          </a:prstGeom>
          <a:solidFill>
            <a:srgbClr val="9B87F5"/>
          </a:solidFill>
          <a:ln w="0">
            <a:solidFill>
              <a:srgbClr val="000000">
                <a:alpha val="0"/>
              </a:srgbClr>
            </a:solidFill>
            <a:prstDash val="solid"/>
          </a:ln>
        </p:spPr>
      </p:sp>
      <p:sp>
        <p:nvSpPr>
          <p:cNvPr id="3" name="s7-mad">
            <a:extLst>
              <a:ext uri="{FF2B5EF4-FFF2-40B4-BE49-F238E27FC236}">
                <a16:creationId xmlns:a16="http://schemas.microsoft.com/office/drawing/2014/main" id="{844894F4-21C9-490B-B602-7957AEA2A589}"/>
              </a:ext>
            </a:extLst>
          </p:cNvPr>
          <p:cNvSpPr>
            <a:spLocks noGrp="1"/>
          </p:cNvSpPr>
          <p:nvPr/>
        </p:nvSpPr>
        <p:spPr>
          <a:xfrm>
            <a:off x="390525" y="1809750"/>
            <a:ext cx="49530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4200" b="1">
                <a:solidFill>
                  <a:srgbClr val="3D8DFF"/>
                </a:solidFill>
                <a:latin typeface="Arial"/>
                <a:ea typeface="Arial"/>
                <a:cs typeface="Arial"/>
              </a:defRPr>
            </a:pPr>
            <a:r>
              <a:rPr sz="4200" b="1">
                <a:solidFill>
                  <a:srgbClr val="38BDF8"/>
                </a:solidFill>
                <a:latin typeface="Arial"/>
                <a:ea typeface="Arial"/>
                <a:cs typeface="Arial"/>
              </a:rPr>
              <a:t>MAD(H)</a:t>
            </a:r>
          </a:p>
        </p:txBody>
      </p:sp>
      <p:sp>
        <p:nvSpPr>
          <p:cNvPr id="4" name="s7-mad-sub">
            <a:extLst>
              <a:ext uri="{FF2B5EF4-FFF2-40B4-BE49-F238E27FC236}">
                <a16:creationId xmlns:a16="http://schemas.microsoft.com/office/drawing/2014/main" id="{C912FAF6-1B06-4BD0-A8CB-3F850ABF27AE}"/>
              </a:ext>
            </a:extLst>
          </p:cNvPr>
          <p:cNvSpPr>
            <a:spLocks noGrp="1"/>
          </p:cNvSpPr>
          <p:nvPr/>
        </p:nvSpPr>
        <p:spPr>
          <a:xfrm>
            <a:off x="390525" y="2781300"/>
            <a:ext cx="4953000" cy="4286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75" b="1">
                <a:solidFill>
                  <a:srgbClr val="111111"/>
                </a:solidFill>
                <a:latin typeface="Arial"/>
                <a:ea typeface="Arial"/>
                <a:cs typeface="Arial"/>
              </a:defRPr>
            </a:pPr>
            <a:r>
              <a:rPr sz="1800" b="1">
                <a:solidFill>
                  <a:srgbClr val="F8FAFC"/>
                </a:solidFill>
                <a:latin typeface="Arial"/>
                <a:ea typeface="Arial"/>
                <a:cs typeface="Arial"/>
              </a:rPr>
              <a:t>Cosine-distance geometry</a:t>
            </a:r>
          </a:p>
        </p:txBody>
      </p:sp>
      <p:sp>
        <p:nvSpPr>
          <p:cNvPr id="5" name="s7-mad-body">
            <a:extLst>
              <a:ext uri="{FF2B5EF4-FFF2-40B4-BE49-F238E27FC236}">
                <a16:creationId xmlns:a16="http://schemas.microsoft.com/office/drawing/2014/main" id="{805D3A81-F39B-4595-ABFF-31103E155164}"/>
              </a:ext>
            </a:extLst>
          </p:cNvPr>
          <p:cNvSpPr>
            <a:spLocks noGrp="1"/>
          </p:cNvSpPr>
          <p:nvPr/>
        </p:nvSpPr>
        <p:spPr>
          <a:xfrm>
            <a:off x="390525" y="3381375"/>
            <a:ext cx="4953000" cy="1428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Dᵢⱼ = 1 − cos(hᵢ, hⱼ)</a:t>
            </a:r>
          </a:p>
          <a:p>
            <a:pPr algn="l">
              <a:buNone/>
              <a:defRPr sz="1650" b="0">
                <a:solidFill>
                  <a:srgbClr val="5F6368"/>
                </a:solidFill>
                <a:latin typeface="Arial"/>
                <a:ea typeface="Arial"/>
                <a:cs typeface="Arial"/>
              </a:defRPr>
            </a:pPr>
            <a:r>
              <a:rPr sz="1575" b="0">
                <a:solidFill>
                  <a:srgbClr val="D6E0ED"/>
                </a:solidFill>
                <a:latin typeface="Arial"/>
                <a:ea typeface="Arial"/>
                <a:cs typeface="Arial"/>
              </a:rPr>
              <a:t>MAD(H) = mean₍Dᵢⱼ≠0₎ Dᵢⱼ</a:t>
            </a:r>
          </a:p>
          <a:p>
            <a:pPr algn="l">
              <a:buNone/>
              <a:defRPr sz="1650" b="0">
                <a:solidFill>
                  <a:srgbClr val="5F6368"/>
                </a:solidFill>
                <a:latin typeface="Arial"/>
                <a:ea typeface="Arial"/>
                <a:cs typeface="Arial"/>
              </a:defRPr>
            </a:pPr>
            <a:r>
              <a:rPr sz="1575" b="0">
                <a:solidFill>
                  <a:srgbClr val="D6E0ED"/>
                </a:solidFill>
                <a:latin typeface="Arial"/>
                <a:ea typeface="Arial"/>
                <a:cs typeface="Arial"/>
              </a:rPr>
              <a:t>Scale-invariant; lower values indicate directional collapse.</a:t>
            </a:r>
          </a:p>
        </p:txBody>
      </p:sp>
      <p:sp>
        <p:nvSpPr>
          <p:cNvPr id="6" name="s7-divider">
            <a:extLst>
              <a:ext uri="{FF2B5EF4-FFF2-40B4-BE49-F238E27FC236}">
                <a16:creationId xmlns:a16="http://schemas.microsoft.com/office/drawing/2014/main" id="{7B393DF8-C51E-4554-9313-CF2B29144A71}"/>
              </a:ext>
            </a:extLst>
          </p:cNvPr>
          <p:cNvSpPr>
            <a:spLocks noGrp="1"/>
          </p:cNvSpPr>
          <p:nvPr/>
        </p:nvSpPr>
        <p:spPr>
          <a:xfrm>
            <a:off x="5953125" y="1676400"/>
            <a:ext cx="9525" cy="3714750"/>
          </a:xfrm>
          <a:prstGeom prst="rect">
            <a:avLst/>
          </a:prstGeom>
          <a:solidFill>
            <a:srgbClr val="2B3C59"/>
          </a:solidFill>
          <a:ln w="0">
            <a:solidFill>
              <a:srgbClr val="000000">
                <a:alpha val="0"/>
              </a:srgbClr>
            </a:solidFill>
            <a:prstDash val="solid"/>
          </a:ln>
        </p:spPr>
      </p:sp>
      <p:sp>
        <p:nvSpPr>
          <p:cNvPr id="7" name="s7-energy">
            <a:extLst>
              <a:ext uri="{FF2B5EF4-FFF2-40B4-BE49-F238E27FC236}">
                <a16:creationId xmlns:a16="http://schemas.microsoft.com/office/drawing/2014/main" id="{0E1013E0-2FE6-475D-A1FD-9674D3B383E1}"/>
              </a:ext>
            </a:extLst>
          </p:cNvPr>
          <p:cNvSpPr>
            <a:spLocks noGrp="1"/>
          </p:cNvSpPr>
          <p:nvPr/>
        </p:nvSpPr>
        <p:spPr>
          <a:xfrm>
            <a:off x="6429375" y="1809750"/>
            <a:ext cx="49530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4200" b="1">
                <a:solidFill>
                  <a:srgbClr val="3D8DFF"/>
                </a:solidFill>
                <a:latin typeface="Arial"/>
                <a:ea typeface="Arial"/>
                <a:cs typeface="Arial"/>
              </a:defRPr>
            </a:pPr>
            <a:r>
              <a:rPr sz="4200" b="1">
                <a:solidFill>
                  <a:srgbClr val="9B87F5"/>
                </a:solidFill>
                <a:latin typeface="Arial"/>
                <a:ea typeface="Arial"/>
                <a:cs typeface="Arial"/>
              </a:rPr>
              <a:t>E(H)</a:t>
            </a:r>
          </a:p>
        </p:txBody>
      </p:sp>
      <p:sp>
        <p:nvSpPr>
          <p:cNvPr id="8" name="s7-energy-sub">
            <a:extLst>
              <a:ext uri="{FF2B5EF4-FFF2-40B4-BE49-F238E27FC236}">
                <a16:creationId xmlns:a16="http://schemas.microsoft.com/office/drawing/2014/main" id="{487A79D5-2FA0-4505-BF6E-0C589DE7F6A9}"/>
              </a:ext>
            </a:extLst>
          </p:cNvPr>
          <p:cNvSpPr>
            <a:spLocks noGrp="1"/>
          </p:cNvSpPr>
          <p:nvPr/>
        </p:nvSpPr>
        <p:spPr>
          <a:xfrm>
            <a:off x="6429375" y="2781300"/>
            <a:ext cx="4953000" cy="4286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75" b="1">
                <a:solidFill>
                  <a:srgbClr val="111111"/>
                </a:solidFill>
                <a:latin typeface="Arial"/>
                <a:ea typeface="Arial"/>
                <a:cs typeface="Arial"/>
              </a:defRPr>
            </a:pPr>
            <a:r>
              <a:rPr sz="1800" b="1">
                <a:solidFill>
                  <a:srgbClr val="F8FAFC"/>
                </a:solidFill>
                <a:latin typeface="Arial"/>
                <a:ea typeface="Arial"/>
                <a:cs typeface="Arial"/>
              </a:rPr>
              <a:t>Per-dimension variation on G̃</a:t>
            </a:r>
          </a:p>
        </p:txBody>
      </p:sp>
      <p:sp>
        <p:nvSpPr>
          <p:cNvPr id="9" name="s7-energy-body">
            <a:extLst>
              <a:ext uri="{FF2B5EF4-FFF2-40B4-BE49-F238E27FC236}">
                <a16:creationId xmlns:a16="http://schemas.microsoft.com/office/drawing/2014/main" id="{F07FFBBD-E9BA-4DB8-8A5B-C9E03B5CEE44}"/>
              </a:ext>
            </a:extLst>
          </p:cNvPr>
          <p:cNvSpPr>
            <a:spLocks noGrp="1"/>
          </p:cNvSpPr>
          <p:nvPr/>
        </p:nvSpPr>
        <p:spPr>
          <a:xfrm>
            <a:off x="6429375" y="3381375"/>
            <a:ext cx="4953000" cy="1428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E(H) = 1/(2p) Σ₍ᵢ,ⱼ₎∈Ẽ ‖hᵢ/√d̃ᵢ − hⱼ/√d̃ⱼ‖²</a:t>
            </a:r>
          </a:p>
          <a:p>
            <a:pPr algn="l">
              <a:buNone/>
              <a:defRPr sz="1650" b="0">
                <a:solidFill>
                  <a:srgbClr val="5F6368"/>
                </a:solidFill>
                <a:latin typeface="Arial"/>
                <a:ea typeface="Arial"/>
                <a:cs typeface="Arial"/>
              </a:defRPr>
            </a:pPr>
            <a:r>
              <a:rPr sz="1575" b="0">
                <a:solidFill>
                  <a:srgbClr val="D6E0ED"/>
                </a:solidFill>
                <a:latin typeface="Arial"/>
                <a:ea typeface="Arial"/>
                <a:cs typeface="Arial"/>
              </a:rPr>
              <a:t>Fixed augmented graph; sensitive to representation magnitude.</a:t>
            </a:r>
          </a:p>
        </p:txBody>
      </p:sp>
      <p:sp>
        <p:nvSpPr>
          <p:cNvPr id="10" name="s7-takeaway">
            <a:extLst>
              <a:ext uri="{FF2B5EF4-FFF2-40B4-BE49-F238E27FC236}">
                <a16:creationId xmlns:a16="http://schemas.microsoft.com/office/drawing/2014/main" id="{0F78FD45-34F3-4F9B-A7B8-F342176CE93D}"/>
              </a:ext>
            </a:extLst>
          </p:cNvPr>
          <p:cNvSpPr>
            <a:spLocks noGrp="1"/>
          </p:cNvSpPr>
          <p:nvPr/>
        </p:nvSpPr>
        <p:spPr>
          <a:xfrm>
            <a:off x="1905000" y="5334000"/>
            <a:ext cx="83820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575" b="1">
                <a:solidFill>
                  <a:srgbClr val="111111"/>
                </a:solidFill>
                <a:latin typeface="Arial"/>
                <a:ea typeface="Arial"/>
                <a:cs typeface="Arial"/>
              </a:defRPr>
            </a:pPr>
            <a:r>
              <a:rPr sz="1500" b="1">
                <a:solidFill>
                  <a:srgbClr val="F8FAFC"/>
                </a:solidFill>
                <a:latin typeface="Arial"/>
                <a:ea typeface="Arial"/>
                <a:cs typeface="Arial"/>
              </a:rPr>
              <a:t>The diagnostics are complementary by construction: MAD is scale-invariant, whereas energy is quadratic in magnitude.</a:t>
            </a:r>
          </a:p>
        </p:txBody>
      </p:sp>
      <p:sp>
        <p:nvSpPr>
          <p:cNvPr id="11" name="footer-rule-7">
            <a:extLst>
              <a:ext uri="{FF2B5EF4-FFF2-40B4-BE49-F238E27FC236}">
                <a16:creationId xmlns:a16="http://schemas.microsoft.com/office/drawing/2014/main" id="{56EE3FE7-91CF-40AB-85F7-E7CED27D51CE}"/>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2" name="footer-label-7">
            <a:extLst>
              <a:ext uri="{FF2B5EF4-FFF2-40B4-BE49-F238E27FC236}">
                <a16:creationId xmlns:a16="http://schemas.microsoft.com/office/drawing/2014/main" id="{35A17256-5D1D-4903-BAB6-12599A29B481}"/>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3" name="footer-page-7">
            <a:extLst>
              <a:ext uri="{FF2B5EF4-FFF2-40B4-BE49-F238E27FC236}">
                <a16:creationId xmlns:a16="http://schemas.microsoft.com/office/drawing/2014/main" id="{92549D9E-B213-4DDC-A5CB-3BED6A7DFE11}"/>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9B87F5"/>
                </a:solidFill>
                <a:latin typeface="Arial"/>
                <a:ea typeface="Arial"/>
                <a:cs typeface="Arial"/>
              </a:rPr>
              <a:t>08</a:t>
            </a:r>
          </a:p>
        </p:txBody>
      </p:sp>
    </p:spTree>
    <p:extLst>
      <p:ext uri="{BB962C8B-B14F-4D97-AF65-F5344CB8AC3E}">
        <p14:creationId xmlns:p14="http://schemas.microsoft.com/office/powerpoint/2010/main" val="144438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3" name="title-8">
            <a:extLst>
              <a:ext uri="{FF2B5EF4-FFF2-40B4-BE49-F238E27FC236}">
                <a16:creationId xmlns:a16="http://schemas.microsoft.com/office/drawing/2014/main" id="{48D24CBB-363A-4718-9A93-048770ECC1A1}"/>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625" b="1">
                <a:solidFill>
                  <a:srgbClr val="F8FAFC"/>
                </a:solidFill>
                <a:latin typeface="Arial"/>
                <a:ea typeface="Arial"/>
                <a:cs typeface="Arial"/>
              </a:rPr>
              <a:t>Result I — Depth degradation is architecture-dependent</a:t>
            </a:r>
          </a:p>
        </p:txBody>
      </p:sp>
      <p:sp>
        <p:nvSpPr>
          <p:cNvPr id="2" name="accent-8">
            <a:extLst>
              <a:ext uri="{FF2B5EF4-FFF2-40B4-BE49-F238E27FC236}">
                <a16:creationId xmlns:a16="http://schemas.microsoft.com/office/drawing/2014/main" id="{A5C28C4C-F3C0-48DC-8E4F-2D417345408B}"/>
              </a:ext>
            </a:extLst>
          </p:cNvPr>
          <p:cNvSpPr>
            <a:spLocks noGrp="1"/>
          </p:cNvSpPr>
          <p:nvPr/>
        </p:nvSpPr>
        <p:spPr>
          <a:xfrm>
            <a:off x="476250" y="1057275"/>
            <a:ext cx="1200150" cy="47625"/>
          </a:xfrm>
          <a:prstGeom prst="rect">
            <a:avLst/>
          </a:prstGeom>
          <a:solidFill>
            <a:srgbClr val="38BDF8"/>
          </a:solidFill>
          <a:ln w="0">
            <a:solidFill>
              <a:srgbClr val="000000">
                <a:alpha val="0"/>
              </a:srgbClr>
            </a:solidFill>
            <a:prstDash val="solid"/>
          </a:ln>
        </p:spPr>
      </p:sp>
      <p:sp>
        <p:nvSpPr>
          <p:cNvPr id="3" name="s8-chart-frame">
            <a:extLst>
              <a:ext uri="{FF2B5EF4-FFF2-40B4-BE49-F238E27FC236}">
                <a16:creationId xmlns:a16="http://schemas.microsoft.com/office/drawing/2014/main" id="{F86BD54A-C13D-4A9F-8059-6D1F2093ACF7}"/>
              </a:ext>
            </a:extLst>
          </p:cNvPr>
          <p:cNvSpPr>
            <a:spLocks noGrp="1"/>
          </p:cNvSpPr>
          <p:nvPr/>
        </p:nvSpPr>
        <p:spPr>
          <a:xfrm>
            <a:off x="390525" y="1219200"/>
            <a:ext cx="5715000" cy="4762500"/>
          </a:xfrm>
          <a:prstGeom prst="roundRect">
            <a:avLst>
              <a:gd name="adj" fmla="val 1600"/>
            </a:avLst>
          </a:prstGeom>
          <a:solidFill>
            <a:srgbClr val="FFFFFF"/>
          </a:solidFill>
          <a:ln w="14288">
            <a:solidFill>
              <a:srgbClr val="2B3C59"/>
            </a:solidFill>
            <a:prstDash val="solid"/>
          </a:ln>
        </p:spPr>
      </p:sp>
      <p:pic>
        <p:nvPicPr>
          <p:cNvPr id="18" name="Picture 17"/>
          <p:cNvPicPr>
            <a:picLocks noChangeAspect="1"/>
          </p:cNvPicPr>
          <p:nvPr/>
        </p:nvPicPr>
        <p:blipFill>
          <a:blip r:embed="rId3"/>
          <a:stretch/>
        </p:blipFill>
        <p:spPr>
          <a:xfrm>
            <a:off x="552450" y="1531348"/>
            <a:ext cx="5391150" cy="4004854"/>
          </a:xfrm>
          <a:prstGeom prst="rect">
            <a:avLst/>
          </a:prstGeom>
        </p:spPr>
      </p:pic>
      <p:sp>
        <p:nvSpPr>
          <p:cNvPr id="5" name="s8-copy">
            <a:extLst>
              <a:ext uri="{FF2B5EF4-FFF2-40B4-BE49-F238E27FC236}">
                <a16:creationId xmlns:a16="http://schemas.microsoft.com/office/drawing/2014/main" id="{BC700B3D-20E3-4310-B934-D6587929FC11}"/>
              </a:ext>
            </a:extLst>
          </p:cNvPr>
          <p:cNvSpPr>
            <a:spLocks noGrp="1"/>
          </p:cNvSpPr>
          <p:nvPr/>
        </p:nvSpPr>
        <p:spPr>
          <a:xfrm>
            <a:off x="6524625" y="1524000"/>
            <a:ext cx="47625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025" b="1">
                <a:solidFill>
                  <a:srgbClr val="111111"/>
                </a:solidFill>
                <a:latin typeface="Arial"/>
                <a:ea typeface="Arial"/>
                <a:cs typeface="Arial"/>
              </a:defRPr>
            </a:pPr>
            <a:r>
              <a:rPr sz="2025" b="1">
                <a:solidFill>
                  <a:srgbClr val="F8FAFC"/>
                </a:solidFill>
                <a:latin typeface="Arial"/>
                <a:ea typeface="Arial"/>
                <a:cs typeface="Arial"/>
              </a:rPr>
              <a:t>Conventional architectures</a:t>
            </a:r>
          </a:p>
        </p:txBody>
      </p:sp>
      <p:sp>
        <p:nvSpPr>
          <p:cNvPr id="6" name="s8-copy2">
            <a:extLst>
              <a:ext uri="{FF2B5EF4-FFF2-40B4-BE49-F238E27FC236}">
                <a16:creationId xmlns:a16="http://schemas.microsoft.com/office/drawing/2014/main" id="{26EFA199-F364-4F95-A2E1-220D800F3CA2}"/>
              </a:ext>
            </a:extLst>
          </p:cNvPr>
          <p:cNvSpPr>
            <a:spLocks noGrp="1"/>
          </p:cNvSpPr>
          <p:nvPr/>
        </p:nvSpPr>
        <p:spPr>
          <a:xfrm>
            <a:off x="6524625" y="2133600"/>
            <a:ext cx="4762500" cy="11906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5F6368"/>
                </a:solidFill>
                <a:latin typeface="Arial"/>
                <a:ea typeface="Arial"/>
                <a:cs typeface="Arial"/>
              </a:defRPr>
            </a:pPr>
            <a:r>
              <a:rPr sz="1650" b="0">
                <a:solidFill>
                  <a:srgbClr val="D6E0ED"/>
                </a:solidFill>
                <a:latin typeface="Arial"/>
                <a:ea typeface="Arial"/>
                <a:cs typeface="Arial"/>
              </a:rPr>
              <a:t>GCN, GraphSAGE, and GAT peak at depth 2 and lose 4.4 to 8.4 points by depth 4. At depth 32 all three fall below the 31.9% majority-class floor, and macro-F1 collapses further still: 0.2102, 0.0514 and 0.0459.</a:t>
            </a:r>
          </a:p>
        </p:txBody>
      </p:sp>
      <p:sp>
        <p:nvSpPr>
          <p:cNvPr id="7" name="s8-stat-panel">
            <a:extLst>
              <a:ext uri="{FF2B5EF4-FFF2-40B4-BE49-F238E27FC236}">
                <a16:creationId xmlns:a16="http://schemas.microsoft.com/office/drawing/2014/main" id="{6FFED66F-B84A-4122-A8DC-99EE60308A20}"/>
              </a:ext>
            </a:extLst>
          </p:cNvPr>
          <p:cNvSpPr>
            <a:spLocks noGrp="1"/>
          </p:cNvSpPr>
          <p:nvPr/>
        </p:nvSpPr>
        <p:spPr>
          <a:xfrm>
            <a:off x="6524625" y="3714750"/>
            <a:ext cx="4762500" cy="1476375"/>
          </a:xfrm>
          <a:prstGeom prst="roundRect">
            <a:avLst>
              <a:gd name="adj" fmla="val 5161"/>
            </a:avLst>
          </a:prstGeom>
          <a:solidFill>
            <a:srgbClr val="102D46"/>
          </a:solidFill>
          <a:ln w="15240">
            <a:solidFill>
              <a:srgbClr val="38BDF8"/>
            </a:solidFill>
            <a:prstDash val="solid"/>
          </a:ln>
        </p:spPr>
      </p:sp>
      <p:sp>
        <p:nvSpPr>
          <p:cNvPr id="8" name="s8-stat">
            <a:extLst>
              <a:ext uri="{FF2B5EF4-FFF2-40B4-BE49-F238E27FC236}">
                <a16:creationId xmlns:a16="http://schemas.microsoft.com/office/drawing/2014/main" id="{815B894A-01F1-4A62-A6A7-45C4230988AD}"/>
              </a:ext>
            </a:extLst>
          </p:cNvPr>
          <p:cNvSpPr>
            <a:spLocks noGrp="1"/>
          </p:cNvSpPr>
          <p:nvPr/>
        </p:nvSpPr>
        <p:spPr>
          <a:xfrm>
            <a:off x="6810375" y="3905250"/>
            <a:ext cx="2095500" cy="647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3225" b="1">
                <a:solidFill>
                  <a:srgbClr val="3D8DFF"/>
                </a:solidFill>
                <a:latin typeface="Arial"/>
                <a:ea typeface="Arial"/>
                <a:cs typeface="Arial"/>
              </a:defRPr>
            </a:pPr>
            <a:r>
              <a:rPr sz="3300" b="1">
                <a:solidFill>
                  <a:srgbClr val="38BDF8"/>
                </a:solidFill>
                <a:latin typeface="Arial"/>
                <a:ea typeface="Arial"/>
                <a:cs typeface="Arial"/>
              </a:rPr>
              <a:t>83.26%</a:t>
            </a:r>
          </a:p>
        </p:txBody>
      </p:sp>
      <p:sp>
        <p:nvSpPr>
          <p:cNvPr id="9" name="s8-stat-label">
            <a:extLst>
              <a:ext uri="{FF2B5EF4-FFF2-40B4-BE49-F238E27FC236}">
                <a16:creationId xmlns:a16="http://schemas.microsoft.com/office/drawing/2014/main" id="{4C09487B-77FC-4839-81AC-5A5FE1FD87E3}"/>
              </a:ext>
            </a:extLst>
          </p:cNvPr>
          <p:cNvSpPr>
            <a:spLocks noGrp="1"/>
          </p:cNvSpPr>
          <p:nvPr/>
        </p:nvSpPr>
        <p:spPr>
          <a:xfrm>
            <a:off x="6810375" y="4619625"/>
            <a:ext cx="40957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0">
                <a:solidFill>
                  <a:srgbClr val="5F6368"/>
                </a:solidFill>
                <a:latin typeface="Arial"/>
                <a:ea typeface="Arial"/>
                <a:cs typeface="Arial"/>
              </a:defRPr>
            </a:pPr>
            <a:r>
              <a:rPr sz="1425" b="0">
                <a:solidFill>
                  <a:srgbClr val="D6E0ED"/>
                </a:solidFill>
                <a:latin typeface="Arial"/>
                <a:ea typeface="Arial"/>
                <a:cs typeface="Arial"/>
              </a:rPr>
              <a:t>GCNII mean test accuracy · L = 32</a:t>
            </a:r>
          </a:p>
        </p:txBody>
      </p:sp>
      <p:sp>
        <p:nvSpPr>
          <p:cNvPr id="10" name="footer-rule-8">
            <a:extLst>
              <a:ext uri="{FF2B5EF4-FFF2-40B4-BE49-F238E27FC236}">
                <a16:creationId xmlns:a16="http://schemas.microsoft.com/office/drawing/2014/main" id="{1DCD87AB-45F0-40CD-BB19-6E1014115EB7}"/>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1" name="footer-label-8">
            <a:extLst>
              <a:ext uri="{FF2B5EF4-FFF2-40B4-BE49-F238E27FC236}">
                <a16:creationId xmlns:a16="http://schemas.microsoft.com/office/drawing/2014/main" id="{29BE7B6D-93AF-4C54-8845-ACA7B9AC63FF}"/>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2" name="footer-page-8">
            <a:extLst>
              <a:ext uri="{FF2B5EF4-FFF2-40B4-BE49-F238E27FC236}">
                <a16:creationId xmlns:a16="http://schemas.microsoft.com/office/drawing/2014/main" id="{0BD61D10-8A5B-45B1-9D70-86F5E79B9BF3}"/>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38BDF8"/>
                </a:solidFill>
                <a:latin typeface="Arial"/>
                <a:ea typeface="Arial"/>
                <a:cs typeface="Arial"/>
              </a:rPr>
              <a:t>09</a:t>
            </a:r>
          </a:p>
        </p:txBody>
      </p:sp>
    </p:spTree>
    <p:extLst>
      <p:ext uri="{BB962C8B-B14F-4D97-AF65-F5344CB8AC3E}">
        <p14:creationId xmlns:p14="http://schemas.microsoft.com/office/powerpoint/2010/main" val="1779311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0" name="title-9">
            <a:extLst>
              <a:ext uri="{FF2B5EF4-FFF2-40B4-BE49-F238E27FC236}">
                <a16:creationId xmlns:a16="http://schemas.microsoft.com/office/drawing/2014/main" id="{87DB01A0-E30E-440F-8EB6-498521625045}"/>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700" b="1">
                <a:solidFill>
                  <a:srgbClr val="F8FAFC"/>
                </a:solidFill>
                <a:latin typeface="Arial"/>
                <a:ea typeface="Arial"/>
                <a:cs typeface="Arial"/>
              </a:rPr>
              <a:t>Result II — Accuracy loss and geometric collapse diverge</a:t>
            </a:r>
          </a:p>
        </p:txBody>
      </p:sp>
      <p:sp>
        <p:nvSpPr>
          <p:cNvPr id="2" name="accent-9">
            <a:extLst>
              <a:ext uri="{FF2B5EF4-FFF2-40B4-BE49-F238E27FC236}">
                <a16:creationId xmlns:a16="http://schemas.microsoft.com/office/drawing/2014/main" id="{C5F33333-E63A-48D8-9AC6-439D79ADF9DC}"/>
              </a:ext>
            </a:extLst>
          </p:cNvPr>
          <p:cNvSpPr>
            <a:spLocks noGrp="1"/>
          </p:cNvSpPr>
          <p:nvPr/>
        </p:nvSpPr>
        <p:spPr>
          <a:xfrm>
            <a:off x="476250" y="1057275"/>
            <a:ext cx="1200150" cy="47625"/>
          </a:xfrm>
          <a:prstGeom prst="rect">
            <a:avLst/>
          </a:prstGeom>
          <a:solidFill>
            <a:srgbClr val="9B87F5"/>
          </a:solidFill>
          <a:ln w="0">
            <a:solidFill>
              <a:srgbClr val="000000">
                <a:alpha val="0"/>
              </a:srgbClr>
            </a:solidFill>
            <a:prstDash val="solid"/>
          </a:ln>
        </p:spPr>
      </p:sp>
      <p:sp>
        <p:nvSpPr>
          <p:cNvPr id="3" name="s9-left-title">
            <a:extLst>
              <a:ext uri="{FF2B5EF4-FFF2-40B4-BE49-F238E27FC236}">
                <a16:creationId xmlns:a16="http://schemas.microsoft.com/office/drawing/2014/main" id="{1779E983-B9D0-482B-9B93-334097E7A943}"/>
              </a:ext>
            </a:extLst>
          </p:cNvPr>
          <p:cNvSpPr>
            <a:spLocks noGrp="1"/>
          </p:cNvSpPr>
          <p:nvPr/>
        </p:nvSpPr>
        <p:spPr>
          <a:xfrm>
            <a:off x="390525" y="1571625"/>
            <a:ext cx="47625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111111"/>
                </a:solidFill>
                <a:latin typeface="Arial"/>
                <a:ea typeface="Arial"/>
                <a:cs typeface="Arial"/>
              </a:defRPr>
            </a:pPr>
            <a:r>
              <a:rPr sz="2175" b="1">
                <a:solidFill>
                  <a:srgbClr val="38BDF8"/>
                </a:solidFill>
                <a:latin typeface="Arial"/>
                <a:ea typeface="Arial"/>
                <a:cs typeface="Arial"/>
              </a:rPr>
              <a:t>MAD separates two failure regimes</a:t>
            </a:r>
          </a:p>
        </p:txBody>
      </p:sp>
      <p:sp>
        <p:nvSpPr>
          <p:cNvPr id="4" name="s9-left-body">
            <a:extLst>
              <a:ext uri="{FF2B5EF4-FFF2-40B4-BE49-F238E27FC236}">
                <a16:creationId xmlns:a16="http://schemas.microsoft.com/office/drawing/2014/main" id="{880A59A4-A17A-47E2-B4AF-F1394C8999C2}"/>
              </a:ext>
            </a:extLst>
          </p:cNvPr>
          <p:cNvSpPr>
            <a:spLocks noGrp="1"/>
          </p:cNvSpPr>
          <p:nvPr/>
        </p:nvSpPr>
        <p:spPr>
          <a:xfrm>
            <a:off x="390525" y="2238375"/>
            <a:ext cx="4762500" cy="2857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GraphSAGE and GAT converge toward MAD ≈ 0 at high depth, consistent with directional collapse.</a:t>
            </a:r>
          </a:p>
          <a:p>
            <a:endParaRPr sz="1575" b="0">
              <a:solidFill>
                <a:srgbClr val="D6E0ED"/>
              </a:solidFill>
              <a:latin typeface="Arial"/>
              <a:ea typeface="Arial"/>
              <a:cs typeface="Arial"/>
            </a:endParaRPr>
          </a:p>
          <a:p>
            <a:pPr algn="l">
              <a:buNone/>
              <a:defRPr sz="1650" b="0">
                <a:solidFill>
                  <a:srgbClr val="5F6368"/>
                </a:solidFill>
                <a:latin typeface="Arial"/>
                <a:ea typeface="Arial"/>
                <a:cs typeface="Arial"/>
              </a:defRPr>
            </a:pPr>
            <a:r>
              <a:rPr sz="1575" b="0">
                <a:solidFill>
                  <a:srgbClr val="D6E0ED"/>
                </a:solidFill>
                <a:latin typeface="Arial"/>
                <a:ea typeface="Arial"/>
                <a:cs typeface="Arial"/>
              </a:rPr>
              <a:t>GCN retains materially larger MAD despite comparable accuracy loss.</a:t>
            </a:r>
          </a:p>
          <a:p>
            <a:endParaRPr sz="1575" b="0">
              <a:solidFill>
                <a:srgbClr val="D6E0ED"/>
              </a:solidFill>
              <a:latin typeface="Arial"/>
              <a:ea typeface="Arial"/>
              <a:cs typeface="Arial"/>
            </a:endParaRPr>
          </a:p>
          <a:p>
            <a:pPr algn="l">
              <a:buNone/>
              <a:defRPr sz="1650" b="0">
                <a:solidFill>
                  <a:srgbClr val="5F6368"/>
                </a:solidFill>
                <a:latin typeface="Arial"/>
                <a:ea typeface="Arial"/>
                <a:cs typeface="Arial"/>
              </a:defRPr>
            </a:pPr>
            <a:r>
              <a:rPr sz="1575" b="0">
                <a:solidFill>
                  <a:srgbClr val="D6E0ED"/>
                </a:solidFill>
                <a:latin typeface="Arial"/>
                <a:ea typeface="Arial"/>
                <a:cs typeface="Arial"/>
              </a:rPr>
              <a:t>Predictive degradation is therefore not a sufficient proxy for representation collapse.</a:t>
            </a:r>
          </a:p>
        </p:txBody>
      </p:sp>
      <p:sp>
        <p:nvSpPr>
          <p:cNvPr id="5" name="s9-chart-frame">
            <a:extLst>
              <a:ext uri="{FF2B5EF4-FFF2-40B4-BE49-F238E27FC236}">
                <a16:creationId xmlns:a16="http://schemas.microsoft.com/office/drawing/2014/main" id="{327F52F5-A5FC-4E03-B30C-0BA3967FB2EC}"/>
              </a:ext>
            </a:extLst>
          </p:cNvPr>
          <p:cNvSpPr>
            <a:spLocks noGrp="1"/>
          </p:cNvSpPr>
          <p:nvPr/>
        </p:nvSpPr>
        <p:spPr>
          <a:xfrm>
            <a:off x="5905500" y="1219200"/>
            <a:ext cx="5895975" cy="4762500"/>
          </a:xfrm>
          <a:prstGeom prst="roundRect">
            <a:avLst>
              <a:gd name="adj" fmla="val 1600"/>
            </a:avLst>
          </a:prstGeom>
          <a:solidFill>
            <a:srgbClr val="FFFFFF"/>
          </a:solidFill>
          <a:ln w="14288">
            <a:solidFill>
              <a:srgbClr val="2B3C59"/>
            </a:solidFill>
            <a:prstDash val="solid"/>
          </a:ln>
        </p:spPr>
      </p:sp>
      <p:pic>
        <p:nvPicPr>
          <p:cNvPr id="17" name="Picture 16"/>
          <p:cNvPicPr>
            <a:picLocks noChangeAspect="1"/>
          </p:cNvPicPr>
          <p:nvPr/>
        </p:nvPicPr>
        <p:blipFill>
          <a:blip r:embed="rId3"/>
          <a:stretch/>
        </p:blipFill>
        <p:spPr>
          <a:xfrm>
            <a:off x="6143625" y="1531484"/>
            <a:ext cx="5429250" cy="4033157"/>
          </a:xfrm>
          <a:prstGeom prst="rect">
            <a:avLst/>
          </a:prstGeom>
        </p:spPr>
      </p:pic>
      <p:sp>
        <p:nvSpPr>
          <p:cNvPr id="7" name="footer-rule-9">
            <a:extLst>
              <a:ext uri="{FF2B5EF4-FFF2-40B4-BE49-F238E27FC236}">
                <a16:creationId xmlns:a16="http://schemas.microsoft.com/office/drawing/2014/main" id="{5AE57040-FC5B-4BAC-980C-D5F89ABEE351}"/>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8" name="footer-label-9">
            <a:extLst>
              <a:ext uri="{FF2B5EF4-FFF2-40B4-BE49-F238E27FC236}">
                <a16:creationId xmlns:a16="http://schemas.microsoft.com/office/drawing/2014/main" id="{8E44BE69-64EC-47A1-AF02-D3ABFD39642C}"/>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9" name="footer-page-9">
            <a:extLst>
              <a:ext uri="{FF2B5EF4-FFF2-40B4-BE49-F238E27FC236}">
                <a16:creationId xmlns:a16="http://schemas.microsoft.com/office/drawing/2014/main" id="{C5BC1A18-232A-43CD-9C02-5B4712A2C12C}"/>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9B87F5"/>
                </a:solidFill>
                <a:latin typeface="Arial"/>
                <a:ea typeface="Arial"/>
                <a:cs typeface="Arial"/>
              </a:rPr>
              <a:t>10</a:t>
            </a:r>
          </a:p>
        </p:txBody>
      </p:sp>
    </p:spTree>
    <p:extLst>
      <p:ext uri="{BB962C8B-B14F-4D97-AF65-F5344CB8AC3E}">
        <p14:creationId xmlns:p14="http://schemas.microsoft.com/office/powerpoint/2010/main" val="170138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7" name="title-10">
            <a:extLst>
              <a:ext uri="{FF2B5EF4-FFF2-40B4-BE49-F238E27FC236}">
                <a16:creationId xmlns:a16="http://schemas.microsoft.com/office/drawing/2014/main" id="{CA72F320-1163-4A71-AE3E-37C3C92C4679}"/>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700" b="1">
                <a:solidFill>
                  <a:srgbClr val="F8FAFC"/>
                </a:solidFill>
                <a:latin typeface="Arial"/>
                <a:ea typeface="Arial"/>
                <a:cs typeface="Arial"/>
              </a:rPr>
              <a:t>Result IV — Collapse is present before optimization</a:t>
            </a:r>
          </a:p>
        </p:txBody>
      </p:sp>
      <p:sp>
        <p:nvSpPr>
          <p:cNvPr id="2" name="accent-10">
            <a:extLst>
              <a:ext uri="{FF2B5EF4-FFF2-40B4-BE49-F238E27FC236}">
                <a16:creationId xmlns:a16="http://schemas.microsoft.com/office/drawing/2014/main" id="{07A6986B-591F-4B88-930E-1B5671F0990C}"/>
              </a:ext>
            </a:extLst>
          </p:cNvPr>
          <p:cNvSpPr>
            <a:spLocks noGrp="1"/>
          </p:cNvSpPr>
          <p:nvPr/>
        </p:nvSpPr>
        <p:spPr>
          <a:xfrm>
            <a:off x="476250" y="1057275"/>
            <a:ext cx="1200150" cy="47625"/>
          </a:xfrm>
          <a:prstGeom prst="rect">
            <a:avLst/>
          </a:prstGeom>
          <a:solidFill>
            <a:srgbClr val="38BDF8"/>
          </a:solidFill>
          <a:ln w="0">
            <a:solidFill>
              <a:srgbClr val="000000">
                <a:alpha val="0"/>
              </a:srgbClr>
            </a:solidFill>
            <a:prstDash val="solid"/>
          </a:ln>
        </p:spPr>
      </p:sp>
      <p:sp>
        <p:nvSpPr>
          <p:cNvPr id="3" name="s10-chart-frame">
            <a:extLst>
              <a:ext uri="{FF2B5EF4-FFF2-40B4-BE49-F238E27FC236}">
                <a16:creationId xmlns:a16="http://schemas.microsoft.com/office/drawing/2014/main" id="{42488836-0BE1-4DC1-854E-0A87AB358823}"/>
              </a:ext>
            </a:extLst>
          </p:cNvPr>
          <p:cNvSpPr>
            <a:spLocks noGrp="1"/>
          </p:cNvSpPr>
          <p:nvPr/>
        </p:nvSpPr>
        <p:spPr>
          <a:xfrm>
            <a:off x="390525" y="1219200"/>
            <a:ext cx="5715000" cy="4762500"/>
          </a:xfrm>
          <a:prstGeom prst="roundRect">
            <a:avLst>
              <a:gd name="adj" fmla="val 1600"/>
            </a:avLst>
          </a:prstGeom>
          <a:solidFill>
            <a:srgbClr val="FFFFFF"/>
          </a:solidFill>
          <a:ln w="14288">
            <a:solidFill>
              <a:srgbClr val="2B3C59"/>
            </a:solidFill>
            <a:prstDash val="solid"/>
          </a:ln>
        </p:spPr>
      </p:sp>
      <p:pic>
        <p:nvPicPr>
          <p:cNvPr id="22" name="Picture 21"/>
          <p:cNvPicPr>
            <a:picLocks noChangeAspect="1"/>
          </p:cNvPicPr>
          <p:nvPr/>
        </p:nvPicPr>
        <p:blipFill>
          <a:blip r:embed="rId3"/>
          <a:stretch/>
        </p:blipFill>
        <p:spPr>
          <a:xfrm>
            <a:off x="552450" y="1540873"/>
            <a:ext cx="5391150" cy="4004854"/>
          </a:xfrm>
          <a:prstGeom prst="rect">
            <a:avLst/>
          </a:prstGeom>
        </p:spPr>
      </p:pic>
      <p:sp>
        <p:nvSpPr>
          <p:cNvPr id="5" name="s10-panel-0">
            <a:extLst>
              <a:ext uri="{FF2B5EF4-FFF2-40B4-BE49-F238E27FC236}">
                <a16:creationId xmlns:a16="http://schemas.microsoft.com/office/drawing/2014/main" id="{B9C10A0C-829F-43A0-B886-9F8F9C46A351}"/>
              </a:ext>
            </a:extLst>
          </p:cNvPr>
          <p:cNvSpPr>
            <a:spLocks noGrp="1"/>
          </p:cNvSpPr>
          <p:nvPr/>
        </p:nvSpPr>
        <p:spPr>
          <a:xfrm>
            <a:off x="6477000" y="1219200"/>
            <a:ext cx="5324475" cy="1381125"/>
          </a:xfrm>
          <a:prstGeom prst="roundRect">
            <a:avLst>
              <a:gd name="adj" fmla="val 5517"/>
            </a:avLst>
          </a:prstGeom>
          <a:solidFill>
            <a:srgbClr val="13243B"/>
          </a:solidFill>
          <a:ln w="11906">
            <a:solidFill>
              <a:srgbClr val="38BDF8"/>
            </a:solidFill>
            <a:prstDash val="solid"/>
          </a:ln>
        </p:spPr>
      </p:sp>
      <p:sp>
        <p:nvSpPr>
          <p:cNvPr id="6" name="s10-title-0">
            <a:extLst>
              <a:ext uri="{FF2B5EF4-FFF2-40B4-BE49-F238E27FC236}">
                <a16:creationId xmlns:a16="http://schemas.microsoft.com/office/drawing/2014/main" id="{4FD1ED87-AECB-45EE-AE2E-DE02D51C42FC}"/>
              </a:ext>
            </a:extLst>
          </p:cNvPr>
          <p:cNvSpPr>
            <a:spLocks noGrp="1"/>
          </p:cNvSpPr>
          <p:nvPr/>
        </p:nvSpPr>
        <p:spPr>
          <a:xfrm>
            <a:off x="6762750" y="1428750"/>
            <a:ext cx="4762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3D8DFF"/>
                </a:solidFill>
                <a:latin typeface="Arial"/>
                <a:ea typeface="Arial"/>
                <a:cs typeface="Arial"/>
              </a:defRPr>
            </a:pPr>
            <a:r>
              <a:rPr sz="1575" b="1">
                <a:solidFill>
                  <a:srgbClr val="38BDF8"/>
                </a:solidFill>
                <a:latin typeface="Arial"/>
                <a:ea typeface="Arial"/>
                <a:cs typeface="Arial"/>
              </a:rPr>
              <a:t>Epoch 0: propagation effect</a:t>
            </a:r>
          </a:p>
        </p:txBody>
      </p:sp>
      <p:sp>
        <p:nvSpPr>
          <p:cNvPr id="7" name="s10-body-0">
            <a:extLst>
              <a:ext uri="{FF2B5EF4-FFF2-40B4-BE49-F238E27FC236}">
                <a16:creationId xmlns:a16="http://schemas.microsoft.com/office/drawing/2014/main" id="{38EC7D32-C87E-49D9-8438-6505469C8BB8}"/>
              </a:ext>
            </a:extLst>
          </p:cNvPr>
          <p:cNvSpPr>
            <a:spLocks noGrp="1"/>
          </p:cNvSpPr>
          <p:nvPr/>
        </p:nvSpPr>
        <p:spPr>
          <a:xfrm>
            <a:off x="6762750" y="1847850"/>
            <a:ext cx="4762500" cy="609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0">
                <a:solidFill>
                  <a:srgbClr val="5F6368"/>
                </a:solidFill>
                <a:latin typeface="Arial"/>
                <a:ea typeface="Arial"/>
                <a:cs typeface="Arial"/>
              </a:defRPr>
            </a:pPr>
            <a:r>
              <a:rPr sz="1275" b="0">
                <a:solidFill>
                  <a:srgbClr val="D6E0ED"/>
                </a:solidFill>
                <a:latin typeface="Arial"/>
                <a:ea typeface="Arial"/>
                <a:cs typeface="Arial"/>
              </a:rPr>
              <a:t>Before learning, GCN and GAT exhibit depth-dependent loss of both direction and magnitude.</a:t>
            </a:r>
          </a:p>
        </p:txBody>
      </p:sp>
      <p:sp>
        <p:nvSpPr>
          <p:cNvPr id="8" name="s10-panel-1">
            <a:extLst>
              <a:ext uri="{FF2B5EF4-FFF2-40B4-BE49-F238E27FC236}">
                <a16:creationId xmlns:a16="http://schemas.microsoft.com/office/drawing/2014/main" id="{94FE0AEF-B78F-44B4-A9C1-96DB9EE6DD08}"/>
              </a:ext>
            </a:extLst>
          </p:cNvPr>
          <p:cNvSpPr>
            <a:spLocks noGrp="1"/>
          </p:cNvSpPr>
          <p:nvPr/>
        </p:nvSpPr>
        <p:spPr>
          <a:xfrm>
            <a:off x="6477000" y="2895600"/>
            <a:ext cx="5324475" cy="1381125"/>
          </a:xfrm>
          <a:prstGeom prst="roundRect">
            <a:avLst>
              <a:gd name="adj" fmla="val 5517"/>
            </a:avLst>
          </a:prstGeom>
          <a:solidFill>
            <a:srgbClr val="1A2038"/>
          </a:solidFill>
          <a:ln w="11906">
            <a:solidFill>
              <a:srgbClr val="9B87F5"/>
            </a:solidFill>
            <a:prstDash val="solid"/>
          </a:ln>
        </p:spPr>
      </p:sp>
      <p:sp>
        <p:nvSpPr>
          <p:cNvPr id="9" name="s10-title-1">
            <a:extLst>
              <a:ext uri="{FF2B5EF4-FFF2-40B4-BE49-F238E27FC236}">
                <a16:creationId xmlns:a16="http://schemas.microsoft.com/office/drawing/2014/main" id="{9A8ECAB0-7886-4C00-972E-37C54BF3087D}"/>
              </a:ext>
            </a:extLst>
          </p:cNvPr>
          <p:cNvSpPr>
            <a:spLocks noGrp="1"/>
          </p:cNvSpPr>
          <p:nvPr/>
        </p:nvSpPr>
        <p:spPr>
          <a:xfrm>
            <a:off x="6762750" y="3105150"/>
            <a:ext cx="4762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111111"/>
                </a:solidFill>
                <a:latin typeface="Arial"/>
                <a:ea typeface="Arial"/>
                <a:cs typeface="Arial"/>
              </a:defRPr>
            </a:pPr>
            <a:r>
              <a:rPr sz="1575" b="1">
                <a:solidFill>
                  <a:srgbClr val="9B87F5"/>
                </a:solidFill>
                <a:latin typeface="Arial"/>
                <a:ea typeface="Arial"/>
                <a:cs typeface="Arial"/>
              </a:rPr>
              <a:t>GraphSAGE: metric disagreement</a:t>
            </a:r>
          </a:p>
        </p:txBody>
      </p:sp>
      <p:sp>
        <p:nvSpPr>
          <p:cNvPr id="10" name="s10-body-1">
            <a:extLst>
              <a:ext uri="{FF2B5EF4-FFF2-40B4-BE49-F238E27FC236}">
                <a16:creationId xmlns:a16="http://schemas.microsoft.com/office/drawing/2014/main" id="{DC9A1495-6FEF-44A1-94AD-D4E119F2C5D6}"/>
              </a:ext>
            </a:extLst>
          </p:cNvPr>
          <p:cNvSpPr>
            <a:spLocks noGrp="1"/>
          </p:cNvSpPr>
          <p:nvPr/>
        </p:nvSpPr>
        <p:spPr>
          <a:xfrm>
            <a:off x="6762750" y="3524250"/>
            <a:ext cx="4762500" cy="609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0">
                <a:solidFill>
                  <a:srgbClr val="5F6368"/>
                </a:solidFill>
                <a:latin typeface="Arial"/>
                <a:ea typeface="Arial"/>
                <a:cs typeface="Arial"/>
              </a:defRPr>
            </a:pPr>
            <a:r>
              <a:rPr sz="1275" b="0">
                <a:solidFill>
                  <a:srgbClr val="D6E0ED"/>
                </a:solidFill>
                <a:latin typeface="Arial"/>
                <a:ea typeface="Arial"/>
                <a:cs typeface="Arial"/>
              </a:rPr>
              <a:t>MAD collapses while energy remains non-vanishing, indicating directional rather than complete collapse.</a:t>
            </a:r>
          </a:p>
        </p:txBody>
      </p:sp>
      <p:sp>
        <p:nvSpPr>
          <p:cNvPr id="11" name="s10-panel-2">
            <a:extLst>
              <a:ext uri="{FF2B5EF4-FFF2-40B4-BE49-F238E27FC236}">
                <a16:creationId xmlns:a16="http://schemas.microsoft.com/office/drawing/2014/main" id="{2CA6593A-BAE6-4C2D-B5E1-E469660EC06C}"/>
              </a:ext>
            </a:extLst>
          </p:cNvPr>
          <p:cNvSpPr>
            <a:spLocks noGrp="1"/>
          </p:cNvSpPr>
          <p:nvPr/>
        </p:nvSpPr>
        <p:spPr>
          <a:xfrm>
            <a:off x="6477000" y="4572000"/>
            <a:ext cx="5324475" cy="1381125"/>
          </a:xfrm>
          <a:prstGeom prst="roundRect">
            <a:avLst>
              <a:gd name="adj" fmla="val 5517"/>
            </a:avLst>
          </a:prstGeom>
          <a:solidFill>
            <a:srgbClr val="13243B"/>
          </a:solidFill>
          <a:ln w="11906">
            <a:solidFill>
              <a:srgbClr val="F4C15D"/>
            </a:solidFill>
            <a:prstDash val="solid"/>
          </a:ln>
        </p:spPr>
      </p:sp>
      <p:sp>
        <p:nvSpPr>
          <p:cNvPr id="12" name="s10-title-2">
            <a:extLst>
              <a:ext uri="{FF2B5EF4-FFF2-40B4-BE49-F238E27FC236}">
                <a16:creationId xmlns:a16="http://schemas.microsoft.com/office/drawing/2014/main" id="{CFA278D9-61D0-4ABD-B7A6-34B444160FB5}"/>
              </a:ext>
            </a:extLst>
          </p:cNvPr>
          <p:cNvSpPr>
            <a:spLocks noGrp="1"/>
          </p:cNvSpPr>
          <p:nvPr/>
        </p:nvSpPr>
        <p:spPr>
          <a:xfrm>
            <a:off x="6762750" y="4781550"/>
            <a:ext cx="4762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111111"/>
                </a:solidFill>
                <a:latin typeface="Arial"/>
                <a:ea typeface="Arial"/>
                <a:cs typeface="Arial"/>
              </a:defRPr>
            </a:pPr>
            <a:r>
              <a:rPr sz="1575" b="1">
                <a:solidFill>
                  <a:srgbClr val="F4C15D"/>
                </a:solidFill>
                <a:latin typeface="Arial"/>
                <a:ea typeface="Arial"/>
                <a:cs typeface="Arial"/>
              </a:rPr>
              <a:t>Optimization changes the state</a:t>
            </a:r>
          </a:p>
        </p:txBody>
      </p:sp>
      <p:sp>
        <p:nvSpPr>
          <p:cNvPr id="13" name="s10-body-2">
            <a:extLst>
              <a:ext uri="{FF2B5EF4-FFF2-40B4-BE49-F238E27FC236}">
                <a16:creationId xmlns:a16="http://schemas.microsoft.com/office/drawing/2014/main" id="{07FFF978-59AD-4D5D-A032-EE392081F0E5}"/>
              </a:ext>
            </a:extLst>
          </p:cNvPr>
          <p:cNvSpPr>
            <a:spLocks noGrp="1"/>
          </p:cNvSpPr>
          <p:nvPr/>
        </p:nvSpPr>
        <p:spPr>
          <a:xfrm>
            <a:off x="6762750" y="5200650"/>
            <a:ext cx="4762500" cy="609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0">
                <a:solidFill>
                  <a:srgbClr val="5F6368"/>
                </a:solidFill>
                <a:latin typeface="Arial"/>
                <a:ea typeface="Arial"/>
                <a:cs typeface="Arial"/>
              </a:defRPr>
            </a:pPr>
            <a:r>
              <a:rPr sz="1275" b="0">
                <a:solidFill>
                  <a:srgbClr val="D6E0ED"/>
                </a:solidFill>
                <a:latin typeface="Arial"/>
                <a:ea typeface="Arial"/>
                <a:cs typeface="Arial"/>
              </a:rPr>
              <a:t>Checkpoint and final captures show recovery of variation or unstable late-layer amplification.</a:t>
            </a:r>
          </a:p>
        </p:txBody>
      </p:sp>
      <p:sp>
        <p:nvSpPr>
          <p:cNvPr id="14" name="footer-rule-10">
            <a:extLst>
              <a:ext uri="{FF2B5EF4-FFF2-40B4-BE49-F238E27FC236}">
                <a16:creationId xmlns:a16="http://schemas.microsoft.com/office/drawing/2014/main" id="{137813F9-DD4E-4D7E-AD6C-9D58BD25AC2B}"/>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5" name="footer-label-10">
            <a:extLst>
              <a:ext uri="{FF2B5EF4-FFF2-40B4-BE49-F238E27FC236}">
                <a16:creationId xmlns:a16="http://schemas.microsoft.com/office/drawing/2014/main" id="{40EEBB9C-1C93-4198-BD07-A60149EB96DB}"/>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6" name="footer-page-10">
            <a:extLst>
              <a:ext uri="{FF2B5EF4-FFF2-40B4-BE49-F238E27FC236}">
                <a16:creationId xmlns:a16="http://schemas.microsoft.com/office/drawing/2014/main" id="{1B671B89-7411-42E8-8102-21500188E97E}"/>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38BDF8"/>
                </a:solidFill>
                <a:latin typeface="Arial"/>
                <a:ea typeface="Arial"/>
                <a:cs typeface="Arial"/>
              </a:rPr>
              <a:t>12</a:t>
            </a:r>
          </a:p>
        </p:txBody>
      </p:sp>
    </p:spTree>
    <p:extLst>
      <p:ext uri="{BB962C8B-B14F-4D97-AF65-F5344CB8AC3E}">
        <p14:creationId xmlns:p14="http://schemas.microsoft.com/office/powerpoint/2010/main" val="14325149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1" name="title-11">
            <a:extLst>
              <a:ext uri="{FF2B5EF4-FFF2-40B4-BE49-F238E27FC236}">
                <a16:creationId xmlns:a16="http://schemas.microsoft.com/office/drawing/2014/main" id="{B3F3AE30-3EC3-47BE-8774-3C7EFF58A1E7}"/>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850" b="1">
                <a:solidFill>
                  <a:srgbClr val="F8FAFC"/>
                </a:solidFill>
                <a:latin typeface="Arial"/>
                <a:ea typeface="Arial"/>
                <a:cs typeface="Arial"/>
              </a:rPr>
              <a:t>Result VI — Deep GCN contracts, then amplifies</a:t>
            </a:r>
          </a:p>
        </p:txBody>
      </p:sp>
      <p:sp>
        <p:nvSpPr>
          <p:cNvPr id="2" name="accent-11">
            <a:extLst>
              <a:ext uri="{FF2B5EF4-FFF2-40B4-BE49-F238E27FC236}">
                <a16:creationId xmlns:a16="http://schemas.microsoft.com/office/drawing/2014/main" id="{0478468C-5363-4D45-A543-159EF2921ABE}"/>
              </a:ext>
            </a:extLst>
          </p:cNvPr>
          <p:cNvSpPr>
            <a:spLocks noGrp="1"/>
          </p:cNvSpPr>
          <p:nvPr/>
        </p:nvSpPr>
        <p:spPr>
          <a:xfrm>
            <a:off x="476250" y="1057275"/>
            <a:ext cx="1200150" cy="47625"/>
          </a:xfrm>
          <a:prstGeom prst="rect">
            <a:avLst/>
          </a:prstGeom>
          <a:solidFill>
            <a:srgbClr val="9B87F5"/>
          </a:solidFill>
          <a:ln w="0">
            <a:solidFill>
              <a:srgbClr val="000000">
                <a:alpha val="0"/>
              </a:srgbClr>
            </a:solidFill>
            <a:prstDash val="solid"/>
          </a:ln>
        </p:spPr>
      </p:sp>
      <p:sp>
        <p:nvSpPr>
          <p:cNvPr id="3" name="s11-stat">
            <a:extLst>
              <a:ext uri="{FF2B5EF4-FFF2-40B4-BE49-F238E27FC236}">
                <a16:creationId xmlns:a16="http://schemas.microsoft.com/office/drawing/2014/main" id="{5297E5E5-F441-4AE5-90D0-33EE82BF4A24}"/>
              </a:ext>
            </a:extLst>
          </p:cNvPr>
          <p:cNvSpPr>
            <a:spLocks noGrp="1"/>
          </p:cNvSpPr>
          <p:nvPr/>
        </p:nvSpPr>
        <p:spPr>
          <a:xfrm>
            <a:off x="390525" y="1809750"/>
            <a:ext cx="3429000" cy="10001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4350" b="1">
                <a:solidFill>
                  <a:srgbClr val="3D8DFF"/>
                </a:solidFill>
                <a:latin typeface="Arial"/>
                <a:ea typeface="Arial"/>
                <a:cs typeface="Arial"/>
              </a:defRPr>
            </a:pPr>
            <a:r>
              <a:rPr sz="4500" b="1">
                <a:solidFill>
                  <a:srgbClr val="38BDF8"/>
                </a:solidFill>
                <a:latin typeface="Arial"/>
                <a:ea typeface="Arial"/>
                <a:cs typeface="Arial"/>
              </a:rPr>
              <a:t>9 / 10</a:t>
            </a:r>
          </a:p>
        </p:txBody>
      </p:sp>
      <p:sp>
        <p:nvSpPr>
          <p:cNvPr id="4" name="s11-label">
            <a:extLst>
              <a:ext uri="{FF2B5EF4-FFF2-40B4-BE49-F238E27FC236}">
                <a16:creationId xmlns:a16="http://schemas.microsoft.com/office/drawing/2014/main" id="{8F26577A-2923-4393-9D6C-3583DDFF3A63}"/>
              </a:ext>
            </a:extLst>
          </p:cNvPr>
          <p:cNvSpPr>
            <a:spLocks noGrp="1"/>
          </p:cNvSpPr>
          <p:nvPr/>
        </p:nvSpPr>
        <p:spPr>
          <a:xfrm>
            <a:off x="390525" y="2933700"/>
            <a:ext cx="4476750" cy="8096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111111"/>
                </a:solidFill>
                <a:latin typeface="Arial"/>
                <a:ea typeface="Arial"/>
                <a:cs typeface="Arial"/>
              </a:defRPr>
            </a:pPr>
            <a:r>
              <a:rPr sz="1725" b="1">
                <a:solidFill>
                  <a:srgbClr val="F8FAFC"/>
                </a:solidFill>
                <a:latin typeface="Arial"/>
                <a:ea typeface="Arial"/>
                <a:cs typeface="Arial"/>
              </a:rPr>
              <a:t>seeds exhibit early-band energy collapse</a:t>
            </a:r>
          </a:p>
          <a:p>
            <a:pPr algn="l">
              <a:buNone/>
              <a:defRPr sz="1800" b="1">
                <a:solidFill>
                  <a:srgbClr val="111111"/>
                </a:solidFill>
                <a:latin typeface="Arial"/>
                <a:ea typeface="Arial"/>
                <a:cs typeface="Arial"/>
              </a:defRPr>
            </a:pPr>
            <a:r>
              <a:rPr sz="1725" b="1">
                <a:solidFill>
                  <a:srgbClr val="F8FAFC"/>
                </a:solidFill>
                <a:latin typeface="Arial"/>
                <a:ea typeface="Arial"/>
                <a:cs typeface="Arial"/>
              </a:rPr>
              <a:t>at the selected checkpoint</a:t>
            </a:r>
          </a:p>
        </p:txBody>
      </p:sp>
      <p:sp>
        <p:nvSpPr>
          <p:cNvPr id="5" name="s11-body">
            <a:extLst>
              <a:ext uri="{FF2B5EF4-FFF2-40B4-BE49-F238E27FC236}">
                <a16:creationId xmlns:a16="http://schemas.microsoft.com/office/drawing/2014/main" id="{2714E20E-9B6E-4B0C-9783-A23F2845B908}"/>
              </a:ext>
            </a:extLst>
          </p:cNvPr>
          <p:cNvSpPr>
            <a:spLocks noGrp="1"/>
          </p:cNvSpPr>
          <p:nvPr/>
        </p:nvSpPr>
        <p:spPr>
          <a:xfrm>
            <a:off x="390525" y="4095750"/>
            <a:ext cx="4762500" cy="1524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00" b="0">
                <a:solidFill>
                  <a:srgbClr val="D6E0ED"/>
                </a:solidFill>
                <a:latin typeface="Arial"/>
                <a:ea typeface="Arial"/>
                <a:cs typeface="Arial"/>
              </a:rPr>
              <a:t>For L = 32, normalized energy contracts across most hidden layers, then increases by many orders of magnitude near the output.</a:t>
            </a:r>
          </a:p>
          <a:p>
            <a:endParaRPr sz="1500" b="0">
              <a:solidFill>
                <a:srgbClr val="D6E0ED"/>
              </a:solidFill>
              <a:latin typeface="Arial"/>
              <a:ea typeface="Arial"/>
              <a:cs typeface="Arial"/>
            </a:endParaRPr>
          </a:p>
          <a:p>
            <a:pPr algn="l">
              <a:buNone/>
              <a:defRPr sz="1575" b="0">
                <a:solidFill>
                  <a:srgbClr val="5F6368"/>
                </a:solidFill>
                <a:latin typeface="Arial"/>
                <a:ea typeface="Arial"/>
                <a:cs typeface="Arial"/>
              </a:defRPr>
            </a:pPr>
            <a:r>
              <a:rPr sz="1500" b="0">
                <a:solidFill>
                  <a:srgbClr val="D6E0ED"/>
                </a:solidFill>
                <a:latin typeface="Arial"/>
                <a:ea typeface="Arial"/>
                <a:cs typeface="Arial"/>
              </a:rPr>
              <a:t>The pattern is reproducible; its parameter-level cause is not identified by this study.</a:t>
            </a:r>
          </a:p>
        </p:txBody>
      </p:sp>
      <p:sp>
        <p:nvSpPr>
          <p:cNvPr id="6" name="s11-chart-frame">
            <a:extLst>
              <a:ext uri="{FF2B5EF4-FFF2-40B4-BE49-F238E27FC236}">
                <a16:creationId xmlns:a16="http://schemas.microsoft.com/office/drawing/2014/main" id="{CB731F2F-9FF1-41EE-AC58-543B443E31CB}"/>
              </a:ext>
            </a:extLst>
          </p:cNvPr>
          <p:cNvSpPr>
            <a:spLocks noGrp="1"/>
          </p:cNvSpPr>
          <p:nvPr/>
        </p:nvSpPr>
        <p:spPr>
          <a:xfrm>
            <a:off x="5476875" y="1219200"/>
            <a:ext cx="6324600" cy="4762500"/>
          </a:xfrm>
          <a:prstGeom prst="roundRect">
            <a:avLst>
              <a:gd name="adj" fmla="val 1600"/>
            </a:avLst>
          </a:prstGeom>
          <a:solidFill>
            <a:srgbClr val="FFFFFF"/>
          </a:solidFill>
          <a:ln w="14288">
            <a:solidFill>
              <a:srgbClr val="2B3C59"/>
            </a:solidFill>
            <a:prstDash val="solid"/>
          </a:ln>
        </p:spPr>
      </p:sp>
      <p:pic>
        <p:nvPicPr>
          <p:cNvPr id="19" name="Picture 18"/>
          <p:cNvPicPr>
            <a:picLocks noChangeAspect="1"/>
          </p:cNvPicPr>
          <p:nvPr/>
        </p:nvPicPr>
        <p:blipFill>
          <a:blip r:embed="rId3"/>
          <a:stretch/>
        </p:blipFill>
        <p:spPr>
          <a:xfrm>
            <a:off x="5791017" y="1428750"/>
            <a:ext cx="5705841" cy="4238625"/>
          </a:xfrm>
          <a:prstGeom prst="rect">
            <a:avLst/>
          </a:prstGeom>
        </p:spPr>
      </p:pic>
      <p:sp>
        <p:nvSpPr>
          <p:cNvPr id="8" name="footer-rule-11">
            <a:extLst>
              <a:ext uri="{FF2B5EF4-FFF2-40B4-BE49-F238E27FC236}">
                <a16:creationId xmlns:a16="http://schemas.microsoft.com/office/drawing/2014/main" id="{5F4D2D87-CB84-47FB-90C6-DBC69779CA48}"/>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9" name="footer-label-11">
            <a:extLst>
              <a:ext uri="{FF2B5EF4-FFF2-40B4-BE49-F238E27FC236}">
                <a16:creationId xmlns:a16="http://schemas.microsoft.com/office/drawing/2014/main" id="{E85EC065-870B-4042-A314-5466B502783E}"/>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0" name="footer-page-11">
            <a:extLst>
              <a:ext uri="{FF2B5EF4-FFF2-40B4-BE49-F238E27FC236}">
                <a16:creationId xmlns:a16="http://schemas.microsoft.com/office/drawing/2014/main" id="{4A152817-0825-4EF5-A382-23F50DD12997}"/>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9B87F5"/>
                </a:solidFill>
                <a:latin typeface="Arial"/>
                <a:ea typeface="Arial"/>
                <a:cs typeface="Arial"/>
              </a:rPr>
              <a:t>14</a:t>
            </a:r>
          </a:p>
        </p:txBody>
      </p:sp>
    </p:spTree>
    <p:extLst>
      <p:ext uri="{BB962C8B-B14F-4D97-AF65-F5344CB8AC3E}">
        <p14:creationId xmlns:p14="http://schemas.microsoft.com/office/powerpoint/2010/main" val="2697565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8" name="title-12">
            <a:extLst>
              <a:ext uri="{FF2B5EF4-FFF2-40B4-BE49-F238E27FC236}">
                <a16:creationId xmlns:a16="http://schemas.microsoft.com/office/drawing/2014/main" id="{9DA71D76-2CD5-41D7-9283-CC4EEB197ABD}"/>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700" b="1">
                <a:solidFill>
                  <a:srgbClr val="F8FAFC"/>
                </a:solidFill>
                <a:latin typeface="Arial"/>
                <a:ea typeface="Arial"/>
                <a:cs typeface="Arial"/>
              </a:rPr>
              <a:t>Intervention study — Jumping Knowledge gives the largest recovery</a:t>
            </a:r>
          </a:p>
        </p:txBody>
      </p:sp>
      <p:sp>
        <p:nvSpPr>
          <p:cNvPr id="2" name="accent-12">
            <a:extLst>
              <a:ext uri="{FF2B5EF4-FFF2-40B4-BE49-F238E27FC236}">
                <a16:creationId xmlns:a16="http://schemas.microsoft.com/office/drawing/2014/main" id="{A01256F0-1F07-48ED-8941-98F45F84B122}"/>
              </a:ext>
            </a:extLst>
          </p:cNvPr>
          <p:cNvSpPr>
            <a:spLocks noGrp="1"/>
          </p:cNvSpPr>
          <p:nvPr/>
        </p:nvSpPr>
        <p:spPr>
          <a:xfrm>
            <a:off x="476250" y="1057275"/>
            <a:ext cx="1200150" cy="47625"/>
          </a:xfrm>
          <a:prstGeom prst="rect">
            <a:avLst/>
          </a:prstGeom>
          <a:solidFill>
            <a:srgbClr val="38BDF8"/>
          </a:solidFill>
          <a:ln w="0">
            <a:solidFill>
              <a:srgbClr val="000000">
                <a:alpha val="0"/>
              </a:srgbClr>
            </a:solidFill>
            <a:prstDash val="solid"/>
          </a:ln>
        </p:spPr>
      </p:sp>
      <p:sp>
        <p:nvSpPr>
          <p:cNvPr id="3" name="s12-chart-frame">
            <a:extLst>
              <a:ext uri="{FF2B5EF4-FFF2-40B4-BE49-F238E27FC236}">
                <a16:creationId xmlns:a16="http://schemas.microsoft.com/office/drawing/2014/main" id="{5D916AED-5A8A-4180-BD5C-CD925D6C6965}"/>
              </a:ext>
            </a:extLst>
          </p:cNvPr>
          <p:cNvSpPr>
            <a:spLocks noGrp="1"/>
          </p:cNvSpPr>
          <p:nvPr/>
        </p:nvSpPr>
        <p:spPr>
          <a:xfrm>
            <a:off x="390525" y="1219200"/>
            <a:ext cx="5715000" cy="4762500"/>
          </a:xfrm>
          <a:prstGeom prst="roundRect">
            <a:avLst>
              <a:gd name="adj" fmla="val 1600"/>
            </a:avLst>
          </a:prstGeom>
          <a:solidFill>
            <a:srgbClr val="FFFFFF"/>
          </a:solidFill>
          <a:ln w="14288">
            <a:solidFill>
              <a:srgbClr val="2B3C59"/>
            </a:solidFill>
            <a:prstDash val="solid"/>
          </a:ln>
        </p:spPr>
      </p:sp>
      <p:pic>
        <p:nvPicPr>
          <p:cNvPr id="23" name="Picture 22"/>
          <p:cNvPicPr>
            <a:picLocks noChangeAspect="1"/>
          </p:cNvPicPr>
          <p:nvPr/>
        </p:nvPicPr>
        <p:blipFill>
          <a:blip r:embed="rId3"/>
          <a:stretch/>
        </p:blipFill>
        <p:spPr>
          <a:xfrm>
            <a:off x="552450" y="1540873"/>
            <a:ext cx="5391150" cy="4004854"/>
          </a:xfrm>
          <a:prstGeom prst="rect">
            <a:avLst/>
          </a:prstGeom>
        </p:spPr>
      </p:pic>
      <p:sp>
        <p:nvSpPr>
          <p:cNvPr id="5" name="s12-panel-0">
            <a:extLst>
              <a:ext uri="{FF2B5EF4-FFF2-40B4-BE49-F238E27FC236}">
                <a16:creationId xmlns:a16="http://schemas.microsoft.com/office/drawing/2014/main" id="{5D0BFA81-662F-45A7-9DDB-53D963CE2C5D}"/>
              </a:ext>
            </a:extLst>
          </p:cNvPr>
          <p:cNvSpPr>
            <a:spLocks noGrp="1"/>
          </p:cNvSpPr>
          <p:nvPr/>
        </p:nvSpPr>
        <p:spPr>
          <a:xfrm>
            <a:off x="6477000" y="1219200"/>
            <a:ext cx="5324475" cy="1381125"/>
          </a:xfrm>
          <a:prstGeom prst="roundRect">
            <a:avLst>
              <a:gd name="adj" fmla="val 5517"/>
            </a:avLst>
          </a:prstGeom>
          <a:solidFill>
            <a:srgbClr val="102D46"/>
          </a:solidFill>
          <a:ln w="16193">
            <a:solidFill>
              <a:srgbClr val="38BDF8"/>
            </a:solidFill>
            <a:prstDash val="solid"/>
          </a:ln>
        </p:spPr>
      </p:sp>
      <p:sp>
        <p:nvSpPr>
          <p:cNvPr id="6" name="s12-stat-0">
            <a:extLst>
              <a:ext uri="{FF2B5EF4-FFF2-40B4-BE49-F238E27FC236}">
                <a16:creationId xmlns:a16="http://schemas.microsoft.com/office/drawing/2014/main" id="{3342E3F4-1D61-4B1A-9F79-9BE613BA8DC7}"/>
              </a:ext>
            </a:extLst>
          </p:cNvPr>
          <p:cNvSpPr>
            <a:spLocks noGrp="1"/>
          </p:cNvSpPr>
          <p:nvPr/>
        </p:nvSpPr>
        <p:spPr>
          <a:xfrm>
            <a:off x="6762750" y="1409700"/>
            <a:ext cx="2095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925" b="1">
                <a:solidFill>
                  <a:srgbClr val="3D8DFF"/>
                </a:solidFill>
                <a:latin typeface="Arial"/>
                <a:ea typeface="Arial"/>
                <a:cs typeface="Arial"/>
              </a:defRPr>
            </a:pPr>
            <a:r>
              <a:rPr sz="3000" b="1">
                <a:solidFill>
                  <a:srgbClr val="38BDF8"/>
                </a:solidFill>
                <a:latin typeface="Arial"/>
                <a:ea typeface="Arial"/>
                <a:cs typeface="Arial"/>
              </a:rPr>
              <a:t>73.13%</a:t>
            </a:r>
          </a:p>
        </p:txBody>
      </p:sp>
      <p:sp>
        <p:nvSpPr>
          <p:cNvPr id="7" name="s12-label-0">
            <a:extLst>
              <a:ext uri="{FF2B5EF4-FFF2-40B4-BE49-F238E27FC236}">
                <a16:creationId xmlns:a16="http://schemas.microsoft.com/office/drawing/2014/main" id="{9AC6DB6B-9595-4755-AFF7-E6946C6E753F}"/>
              </a:ext>
            </a:extLst>
          </p:cNvPr>
          <p:cNvSpPr>
            <a:spLocks noGrp="1"/>
          </p:cNvSpPr>
          <p:nvPr/>
        </p:nvSpPr>
        <p:spPr>
          <a:xfrm>
            <a:off x="9048750" y="1543050"/>
            <a:ext cx="2333625"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1425" b="0">
                <a:solidFill>
                  <a:srgbClr val="5F6368"/>
                </a:solidFill>
                <a:latin typeface="Arial"/>
                <a:ea typeface="Arial"/>
                <a:cs typeface="Arial"/>
              </a:defRPr>
            </a:pPr>
            <a:r>
              <a:rPr sz="1350" b="0">
                <a:solidFill>
                  <a:srgbClr val="D6E0ED"/>
                </a:solidFill>
                <a:latin typeface="Arial"/>
                <a:ea typeface="Arial"/>
                <a:cs typeface="Arial"/>
              </a:rPr>
              <a:t>Jumping Knowledge · L = 32</a:t>
            </a:r>
          </a:p>
        </p:txBody>
      </p:sp>
      <p:sp>
        <p:nvSpPr>
          <p:cNvPr id="8" name="s12-win">
            <a:extLst>
              <a:ext uri="{FF2B5EF4-FFF2-40B4-BE49-F238E27FC236}">
                <a16:creationId xmlns:a16="http://schemas.microsoft.com/office/drawing/2014/main" id="{A2963CF7-93F0-424A-8091-B0AEFAB6741F}"/>
              </a:ext>
            </a:extLst>
          </p:cNvPr>
          <p:cNvSpPr>
            <a:spLocks noGrp="1"/>
          </p:cNvSpPr>
          <p:nvPr/>
        </p:nvSpPr>
        <p:spPr>
          <a:xfrm>
            <a:off x="6762750" y="2095500"/>
            <a:ext cx="2857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3D8DFF"/>
                </a:solidFill>
                <a:latin typeface="Arial"/>
                <a:ea typeface="Arial"/>
                <a:cs typeface="Arial"/>
              </a:defRPr>
            </a:pPr>
            <a:r>
              <a:rPr sz="1200" b="1">
                <a:solidFill>
                  <a:srgbClr val="38BDF8"/>
                </a:solidFill>
                <a:latin typeface="Arial"/>
                <a:ea typeface="Arial"/>
                <a:cs typeface="Arial"/>
              </a:rPr>
              <a:t>highest tested mean accuracy at L = 32</a:t>
            </a:r>
          </a:p>
        </p:txBody>
      </p:sp>
      <p:sp>
        <p:nvSpPr>
          <p:cNvPr id="9" name="s12-panel-1">
            <a:extLst>
              <a:ext uri="{FF2B5EF4-FFF2-40B4-BE49-F238E27FC236}">
                <a16:creationId xmlns:a16="http://schemas.microsoft.com/office/drawing/2014/main" id="{1ACBF6A6-FCA4-4016-A9BD-76CE8FC8BE54}"/>
              </a:ext>
            </a:extLst>
          </p:cNvPr>
          <p:cNvSpPr>
            <a:spLocks noGrp="1"/>
          </p:cNvSpPr>
          <p:nvPr/>
        </p:nvSpPr>
        <p:spPr>
          <a:xfrm>
            <a:off x="6477000" y="2895600"/>
            <a:ext cx="5324475" cy="1381125"/>
          </a:xfrm>
          <a:prstGeom prst="roundRect">
            <a:avLst>
              <a:gd name="adj" fmla="val 5517"/>
            </a:avLst>
          </a:prstGeom>
          <a:solidFill>
            <a:srgbClr val="13243B"/>
          </a:solidFill>
          <a:ln w="11906">
            <a:solidFill>
              <a:srgbClr val="9B87F5"/>
            </a:solidFill>
            <a:prstDash val="solid"/>
          </a:ln>
        </p:spPr>
      </p:sp>
      <p:sp>
        <p:nvSpPr>
          <p:cNvPr id="10" name="s12-stat-1">
            <a:extLst>
              <a:ext uri="{FF2B5EF4-FFF2-40B4-BE49-F238E27FC236}">
                <a16:creationId xmlns:a16="http://schemas.microsoft.com/office/drawing/2014/main" id="{9AEAE7D2-A43A-484E-A555-04C5207F6801}"/>
              </a:ext>
            </a:extLst>
          </p:cNvPr>
          <p:cNvSpPr>
            <a:spLocks noGrp="1"/>
          </p:cNvSpPr>
          <p:nvPr/>
        </p:nvSpPr>
        <p:spPr>
          <a:xfrm>
            <a:off x="6762750" y="3086100"/>
            <a:ext cx="2095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925" b="1">
                <a:solidFill>
                  <a:srgbClr val="111111"/>
                </a:solidFill>
                <a:latin typeface="Arial"/>
                <a:ea typeface="Arial"/>
                <a:cs typeface="Arial"/>
              </a:defRPr>
            </a:pPr>
            <a:r>
              <a:rPr sz="3000" b="1">
                <a:solidFill>
                  <a:srgbClr val="9B87F5"/>
                </a:solidFill>
                <a:latin typeface="Arial"/>
                <a:ea typeface="Arial"/>
                <a:cs typeface="Arial"/>
              </a:rPr>
              <a:t>58.07%</a:t>
            </a:r>
          </a:p>
        </p:txBody>
      </p:sp>
      <p:sp>
        <p:nvSpPr>
          <p:cNvPr id="11" name="s12-label-1">
            <a:extLst>
              <a:ext uri="{FF2B5EF4-FFF2-40B4-BE49-F238E27FC236}">
                <a16:creationId xmlns:a16="http://schemas.microsoft.com/office/drawing/2014/main" id="{29B14939-8764-4278-8E9E-B083C69D3566}"/>
              </a:ext>
            </a:extLst>
          </p:cNvPr>
          <p:cNvSpPr>
            <a:spLocks noGrp="1"/>
          </p:cNvSpPr>
          <p:nvPr/>
        </p:nvSpPr>
        <p:spPr>
          <a:xfrm>
            <a:off x="9048750" y="3219450"/>
            <a:ext cx="2333625"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1425" b="0">
                <a:solidFill>
                  <a:srgbClr val="5F6368"/>
                </a:solidFill>
                <a:latin typeface="Arial"/>
                <a:ea typeface="Arial"/>
                <a:cs typeface="Arial"/>
              </a:defRPr>
            </a:pPr>
            <a:r>
              <a:rPr sz="1350" b="0">
                <a:solidFill>
                  <a:srgbClr val="D6E0ED"/>
                </a:solidFill>
                <a:latin typeface="Arial"/>
                <a:ea typeface="Arial"/>
                <a:cs typeface="Arial"/>
              </a:rPr>
              <a:t>PairNorm · L = 32</a:t>
            </a:r>
          </a:p>
        </p:txBody>
      </p:sp>
      <p:sp>
        <p:nvSpPr>
          <p:cNvPr id="12" name="s12-panel-2">
            <a:extLst>
              <a:ext uri="{FF2B5EF4-FFF2-40B4-BE49-F238E27FC236}">
                <a16:creationId xmlns:a16="http://schemas.microsoft.com/office/drawing/2014/main" id="{82E971F3-CCD3-40ED-B2C0-3916129CA463}"/>
              </a:ext>
            </a:extLst>
          </p:cNvPr>
          <p:cNvSpPr>
            <a:spLocks noGrp="1"/>
          </p:cNvSpPr>
          <p:nvPr/>
        </p:nvSpPr>
        <p:spPr>
          <a:xfrm>
            <a:off x="6477000" y="4572000"/>
            <a:ext cx="5324475" cy="1381125"/>
          </a:xfrm>
          <a:prstGeom prst="roundRect">
            <a:avLst>
              <a:gd name="adj" fmla="val 5517"/>
            </a:avLst>
          </a:prstGeom>
          <a:solidFill>
            <a:srgbClr val="13243B"/>
          </a:solidFill>
          <a:ln w="11906">
            <a:solidFill>
              <a:srgbClr val="F4C15D"/>
            </a:solidFill>
            <a:prstDash val="solid"/>
          </a:ln>
        </p:spPr>
      </p:sp>
      <p:sp>
        <p:nvSpPr>
          <p:cNvPr id="13" name="s12-stat-2">
            <a:extLst>
              <a:ext uri="{FF2B5EF4-FFF2-40B4-BE49-F238E27FC236}">
                <a16:creationId xmlns:a16="http://schemas.microsoft.com/office/drawing/2014/main" id="{94F80BAC-A360-4CE7-94B0-1697339EF65C}"/>
              </a:ext>
            </a:extLst>
          </p:cNvPr>
          <p:cNvSpPr>
            <a:spLocks noGrp="1"/>
          </p:cNvSpPr>
          <p:nvPr/>
        </p:nvSpPr>
        <p:spPr>
          <a:xfrm>
            <a:off x="6762750" y="4762500"/>
            <a:ext cx="2095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925" b="1">
                <a:solidFill>
                  <a:srgbClr val="111111"/>
                </a:solidFill>
                <a:latin typeface="Arial"/>
                <a:ea typeface="Arial"/>
                <a:cs typeface="Arial"/>
              </a:defRPr>
            </a:pPr>
            <a:r>
              <a:rPr sz="3000" b="1">
                <a:solidFill>
                  <a:srgbClr val="F4C15D"/>
                </a:solidFill>
                <a:latin typeface="Arial"/>
                <a:ea typeface="Arial"/>
                <a:cs typeface="Arial"/>
              </a:rPr>
              <a:t>19.25%</a:t>
            </a:r>
          </a:p>
        </p:txBody>
      </p:sp>
      <p:sp>
        <p:nvSpPr>
          <p:cNvPr id="14" name="s12-label-2">
            <a:extLst>
              <a:ext uri="{FF2B5EF4-FFF2-40B4-BE49-F238E27FC236}">
                <a16:creationId xmlns:a16="http://schemas.microsoft.com/office/drawing/2014/main" id="{A3C755AB-9654-4D9D-BA59-FE7E23BB9068}"/>
              </a:ext>
            </a:extLst>
          </p:cNvPr>
          <p:cNvSpPr>
            <a:spLocks noGrp="1"/>
          </p:cNvSpPr>
          <p:nvPr/>
        </p:nvSpPr>
        <p:spPr>
          <a:xfrm>
            <a:off x="9048750" y="4895850"/>
            <a:ext cx="2333625"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1425" b="0">
                <a:solidFill>
                  <a:srgbClr val="5F6368"/>
                </a:solidFill>
                <a:latin typeface="Arial"/>
                <a:ea typeface="Arial"/>
                <a:cs typeface="Arial"/>
              </a:defRPr>
            </a:pPr>
            <a:r>
              <a:rPr sz="1350" b="0">
                <a:solidFill>
                  <a:srgbClr val="D6E0ED"/>
                </a:solidFill>
                <a:latin typeface="Arial"/>
                <a:ea typeface="Arial"/>
                <a:cs typeface="Arial"/>
              </a:rPr>
              <a:t>Residual only · L = 32</a:t>
            </a:r>
          </a:p>
        </p:txBody>
      </p:sp>
      <p:sp>
        <p:nvSpPr>
          <p:cNvPr id="15" name="footer-rule-12">
            <a:extLst>
              <a:ext uri="{FF2B5EF4-FFF2-40B4-BE49-F238E27FC236}">
                <a16:creationId xmlns:a16="http://schemas.microsoft.com/office/drawing/2014/main" id="{4C17A744-7019-49A7-BFB7-03528B0F770D}"/>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6" name="footer-label-12">
            <a:extLst>
              <a:ext uri="{FF2B5EF4-FFF2-40B4-BE49-F238E27FC236}">
                <a16:creationId xmlns:a16="http://schemas.microsoft.com/office/drawing/2014/main" id="{39CA8573-2E0C-4F50-9C37-659E7334F5B4}"/>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7" name="footer-page-12">
            <a:extLst>
              <a:ext uri="{FF2B5EF4-FFF2-40B4-BE49-F238E27FC236}">
                <a16:creationId xmlns:a16="http://schemas.microsoft.com/office/drawing/2014/main" id="{8E46B01D-53AF-4D7B-BADC-C5D2CAC0DEAA}"/>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38BDF8"/>
                </a:solidFill>
                <a:latin typeface="Arial"/>
                <a:ea typeface="Arial"/>
                <a:cs typeface="Arial"/>
              </a:rPr>
              <a:t>15</a:t>
            </a:r>
          </a:p>
        </p:txBody>
      </p:sp>
    </p:spTree>
    <p:extLst>
      <p:ext uri="{BB962C8B-B14F-4D97-AF65-F5344CB8AC3E}">
        <p14:creationId xmlns:p14="http://schemas.microsoft.com/office/powerpoint/2010/main" val="24975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7" name="title-13">
            <a:extLst>
              <a:ext uri="{FF2B5EF4-FFF2-40B4-BE49-F238E27FC236}">
                <a16:creationId xmlns:a16="http://schemas.microsoft.com/office/drawing/2014/main" id="{BF81E232-A6E4-486F-ADE9-8D7ED71B535A}"/>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625" b="1">
                <a:solidFill>
                  <a:srgbClr val="F8FAFC"/>
                </a:solidFill>
                <a:latin typeface="Arial"/>
                <a:ea typeface="Arial"/>
                <a:cs typeface="Arial"/>
              </a:rPr>
              <a:t>Mechanistic interpretation — GCNII preserves the initial signal</a:t>
            </a:r>
          </a:p>
        </p:txBody>
      </p:sp>
      <p:sp>
        <p:nvSpPr>
          <p:cNvPr id="2" name="accent-13">
            <a:extLst>
              <a:ext uri="{FF2B5EF4-FFF2-40B4-BE49-F238E27FC236}">
                <a16:creationId xmlns:a16="http://schemas.microsoft.com/office/drawing/2014/main" id="{C14185CC-ED0B-4FDB-A3AB-C172B072743C}"/>
              </a:ext>
            </a:extLst>
          </p:cNvPr>
          <p:cNvSpPr>
            <a:spLocks noGrp="1"/>
          </p:cNvSpPr>
          <p:nvPr/>
        </p:nvSpPr>
        <p:spPr>
          <a:xfrm>
            <a:off x="476250" y="1057275"/>
            <a:ext cx="1200150" cy="47625"/>
          </a:xfrm>
          <a:prstGeom prst="rect">
            <a:avLst/>
          </a:prstGeom>
          <a:solidFill>
            <a:srgbClr val="9B87F5"/>
          </a:solidFill>
          <a:ln w="0">
            <a:solidFill>
              <a:srgbClr val="000000">
                <a:alpha val="0"/>
              </a:srgbClr>
            </a:solidFill>
            <a:prstDash val="solid"/>
          </a:ln>
        </p:spPr>
      </p:sp>
      <p:sp>
        <p:nvSpPr>
          <p:cNvPr id="3" name="s13-context">
            <a:extLst>
              <a:ext uri="{FF2B5EF4-FFF2-40B4-BE49-F238E27FC236}">
                <a16:creationId xmlns:a16="http://schemas.microsoft.com/office/drawing/2014/main" id="{88F86B9D-25F6-476F-BBE8-AE6089A71365}"/>
              </a:ext>
            </a:extLst>
          </p:cNvPr>
          <p:cNvSpPr>
            <a:spLocks noGrp="1"/>
          </p:cNvSpPr>
          <p:nvPr/>
        </p:nvSpPr>
        <p:spPr>
          <a:xfrm>
            <a:off x="390525" y="1333500"/>
            <a:ext cx="11410950" cy="5238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75" b="0">
                <a:solidFill>
                  <a:srgbClr val="5F6368"/>
                </a:solidFill>
                <a:latin typeface="Arial"/>
                <a:ea typeface="Arial"/>
                <a:cs typeface="Arial"/>
              </a:defRPr>
            </a:pPr>
            <a:r>
              <a:rPr sz="1725" b="0">
                <a:solidFill>
                  <a:srgbClr val="94A3B8"/>
                </a:solidFill>
                <a:latin typeface="Arial"/>
                <a:ea typeface="Arial"/>
                <a:cs typeface="Arial"/>
              </a:rPr>
              <a:t>Initial residuals and identity mapping alter information flow across layers</a:t>
            </a:r>
          </a:p>
        </p:txBody>
      </p:sp>
      <p:sp>
        <p:nvSpPr>
          <p:cNvPr id="4" name="s13-panel-0">
            <a:extLst>
              <a:ext uri="{FF2B5EF4-FFF2-40B4-BE49-F238E27FC236}">
                <a16:creationId xmlns:a16="http://schemas.microsoft.com/office/drawing/2014/main" id="{5545AFEF-694B-4056-9ABE-530510C9CE8D}"/>
              </a:ext>
            </a:extLst>
          </p:cNvPr>
          <p:cNvSpPr>
            <a:spLocks noGrp="1"/>
          </p:cNvSpPr>
          <p:nvPr/>
        </p:nvSpPr>
        <p:spPr>
          <a:xfrm>
            <a:off x="390525" y="2333625"/>
            <a:ext cx="3571875" cy="2952750"/>
          </a:xfrm>
          <a:prstGeom prst="roundRect">
            <a:avLst>
              <a:gd name="adj" fmla="val 2581"/>
            </a:avLst>
          </a:prstGeom>
          <a:solidFill>
            <a:srgbClr val="102D46"/>
          </a:solidFill>
          <a:ln w="15240">
            <a:solidFill>
              <a:srgbClr val="38BDF8"/>
            </a:solidFill>
            <a:prstDash val="solid"/>
          </a:ln>
        </p:spPr>
      </p:sp>
      <p:sp>
        <p:nvSpPr>
          <p:cNvPr id="5" name="s13-stat-0">
            <a:extLst>
              <a:ext uri="{FF2B5EF4-FFF2-40B4-BE49-F238E27FC236}">
                <a16:creationId xmlns:a16="http://schemas.microsoft.com/office/drawing/2014/main" id="{6C16E6DA-0AA5-469C-9104-3D901F7ABB66}"/>
              </a:ext>
            </a:extLst>
          </p:cNvPr>
          <p:cNvSpPr>
            <a:spLocks noGrp="1"/>
          </p:cNvSpPr>
          <p:nvPr/>
        </p:nvSpPr>
        <p:spPr>
          <a:xfrm>
            <a:off x="695325" y="2857500"/>
            <a:ext cx="2952750" cy="1000125"/>
          </a:xfrm>
          <a:prstGeom prst="rect">
            <a:avLst/>
          </a:prstGeom>
          <a:solidFill>
            <a:srgbClr val="000000">
              <a:alpha val="0"/>
            </a:srgbClr>
          </a:solidFill>
          <a:ln w="0">
            <a:solidFill>
              <a:srgbClr val="000000">
                <a:alpha val="0"/>
              </a:srgbClr>
            </a:solidFill>
            <a:prstDash val="solid"/>
          </a:ln>
        </p:spPr>
        <p:txBody>
          <a:bodyPr lIns="0" tIns="0" rIns="0" bIns="0" anchor="b"/>
          <a:lstStyle/>
          <a:p>
            <a:pPr algn="l">
              <a:buNone/>
              <a:defRPr sz="4050" b="1">
                <a:solidFill>
                  <a:srgbClr val="3D8DFF"/>
                </a:solidFill>
                <a:latin typeface="Arial"/>
                <a:ea typeface="Arial"/>
                <a:cs typeface="Arial"/>
              </a:defRPr>
            </a:pPr>
            <a:r>
              <a:rPr sz="4050" b="1">
                <a:solidFill>
                  <a:srgbClr val="38BDF8"/>
                </a:solidFill>
                <a:latin typeface="Arial"/>
                <a:ea typeface="Arial"/>
                <a:cs typeface="Arial"/>
              </a:rPr>
              <a:t>83.26%</a:t>
            </a:r>
          </a:p>
        </p:txBody>
      </p:sp>
      <p:sp>
        <p:nvSpPr>
          <p:cNvPr id="6" name="s13-label-0">
            <a:extLst>
              <a:ext uri="{FF2B5EF4-FFF2-40B4-BE49-F238E27FC236}">
                <a16:creationId xmlns:a16="http://schemas.microsoft.com/office/drawing/2014/main" id="{D418CB4B-3D14-4A1B-97F6-CFAA4A91AF5A}"/>
              </a:ext>
            </a:extLst>
          </p:cNvPr>
          <p:cNvSpPr>
            <a:spLocks noGrp="1"/>
          </p:cNvSpPr>
          <p:nvPr/>
        </p:nvSpPr>
        <p:spPr>
          <a:xfrm>
            <a:off x="695325" y="4095750"/>
            <a:ext cx="295275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mean test accuracy</a:t>
            </a:r>
          </a:p>
          <a:p>
            <a:pPr algn="l">
              <a:buNone/>
              <a:defRPr sz="1650" b="0">
                <a:solidFill>
                  <a:srgbClr val="5F6368"/>
                </a:solidFill>
                <a:latin typeface="Arial"/>
                <a:ea typeface="Arial"/>
                <a:cs typeface="Arial"/>
              </a:defRPr>
            </a:pPr>
            <a:r>
              <a:rPr sz="1575" b="0">
                <a:solidFill>
                  <a:srgbClr val="D6E0ED"/>
                </a:solidFill>
                <a:latin typeface="Arial"/>
                <a:ea typeface="Arial"/>
                <a:cs typeface="Arial"/>
              </a:rPr>
              <a:t>at L = 32</a:t>
            </a:r>
          </a:p>
        </p:txBody>
      </p:sp>
      <p:sp>
        <p:nvSpPr>
          <p:cNvPr id="7" name="s13-panel-1">
            <a:extLst>
              <a:ext uri="{FF2B5EF4-FFF2-40B4-BE49-F238E27FC236}">
                <a16:creationId xmlns:a16="http://schemas.microsoft.com/office/drawing/2014/main" id="{E164A625-86B6-415B-8546-451D696FF36A}"/>
              </a:ext>
            </a:extLst>
          </p:cNvPr>
          <p:cNvSpPr>
            <a:spLocks noGrp="1"/>
          </p:cNvSpPr>
          <p:nvPr/>
        </p:nvSpPr>
        <p:spPr>
          <a:xfrm>
            <a:off x="4314825" y="2333625"/>
            <a:ext cx="3571875" cy="2952750"/>
          </a:xfrm>
          <a:prstGeom prst="roundRect">
            <a:avLst>
              <a:gd name="adj" fmla="val 2581"/>
            </a:avLst>
          </a:prstGeom>
          <a:solidFill>
            <a:srgbClr val="1A2038"/>
          </a:solidFill>
          <a:ln w="15240">
            <a:solidFill>
              <a:srgbClr val="9B87F5"/>
            </a:solidFill>
            <a:prstDash val="solid"/>
          </a:ln>
        </p:spPr>
      </p:sp>
      <p:sp>
        <p:nvSpPr>
          <p:cNvPr id="8" name="s13-stat-1">
            <a:extLst>
              <a:ext uri="{FF2B5EF4-FFF2-40B4-BE49-F238E27FC236}">
                <a16:creationId xmlns:a16="http://schemas.microsoft.com/office/drawing/2014/main" id="{4EC17C0A-09B5-447D-A94B-05D4F2008C17}"/>
              </a:ext>
            </a:extLst>
          </p:cNvPr>
          <p:cNvSpPr>
            <a:spLocks noGrp="1"/>
          </p:cNvSpPr>
          <p:nvPr/>
        </p:nvSpPr>
        <p:spPr>
          <a:xfrm>
            <a:off x="4619625" y="2857500"/>
            <a:ext cx="2952750" cy="1000125"/>
          </a:xfrm>
          <a:prstGeom prst="rect">
            <a:avLst/>
          </a:prstGeom>
          <a:solidFill>
            <a:srgbClr val="000000">
              <a:alpha val="0"/>
            </a:srgbClr>
          </a:solidFill>
          <a:ln w="0">
            <a:solidFill>
              <a:srgbClr val="000000">
                <a:alpha val="0"/>
              </a:srgbClr>
            </a:solidFill>
            <a:prstDash val="solid"/>
          </a:ln>
        </p:spPr>
        <p:txBody>
          <a:bodyPr lIns="0" tIns="0" rIns="0" bIns="0" anchor="b"/>
          <a:lstStyle/>
          <a:p>
            <a:pPr algn="l">
              <a:buNone/>
              <a:defRPr sz="4050" b="1">
                <a:solidFill>
                  <a:srgbClr val="111111"/>
                </a:solidFill>
                <a:latin typeface="Arial"/>
                <a:ea typeface="Arial"/>
                <a:cs typeface="Arial"/>
              </a:defRPr>
            </a:pPr>
            <a:r>
              <a:rPr sz="4050" b="1">
                <a:solidFill>
                  <a:srgbClr val="9B87F5"/>
                </a:solidFill>
                <a:latin typeface="Arial"/>
                <a:ea typeface="Arial"/>
                <a:cs typeface="Arial"/>
              </a:rPr>
              <a:t>↑</a:t>
            </a:r>
          </a:p>
        </p:txBody>
      </p:sp>
      <p:sp>
        <p:nvSpPr>
          <p:cNvPr id="9" name="s13-label-1">
            <a:extLst>
              <a:ext uri="{FF2B5EF4-FFF2-40B4-BE49-F238E27FC236}">
                <a16:creationId xmlns:a16="http://schemas.microsoft.com/office/drawing/2014/main" id="{5D357B75-FB53-4BDD-AAC0-C91C84591B38}"/>
              </a:ext>
            </a:extLst>
          </p:cNvPr>
          <p:cNvSpPr>
            <a:spLocks noGrp="1"/>
          </p:cNvSpPr>
          <p:nvPr/>
        </p:nvSpPr>
        <p:spPr>
          <a:xfrm>
            <a:off x="4619625" y="4095750"/>
            <a:ext cx="295275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accuracy trend</a:t>
            </a:r>
          </a:p>
          <a:p>
            <a:pPr algn="l">
              <a:buNone/>
              <a:defRPr sz="1650" b="0">
                <a:solidFill>
                  <a:srgbClr val="5F6368"/>
                </a:solidFill>
                <a:latin typeface="Arial"/>
                <a:ea typeface="Arial"/>
                <a:cs typeface="Arial"/>
              </a:defRPr>
            </a:pPr>
            <a:r>
              <a:rPr sz="1575" b="0">
                <a:solidFill>
                  <a:srgbClr val="D6E0ED"/>
                </a:solidFill>
                <a:latin typeface="Arial"/>
                <a:ea typeface="Arial"/>
                <a:cs typeface="Arial"/>
              </a:rPr>
              <a:t>across tested depths</a:t>
            </a:r>
          </a:p>
        </p:txBody>
      </p:sp>
      <p:sp>
        <p:nvSpPr>
          <p:cNvPr id="10" name="s13-panel-2">
            <a:extLst>
              <a:ext uri="{FF2B5EF4-FFF2-40B4-BE49-F238E27FC236}">
                <a16:creationId xmlns:a16="http://schemas.microsoft.com/office/drawing/2014/main" id="{2B950B39-68D2-4B2E-A627-E9EEA28396D0}"/>
              </a:ext>
            </a:extLst>
          </p:cNvPr>
          <p:cNvSpPr>
            <a:spLocks noGrp="1"/>
          </p:cNvSpPr>
          <p:nvPr/>
        </p:nvSpPr>
        <p:spPr>
          <a:xfrm>
            <a:off x="8229600" y="2333625"/>
            <a:ext cx="3571875" cy="2952750"/>
          </a:xfrm>
          <a:prstGeom prst="roundRect">
            <a:avLst>
              <a:gd name="adj" fmla="val 2581"/>
            </a:avLst>
          </a:prstGeom>
          <a:solidFill>
            <a:srgbClr val="102D35"/>
          </a:solidFill>
          <a:ln w="15240">
            <a:solidFill>
              <a:srgbClr val="2DD4BF"/>
            </a:solidFill>
            <a:prstDash val="solid"/>
          </a:ln>
        </p:spPr>
      </p:sp>
      <p:sp>
        <p:nvSpPr>
          <p:cNvPr id="11" name="s13-stat-2">
            <a:extLst>
              <a:ext uri="{FF2B5EF4-FFF2-40B4-BE49-F238E27FC236}">
                <a16:creationId xmlns:a16="http://schemas.microsoft.com/office/drawing/2014/main" id="{56D836C7-A43F-4922-AE8E-09C8744DFD60}"/>
              </a:ext>
            </a:extLst>
          </p:cNvPr>
          <p:cNvSpPr>
            <a:spLocks noGrp="1"/>
          </p:cNvSpPr>
          <p:nvPr/>
        </p:nvSpPr>
        <p:spPr>
          <a:xfrm>
            <a:off x="8534400" y="2857500"/>
            <a:ext cx="2952750" cy="1000125"/>
          </a:xfrm>
          <a:prstGeom prst="rect">
            <a:avLst/>
          </a:prstGeom>
          <a:solidFill>
            <a:srgbClr val="000000">
              <a:alpha val="0"/>
            </a:srgbClr>
          </a:solidFill>
          <a:ln w="0">
            <a:solidFill>
              <a:srgbClr val="000000">
                <a:alpha val="0"/>
              </a:srgbClr>
            </a:solidFill>
            <a:prstDash val="solid"/>
          </a:ln>
        </p:spPr>
        <p:txBody>
          <a:bodyPr lIns="0" tIns="0" rIns="0" bIns="0" anchor="b"/>
          <a:lstStyle/>
          <a:p>
            <a:pPr algn="l">
              <a:buNone/>
              <a:defRPr sz="3300" b="1">
                <a:solidFill>
                  <a:srgbClr val="111111"/>
                </a:solidFill>
                <a:latin typeface="Arial"/>
                <a:ea typeface="Arial"/>
                <a:cs typeface="Arial"/>
              </a:defRPr>
            </a:pPr>
            <a:r>
              <a:rPr sz="3300" b="1">
                <a:solidFill>
                  <a:srgbClr val="2DD4BF"/>
                </a:solidFill>
                <a:latin typeface="Arial"/>
                <a:ea typeface="Arial"/>
                <a:cs typeface="Arial"/>
              </a:rPr>
              <a:t>stable</a:t>
            </a:r>
          </a:p>
        </p:txBody>
      </p:sp>
      <p:sp>
        <p:nvSpPr>
          <p:cNvPr id="12" name="s13-label-2">
            <a:extLst>
              <a:ext uri="{FF2B5EF4-FFF2-40B4-BE49-F238E27FC236}">
                <a16:creationId xmlns:a16="http://schemas.microsoft.com/office/drawing/2014/main" id="{3EEEF9A1-BB02-4C08-8A91-D701CF058647}"/>
              </a:ext>
            </a:extLst>
          </p:cNvPr>
          <p:cNvSpPr>
            <a:spLocks noGrp="1"/>
          </p:cNvSpPr>
          <p:nvPr/>
        </p:nvSpPr>
        <p:spPr>
          <a:xfrm>
            <a:off x="8534400" y="4095750"/>
            <a:ext cx="295275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near-flat geometric</a:t>
            </a:r>
          </a:p>
          <a:p>
            <a:pPr algn="l">
              <a:buNone/>
              <a:defRPr sz="1650" b="0">
                <a:solidFill>
                  <a:srgbClr val="5F6368"/>
                </a:solidFill>
                <a:latin typeface="Arial"/>
                <a:ea typeface="Arial"/>
                <a:cs typeface="Arial"/>
              </a:defRPr>
            </a:pPr>
            <a:r>
              <a:rPr sz="1575" b="0">
                <a:solidFill>
                  <a:srgbClr val="D6E0ED"/>
                </a:solidFill>
                <a:latin typeface="Arial"/>
                <a:ea typeface="Arial"/>
                <a:cs typeface="Arial"/>
              </a:rPr>
              <a:t>collapse slopes</a:t>
            </a:r>
          </a:p>
        </p:txBody>
      </p:sp>
      <p:sp>
        <p:nvSpPr>
          <p:cNvPr id="13" name="s13-takeaway">
            <a:extLst>
              <a:ext uri="{FF2B5EF4-FFF2-40B4-BE49-F238E27FC236}">
                <a16:creationId xmlns:a16="http://schemas.microsoft.com/office/drawing/2014/main" id="{45E08F06-6378-4710-B27F-A93F4CAEB47C}"/>
              </a:ext>
            </a:extLst>
          </p:cNvPr>
          <p:cNvSpPr>
            <a:spLocks noGrp="1"/>
          </p:cNvSpPr>
          <p:nvPr/>
        </p:nvSpPr>
        <p:spPr>
          <a:xfrm>
            <a:off x="1428750" y="5619750"/>
            <a:ext cx="93345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575" b="1">
                <a:solidFill>
                  <a:srgbClr val="111111"/>
                </a:solidFill>
                <a:latin typeface="Arial"/>
                <a:ea typeface="Arial"/>
                <a:cs typeface="Arial"/>
              </a:defRPr>
            </a:pPr>
            <a:r>
              <a:rPr sz="1500" b="1">
                <a:solidFill>
                  <a:srgbClr val="F8FAFC"/>
                </a:solidFill>
                <a:latin typeface="Arial"/>
                <a:ea typeface="Arial"/>
                <a:cs typeface="Arial"/>
              </a:rPr>
              <a:t>The evidence is consistent with information-preserving paths as a prerequisite for effective depth; it does not establish a unique causal mechanism.</a:t>
            </a:r>
          </a:p>
        </p:txBody>
      </p:sp>
      <p:sp>
        <p:nvSpPr>
          <p:cNvPr id="14" name="footer-rule-13">
            <a:extLst>
              <a:ext uri="{FF2B5EF4-FFF2-40B4-BE49-F238E27FC236}">
                <a16:creationId xmlns:a16="http://schemas.microsoft.com/office/drawing/2014/main" id="{2995131D-C3D6-48CA-89F7-11C552B1F279}"/>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5" name="footer-label-13">
            <a:extLst>
              <a:ext uri="{FF2B5EF4-FFF2-40B4-BE49-F238E27FC236}">
                <a16:creationId xmlns:a16="http://schemas.microsoft.com/office/drawing/2014/main" id="{A5F2E626-FBAB-4137-AF75-24884458551E}"/>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dirty="0">
                <a:solidFill>
                  <a:srgbClr val="94A3B8"/>
                </a:solidFill>
                <a:latin typeface="Arial"/>
                <a:ea typeface="Arial"/>
                <a:cs typeface="Arial"/>
              </a:rPr>
              <a:t>CSE 705 · CORA GNN STUDY</a:t>
            </a:r>
          </a:p>
        </p:txBody>
      </p:sp>
      <p:sp>
        <p:nvSpPr>
          <p:cNvPr id="16" name="footer-page-13">
            <a:extLst>
              <a:ext uri="{FF2B5EF4-FFF2-40B4-BE49-F238E27FC236}">
                <a16:creationId xmlns:a16="http://schemas.microsoft.com/office/drawing/2014/main" id="{5EDBCD97-A147-423F-AFB9-2C172840D37A}"/>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9B87F5"/>
                </a:solidFill>
                <a:latin typeface="Arial"/>
                <a:ea typeface="Arial"/>
                <a:cs typeface="Arial"/>
              </a:rPr>
              <a:t>17</a:t>
            </a:r>
          </a:p>
        </p:txBody>
      </p:sp>
    </p:spTree>
    <p:extLst>
      <p:ext uri="{BB962C8B-B14F-4D97-AF65-F5344CB8AC3E}">
        <p14:creationId xmlns:p14="http://schemas.microsoft.com/office/powerpoint/2010/main" val="1056603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7" name="s14-kicker">
            <a:extLst>
              <a:ext uri="{FF2B5EF4-FFF2-40B4-BE49-F238E27FC236}">
                <a16:creationId xmlns:a16="http://schemas.microsoft.com/office/drawing/2014/main" id="{DCF86C38-C0B0-4F61-93D2-F18902134E57}"/>
              </a:ext>
            </a:extLst>
          </p:cNvPr>
          <p:cNvSpPr>
            <a:spLocks noGrp="1"/>
          </p:cNvSpPr>
          <p:nvPr/>
        </p:nvSpPr>
        <p:spPr>
          <a:xfrm>
            <a:off x="571500" y="495300"/>
            <a:ext cx="4762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1">
                <a:solidFill>
                  <a:srgbClr val="3D8DFF"/>
                </a:solidFill>
                <a:latin typeface="Arial"/>
                <a:ea typeface="Arial"/>
                <a:cs typeface="Arial"/>
              </a:defRPr>
            </a:pPr>
            <a:r>
              <a:rPr sz="1500" b="1">
                <a:solidFill>
                  <a:srgbClr val="38BDF8"/>
                </a:solidFill>
                <a:latin typeface="Arial"/>
                <a:ea typeface="Arial"/>
                <a:cs typeface="Arial"/>
              </a:rPr>
              <a:t>CONCLUSIONS · SCOPE · NEXT STEPS</a:t>
            </a:r>
          </a:p>
        </p:txBody>
      </p:sp>
      <p:sp>
        <p:nvSpPr>
          <p:cNvPr id="2" name="s14-title">
            <a:extLst>
              <a:ext uri="{FF2B5EF4-FFF2-40B4-BE49-F238E27FC236}">
                <a16:creationId xmlns:a16="http://schemas.microsoft.com/office/drawing/2014/main" id="{6A5C60FD-2217-49DB-8661-0136ABA202CD}"/>
              </a:ext>
            </a:extLst>
          </p:cNvPr>
          <p:cNvSpPr>
            <a:spLocks noGrp="1"/>
          </p:cNvSpPr>
          <p:nvPr/>
        </p:nvSpPr>
        <p:spPr>
          <a:xfrm>
            <a:off x="571500" y="1352550"/>
            <a:ext cx="10001250" cy="2095500"/>
          </a:xfrm>
          <a:prstGeom prst="rect">
            <a:avLst/>
          </a:prstGeom>
          <a:solidFill>
            <a:srgbClr val="000000">
              <a:alpha val="0"/>
            </a:srgbClr>
          </a:solidFill>
          <a:ln w="0">
            <a:solidFill>
              <a:srgbClr val="000000">
                <a:alpha val="0"/>
              </a:srgbClr>
            </a:solidFill>
            <a:prstDash val="solid"/>
          </a:ln>
        </p:spPr>
        <p:txBody>
          <a:bodyPr lIns="0" tIns="0" rIns="0" bIns="0" anchor="b"/>
          <a:lstStyle/>
          <a:p>
            <a:pPr algn="l">
              <a:buNone/>
              <a:defRPr sz="4950" b="1">
                <a:solidFill>
                  <a:srgbClr val="111111"/>
                </a:solidFill>
                <a:latin typeface="Arial"/>
                <a:ea typeface="Arial"/>
                <a:cs typeface="Arial"/>
              </a:defRPr>
            </a:pPr>
            <a:r>
              <a:rPr sz="4950" b="1">
                <a:solidFill>
                  <a:srgbClr val="F8FAFC"/>
                </a:solidFill>
                <a:latin typeface="Arial"/>
                <a:ea typeface="Arial"/>
                <a:cs typeface="Arial"/>
              </a:rPr>
              <a:t>Conclusions and</a:t>
            </a:r>
          </a:p>
          <a:p>
            <a:pPr algn="l">
              <a:buNone/>
              <a:defRPr sz="4950" b="1">
                <a:solidFill>
                  <a:srgbClr val="111111"/>
                </a:solidFill>
                <a:latin typeface="Arial"/>
                <a:ea typeface="Arial"/>
                <a:cs typeface="Arial"/>
              </a:defRPr>
            </a:pPr>
            <a:r>
              <a:rPr sz="4950" b="1">
                <a:solidFill>
                  <a:srgbClr val="F8FAFC"/>
                </a:solidFill>
                <a:latin typeface="Arial"/>
                <a:ea typeface="Arial"/>
                <a:cs typeface="Arial"/>
              </a:rPr>
              <a:t>research implications</a:t>
            </a:r>
          </a:p>
        </p:txBody>
      </p:sp>
      <p:sp>
        <p:nvSpPr>
          <p:cNvPr id="3" name="s14-accent">
            <a:extLst>
              <a:ext uri="{FF2B5EF4-FFF2-40B4-BE49-F238E27FC236}">
                <a16:creationId xmlns:a16="http://schemas.microsoft.com/office/drawing/2014/main" id="{AB5845AE-0718-4CE8-934B-D8B2CB13BEE8}"/>
              </a:ext>
            </a:extLst>
          </p:cNvPr>
          <p:cNvSpPr>
            <a:spLocks noGrp="1"/>
          </p:cNvSpPr>
          <p:nvPr/>
        </p:nvSpPr>
        <p:spPr>
          <a:xfrm>
            <a:off x="571500" y="3781425"/>
            <a:ext cx="2571750" cy="66675"/>
          </a:xfrm>
          <a:prstGeom prst="rect">
            <a:avLst/>
          </a:prstGeom>
          <a:solidFill>
            <a:srgbClr val="9B87F5"/>
          </a:solidFill>
          <a:ln w="0">
            <a:solidFill>
              <a:srgbClr val="000000">
                <a:alpha val="0"/>
              </a:srgbClr>
            </a:solidFill>
            <a:prstDash val="solid"/>
          </a:ln>
        </p:spPr>
      </p:sp>
      <p:sp>
        <p:nvSpPr>
          <p:cNvPr id="4" name="s14-points">
            <a:extLst>
              <a:ext uri="{FF2B5EF4-FFF2-40B4-BE49-F238E27FC236}">
                <a16:creationId xmlns:a16="http://schemas.microsoft.com/office/drawing/2014/main" id="{22CD0230-9BF2-41BB-997A-1B94C54DCCA6}"/>
              </a:ext>
            </a:extLst>
          </p:cNvPr>
          <p:cNvSpPr>
            <a:spLocks noGrp="1"/>
          </p:cNvSpPr>
          <p:nvPr/>
        </p:nvSpPr>
        <p:spPr>
          <a:xfrm>
            <a:off x="571500" y="4229100"/>
            <a:ext cx="7334250" cy="1428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5F6368"/>
                </a:solidFill>
                <a:latin typeface="Arial"/>
                <a:ea typeface="Arial"/>
                <a:cs typeface="Arial"/>
              </a:defRPr>
            </a:pPr>
            <a:r>
              <a:rPr sz="1650" b="0">
                <a:solidFill>
                  <a:srgbClr val="D6E0ED"/>
                </a:solidFill>
                <a:latin typeface="Arial"/>
                <a:ea typeface="Arial"/>
                <a:cs typeface="Arial"/>
              </a:rPr>
              <a:t>01  Depth failure is architecture-specific: two architectures never train, one trains and collapses.</a:t>
            </a:r>
          </a:p>
          <a:p>
            <a:pPr algn="l">
              <a:buNone/>
              <a:defRPr sz="1725" b="0">
                <a:solidFill>
                  <a:srgbClr val="5F6368"/>
                </a:solidFill>
                <a:latin typeface="Arial"/>
                <a:ea typeface="Arial"/>
                <a:cs typeface="Arial"/>
              </a:defRPr>
            </a:pPr>
            <a:r>
              <a:rPr sz="1650" b="0">
                <a:solidFill>
                  <a:srgbClr val="D6E0ED"/>
                </a:solidFill>
                <a:latin typeface="Arial"/>
                <a:ea typeface="Arial"/>
                <a:cs typeface="Arial"/>
              </a:rPr>
              <a:t>02  Accuracy and representation geometry must be read together, and before training as well as after.</a:t>
            </a:r>
          </a:p>
          <a:p>
            <a:pPr algn="l">
              <a:buNone/>
              <a:defRPr sz="1725" b="0">
                <a:solidFill>
                  <a:srgbClr val="5F6368"/>
                </a:solidFill>
                <a:latin typeface="Arial"/>
                <a:ea typeface="Arial"/>
                <a:cs typeface="Arial"/>
              </a:defRPr>
            </a:pPr>
            <a:r>
              <a:rPr sz="1650" b="0">
                <a:solidFill>
                  <a:srgbClr val="D6E0ED"/>
                </a:solidFill>
                <a:latin typeface="Arial"/>
                <a:ea typeface="Arial"/>
                <a:cs typeface="Arial"/>
              </a:rPr>
              <a:t>03  The effective mitigation is architecture-dependent; evidence is limited to Cora, one split, ten seeds.</a:t>
            </a:r>
          </a:p>
        </p:txBody>
      </p:sp>
      <p:sp>
        <p:nvSpPr>
          <p:cNvPr id="5" name="s14-question">
            <a:extLst>
              <a:ext uri="{FF2B5EF4-FFF2-40B4-BE49-F238E27FC236}">
                <a16:creationId xmlns:a16="http://schemas.microsoft.com/office/drawing/2014/main" id="{F942F8F4-12BC-4921-90B9-A384AE3651CC}"/>
              </a:ext>
            </a:extLst>
          </p:cNvPr>
          <p:cNvSpPr>
            <a:spLocks noGrp="1"/>
          </p:cNvSpPr>
          <p:nvPr/>
        </p:nvSpPr>
        <p:spPr>
          <a:xfrm>
            <a:off x="6667500" y="4514850"/>
            <a:ext cx="4857750" cy="10477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1800" b="1">
                <a:solidFill>
                  <a:srgbClr val="3D8DFF"/>
                </a:solidFill>
                <a:latin typeface="Arial"/>
                <a:ea typeface="Arial"/>
                <a:cs typeface="Arial"/>
              </a:defRPr>
            </a:pPr>
            <a:r>
              <a:rPr sz="1500" b="1" dirty="0">
                <a:solidFill>
                  <a:srgbClr val="38BDF8"/>
                </a:solidFill>
                <a:latin typeface="Arial"/>
                <a:ea typeface="Arial"/>
                <a:cs typeface="Arial"/>
              </a:rPr>
              <a:t>.</a:t>
            </a:r>
          </a:p>
        </p:txBody>
      </p:sp>
      <p:sp>
        <p:nvSpPr>
          <p:cNvPr id="6" name="s14-footer">
            <a:extLst>
              <a:ext uri="{FF2B5EF4-FFF2-40B4-BE49-F238E27FC236}">
                <a16:creationId xmlns:a16="http://schemas.microsoft.com/office/drawing/2014/main" id="{11081BA7-E54E-47CD-BBEF-B1FA9E8519AE}"/>
              </a:ext>
            </a:extLst>
          </p:cNvPr>
          <p:cNvSpPr>
            <a:spLocks noGrp="1"/>
          </p:cNvSpPr>
          <p:nvPr/>
        </p:nvSpPr>
        <p:spPr>
          <a:xfrm>
            <a:off x="390525" y="6048375"/>
            <a:ext cx="2381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425" b="0">
                <a:solidFill>
                  <a:srgbClr val="5F6368"/>
                </a:solidFill>
                <a:latin typeface="Arial"/>
                <a:ea typeface="Arial"/>
                <a:cs typeface="Arial"/>
              </a:defRPr>
            </a:pPr>
            <a:endParaRPr sz="1350" b="0" dirty="0">
              <a:solidFill>
                <a:srgbClr val="94A3B8"/>
              </a:solidFill>
              <a:latin typeface="Arial"/>
              <a:ea typeface="Arial"/>
              <a:cs typeface="Arial"/>
            </a:endParaRPr>
          </a:p>
        </p:txBody>
      </p:sp>
    </p:spTree>
    <p:extLst>
      <p:ext uri="{BB962C8B-B14F-4D97-AF65-F5344CB8AC3E}">
        <p14:creationId xmlns:p14="http://schemas.microsoft.com/office/powerpoint/2010/main" val="1048695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7" name="title-10">
            <a:extLst>
              <a:ext uri="{FF2B5EF4-FFF2-40B4-BE49-F238E27FC236}">
                <a16:creationId xmlns:a16="http://schemas.microsoft.com/office/drawing/2014/main" id="{CA72F320-1163-4A71-AE3E-37C3C92C4679}"/>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700" b="1">
                <a:solidFill>
                  <a:srgbClr val="F8FAFC"/>
                </a:solidFill>
                <a:latin typeface="Arial"/>
                <a:ea typeface="Arial"/>
                <a:cs typeface="Arial"/>
              </a:rPr>
              <a:t>The attribution problem — accuracy cannot name the mechanism</a:t>
            </a:r>
          </a:p>
        </p:txBody>
      </p:sp>
      <p:sp>
        <p:nvSpPr>
          <p:cNvPr id="2" name="accent-10">
            <a:extLst>
              <a:ext uri="{FF2B5EF4-FFF2-40B4-BE49-F238E27FC236}">
                <a16:creationId xmlns:a16="http://schemas.microsoft.com/office/drawing/2014/main" id="{07A6986B-591F-4B88-930E-1B5671F0990C}"/>
              </a:ext>
            </a:extLst>
          </p:cNvPr>
          <p:cNvSpPr>
            <a:spLocks noGrp="1"/>
          </p:cNvSpPr>
          <p:nvPr/>
        </p:nvSpPr>
        <p:spPr>
          <a:xfrm>
            <a:off x="476250" y="1057275"/>
            <a:ext cx="1200150" cy="47625"/>
          </a:xfrm>
          <a:prstGeom prst="rect">
            <a:avLst/>
          </a:prstGeom>
          <a:solidFill>
            <a:srgbClr val="38BDF8"/>
          </a:solidFill>
          <a:ln w="0">
            <a:solidFill>
              <a:srgbClr val="000000">
                <a:alpha val="0"/>
              </a:srgbClr>
            </a:solidFill>
            <a:prstDash val="solid"/>
          </a:ln>
        </p:spPr>
      </p:sp>
      <p:sp>
        <p:nvSpPr>
          <p:cNvPr id="5" name="sA-panel-0">
            <a:extLst>
              <a:ext uri="{FF2B5EF4-FFF2-40B4-BE49-F238E27FC236}">
                <a16:creationId xmlns:a16="http://schemas.microsoft.com/office/drawing/2014/main" id="{B9C10A0C-829F-43A0-B886-9F8F9C46A351}"/>
              </a:ext>
            </a:extLst>
          </p:cNvPr>
          <p:cNvSpPr>
            <a:spLocks noGrp="1"/>
          </p:cNvSpPr>
          <p:nvPr/>
        </p:nvSpPr>
        <p:spPr>
          <a:xfrm>
            <a:off x="393192" y="1219200"/>
            <a:ext cx="11411712" cy="1381125"/>
          </a:xfrm>
          <a:prstGeom prst="roundRect">
            <a:avLst>
              <a:gd name="adj" fmla="val 5517"/>
            </a:avLst>
          </a:prstGeom>
          <a:solidFill>
            <a:srgbClr val="13243B"/>
          </a:solidFill>
          <a:ln w="11906">
            <a:solidFill>
              <a:srgbClr val="38BDF8"/>
            </a:solidFill>
            <a:prstDash val="solid"/>
          </a:ln>
        </p:spPr>
      </p:sp>
      <p:sp>
        <p:nvSpPr>
          <p:cNvPr id="6" name="sA-title-0">
            <a:extLst>
              <a:ext uri="{FF2B5EF4-FFF2-40B4-BE49-F238E27FC236}">
                <a16:creationId xmlns:a16="http://schemas.microsoft.com/office/drawing/2014/main" id="{4FD1ED87-AECB-45EE-AE2E-DE02D51C42FC}"/>
              </a:ext>
            </a:extLst>
          </p:cNvPr>
          <p:cNvSpPr>
            <a:spLocks noGrp="1"/>
          </p:cNvSpPr>
          <p:nvPr/>
        </p:nvSpPr>
        <p:spPr>
          <a:xfrm>
            <a:off x="685800" y="1428750"/>
            <a:ext cx="10853928"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3D8DFF"/>
                </a:solidFill>
                <a:latin typeface="Arial"/>
                <a:ea typeface="Arial"/>
                <a:cs typeface="Arial"/>
              </a:defRPr>
            </a:pPr>
            <a:r>
              <a:rPr sz="1575" b="1">
                <a:solidFill>
                  <a:srgbClr val="38BDF8"/>
                </a:solidFill>
                <a:latin typeface="Arial"/>
                <a:ea typeface="Arial"/>
                <a:cs typeface="Arial"/>
              </a:rPr>
              <a:t>Never trained</a:t>
            </a:r>
          </a:p>
        </p:txBody>
      </p:sp>
      <p:sp>
        <p:nvSpPr>
          <p:cNvPr id="7" name="sA-body-0">
            <a:extLst>
              <a:ext uri="{FF2B5EF4-FFF2-40B4-BE49-F238E27FC236}">
                <a16:creationId xmlns:a16="http://schemas.microsoft.com/office/drawing/2014/main" id="{38EC7D32-C87E-49D9-8438-6505469C8BB8}"/>
              </a:ext>
            </a:extLst>
          </p:cNvPr>
          <p:cNvSpPr>
            <a:spLocks noGrp="1"/>
          </p:cNvSpPr>
          <p:nvPr/>
        </p:nvSpPr>
        <p:spPr>
          <a:xfrm>
            <a:off x="685800" y="1847850"/>
            <a:ext cx="10853928" cy="609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0">
                <a:solidFill>
                  <a:srgbClr val="5F6368"/>
                </a:solidFill>
                <a:latin typeface="Arial"/>
                <a:ea typeface="Arial"/>
                <a:cs typeface="Arial"/>
              </a:defRPr>
            </a:pPr>
            <a:r>
              <a:rPr sz="1275" b="0">
                <a:solidFill>
                  <a:srgbClr val="D6E0ED"/>
                </a:solidFill>
                <a:latin typeface="Arial"/>
                <a:ea typeface="Arial"/>
                <a:cs typeface="Arial"/>
              </a:rPr>
              <a:t>Optimization never moves the weights. The representation is whatever untrained propagation produced.</a:t>
            </a:r>
          </a:p>
        </p:txBody>
      </p:sp>
      <p:sp>
        <p:nvSpPr>
          <p:cNvPr id="8" name="sA-panel-1">
            <a:extLst>
              <a:ext uri="{FF2B5EF4-FFF2-40B4-BE49-F238E27FC236}">
                <a16:creationId xmlns:a16="http://schemas.microsoft.com/office/drawing/2014/main" id="{94FE0AEF-B78F-44B4-A9C1-96DB9EE6DD08}"/>
              </a:ext>
            </a:extLst>
          </p:cNvPr>
          <p:cNvSpPr>
            <a:spLocks noGrp="1"/>
          </p:cNvSpPr>
          <p:nvPr/>
        </p:nvSpPr>
        <p:spPr>
          <a:xfrm>
            <a:off x="393192" y="2895600"/>
            <a:ext cx="11411712" cy="1381125"/>
          </a:xfrm>
          <a:prstGeom prst="roundRect">
            <a:avLst>
              <a:gd name="adj" fmla="val 5517"/>
            </a:avLst>
          </a:prstGeom>
          <a:solidFill>
            <a:srgbClr val="1A2038"/>
          </a:solidFill>
          <a:ln w="11906">
            <a:solidFill>
              <a:srgbClr val="9B87F5"/>
            </a:solidFill>
            <a:prstDash val="solid"/>
          </a:ln>
        </p:spPr>
      </p:sp>
      <p:sp>
        <p:nvSpPr>
          <p:cNvPr id="9" name="sA-title-1">
            <a:extLst>
              <a:ext uri="{FF2B5EF4-FFF2-40B4-BE49-F238E27FC236}">
                <a16:creationId xmlns:a16="http://schemas.microsoft.com/office/drawing/2014/main" id="{9A8ECAB0-7886-4C00-972E-37C54BF3087D}"/>
              </a:ext>
            </a:extLst>
          </p:cNvPr>
          <p:cNvSpPr>
            <a:spLocks noGrp="1"/>
          </p:cNvSpPr>
          <p:nvPr/>
        </p:nvSpPr>
        <p:spPr>
          <a:xfrm>
            <a:off x="685800" y="3105150"/>
            <a:ext cx="10853928"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111111"/>
                </a:solidFill>
                <a:latin typeface="Arial"/>
                <a:ea typeface="Arial"/>
                <a:cs typeface="Arial"/>
              </a:defRPr>
            </a:pPr>
            <a:r>
              <a:rPr sz="1575" b="1">
                <a:solidFill>
                  <a:srgbClr val="9B87F5"/>
                </a:solidFill>
                <a:latin typeface="Arial"/>
                <a:ea typeface="Arial"/>
                <a:cs typeface="Arial"/>
              </a:rPr>
              <a:t>Trained, then collapsed</a:t>
            </a:r>
          </a:p>
        </p:txBody>
      </p:sp>
      <p:sp>
        <p:nvSpPr>
          <p:cNvPr id="10" name="sA-body-1">
            <a:extLst>
              <a:ext uri="{FF2B5EF4-FFF2-40B4-BE49-F238E27FC236}">
                <a16:creationId xmlns:a16="http://schemas.microsoft.com/office/drawing/2014/main" id="{DC9A1495-6FEF-44A1-94AD-D4E119F2C5D6}"/>
              </a:ext>
            </a:extLst>
          </p:cNvPr>
          <p:cNvSpPr>
            <a:spLocks noGrp="1"/>
          </p:cNvSpPr>
          <p:nvPr/>
        </p:nvSpPr>
        <p:spPr>
          <a:xfrm>
            <a:off x="685800" y="3524250"/>
            <a:ext cx="10853928" cy="609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0">
                <a:solidFill>
                  <a:srgbClr val="5F6368"/>
                </a:solidFill>
                <a:latin typeface="Arial"/>
                <a:ea typeface="Arial"/>
                <a:cs typeface="Arial"/>
              </a:defRPr>
            </a:pPr>
            <a:r>
              <a:rPr sz="1275" b="0">
                <a:solidFill>
                  <a:srgbClr val="D6E0ED"/>
                </a:solidFill>
                <a:latin typeface="Arial"/>
                <a:ea typeface="Arial"/>
                <a:cs typeface="Arial"/>
              </a:rPr>
              <a:t>Optimization does move the weights, and repeated propagation contracts the learned representation.</a:t>
            </a:r>
          </a:p>
        </p:txBody>
      </p:sp>
      <p:sp>
        <p:nvSpPr>
          <p:cNvPr id="11" name="sA-panel-2">
            <a:extLst>
              <a:ext uri="{FF2B5EF4-FFF2-40B4-BE49-F238E27FC236}">
                <a16:creationId xmlns:a16="http://schemas.microsoft.com/office/drawing/2014/main" id="{2CA6593A-BAE6-4C2D-B5E1-E469660EC06C}"/>
              </a:ext>
            </a:extLst>
          </p:cNvPr>
          <p:cNvSpPr>
            <a:spLocks noGrp="1"/>
          </p:cNvSpPr>
          <p:nvPr/>
        </p:nvSpPr>
        <p:spPr>
          <a:xfrm>
            <a:off x="393192" y="4572000"/>
            <a:ext cx="11411712" cy="1381125"/>
          </a:xfrm>
          <a:prstGeom prst="roundRect">
            <a:avLst>
              <a:gd name="adj" fmla="val 5517"/>
            </a:avLst>
          </a:prstGeom>
          <a:solidFill>
            <a:srgbClr val="13243B"/>
          </a:solidFill>
          <a:ln w="11906">
            <a:solidFill>
              <a:srgbClr val="F4C15D"/>
            </a:solidFill>
            <a:prstDash val="solid"/>
          </a:ln>
        </p:spPr>
      </p:sp>
      <p:sp>
        <p:nvSpPr>
          <p:cNvPr id="12" name="sA-title-2">
            <a:extLst>
              <a:ext uri="{FF2B5EF4-FFF2-40B4-BE49-F238E27FC236}">
                <a16:creationId xmlns:a16="http://schemas.microsoft.com/office/drawing/2014/main" id="{CFA278D9-61D0-4ABD-B7A6-34B444160FB5}"/>
              </a:ext>
            </a:extLst>
          </p:cNvPr>
          <p:cNvSpPr>
            <a:spLocks noGrp="1"/>
          </p:cNvSpPr>
          <p:nvPr/>
        </p:nvSpPr>
        <p:spPr>
          <a:xfrm>
            <a:off x="685800" y="4781550"/>
            <a:ext cx="10853928"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111111"/>
                </a:solidFill>
                <a:latin typeface="Arial"/>
                <a:ea typeface="Arial"/>
                <a:cs typeface="Arial"/>
              </a:defRPr>
            </a:pPr>
            <a:r>
              <a:rPr sz="1575" b="1">
                <a:solidFill>
                  <a:srgbClr val="F4C15D"/>
                </a:solidFill>
                <a:latin typeface="Arial"/>
                <a:ea typeface="Arial"/>
                <a:cs typeface="Arial"/>
              </a:rPr>
              <a:t>Indistinguishable by accuracy</a:t>
            </a:r>
          </a:p>
        </p:txBody>
      </p:sp>
      <p:sp>
        <p:nvSpPr>
          <p:cNvPr id="13" name="sA-body-2">
            <a:extLst>
              <a:ext uri="{FF2B5EF4-FFF2-40B4-BE49-F238E27FC236}">
                <a16:creationId xmlns:a16="http://schemas.microsoft.com/office/drawing/2014/main" id="{07FFF978-59AD-4D5D-A032-EE392081F0E5}"/>
              </a:ext>
            </a:extLst>
          </p:cNvPr>
          <p:cNvSpPr>
            <a:spLocks noGrp="1"/>
          </p:cNvSpPr>
          <p:nvPr/>
        </p:nvSpPr>
        <p:spPr>
          <a:xfrm>
            <a:off x="685800" y="5200650"/>
            <a:ext cx="10853928" cy="609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0">
                <a:solidFill>
                  <a:srgbClr val="5F6368"/>
                </a:solidFill>
                <a:latin typeface="Arial"/>
                <a:ea typeface="Arial"/>
                <a:cs typeface="Arial"/>
              </a:defRPr>
            </a:pPr>
            <a:r>
              <a:rPr sz="1275" b="0">
                <a:solidFill>
                  <a:srgbClr val="D6E0ED"/>
                </a:solidFill>
                <a:latin typeface="Arial"/>
                <a:ea typeface="Arial"/>
                <a:cs typeface="Arial"/>
              </a:rPr>
              <a:t>Both land near the majority-class floor. Only the internal state separates them, which is why every run is measured before and after training.</a:t>
            </a:r>
          </a:p>
        </p:txBody>
      </p:sp>
      <p:sp>
        <p:nvSpPr>
          <p:cNvPr id="14" name="footer-rule-10">
            <a:extLst>
              <a:ext uri="{FF2B5EF4-FFF2-40B4-BE49-F238E27FC236}">
                <a16:creationId xmlns:a16="http://schemas.microsoft.com/office/drawing/2014/main" id="{137813F9-DD4E-4D7E-AD6C-9D58BD25AC2B}"/>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5" name="footer-label-10">
            <a:extLst>
              <a:ext uri="{FF2B5EF4-FFF2-40B4-BE49-F238E27FC236}">
                <a16:creationId xmlns:a16="http://schemas.microsoft.com/office/drawing/2014/main" id="{40EEBB9C-1C93-4198-BD07-A60149EB96DB}"/>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6" name="footer-page-10">
            <a:extLst>
              <a:ext uri="{FF2B5EF4-FFF2-40B4-BE49-F238E27FC236}">
                <a16:creationId xmlns:a16="http://schemas.microsoft.com/office/drawing/2014/main" id="{1B671B89-7411-42E8-8102-21500188E97E}"/>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38BDF8"/>
                </a:solidFill>
                <a:latin typeface="Arial"/>
                <a:ea typeface="Arial"/>
                <a:cs typeface="Arial"/>
              </a:rPr>
              <a:t>03</a:t>
            </a:r>
          </a:p>
        </p:txBody>
      </p:sp>
    </p:spTree>
    <p:extLst>
      <p:ext uri="{BB962C8B-B14F-4D97-AF65-F5344CB8AC3E}">
        <p14:creationId xmlns:p14="http://schemas.microsoft.com/office/powerpoint/2010/main" val="1432514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1" name="title-11">
            <a:extLst>
              <a:ext uri="{FF2B5EF4-FFF2-40B4-BE49-F238E27FC236}">
                <a16:creationId xmlns:a16="http://schemas.microsoft.com/office/drawing/2014/main" id="{B3F3AE30-3EC3-47BE-8774-3C7EFF58A1E7}"/>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850" b="1">
                <a:solidFill>
                  <a:srgbClr val="F8FAFC"/>
                </a:solidFill>
                <a:latin typeface="Arial"/>
                <a:ea typeface="Arial"/>
                <a:cs typeface="Arial"/>
              </a:rPr>
              <a:t>Result III — GraphSAGE and GAT do not train at depth 32</a:t>
            </a:r>
          </a:p>
        </p:txBody>
      </p:sp>
      <p:sp>
        <p:nvSpPr>
          <p:cNvPr id="2" name="accent-11">
            <a:extLst>
              <a:ext uri="{FF2B5EF4-FFF2-40B4-BE49-F238E27FC236}">
                <a16:creationId xmlns:a16="http://schemas.microsoft.com/office/drawing/2014/main" id="{0478468C-5363-4D45-A543-159EF2921ABE}"/>
              </a:ext>
            </a:extLst>
          </p:cNvPr>
          <p:cNvSpPr>
            <a:spLocks noGrp="1"/>
          </p:cNvSpPr>
          <p:nvPr/>
        </p:nvSpPr>
        <p:spPr>
          <a:xfrm>
            <a:off x="476250" y="1057275"/>
            <a:ext cx="1200150" cy="47625"/>
          </a:xfrm>
          <a:prstGeom prst="rect">
            <a:avLst/>
          </a:prstGeom>
          <a:solidFill>
            <a:srgbClr val="9B87F5"/>
          </a:solidFill>
          <a:ln w="0">
            <a:solidFill>
              <a:srgbClr val="000000">
                <a:alpha val="0"/>
              </a:srgbClr>
            </a:solidFill>
            <a:prstDash val="solid"/>
          </a:ln>
        </p:spPr>
      </p:sp>
      <p:sp>
        <p:nvSpPr>
          <p:cNvPr id="3" name="sB-stat">
            <a:extLst>
              <a:ext uri="{FF2B5EF4-FFF2-40B4-BE49-F238E27FC236}">
                <a16:creationId xmlns:a16="http://schemas.microsoft.com/office/drawing/2014/main" id="{5297E5E5-F441-4AE5-90D0-33EE82BF4A24}"/>
              </a:ext>
            </a:extLst>
          </p:cNvPr>
          <p:cNvSpPr>
            <a:spLocks noGrp="1"/>
          </p:cNvSpPr>
          <p:nvPr/>
        </p:nvSpPr>
        <p:spPr>
          <a:xfrm>
            <a:off x="390525" y="1809750"/>
            <a:ext cx="3429000" cy="10001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4350" b="1">
                <a:solidFill>
                  <a:srgbClr val="3D8DFF"/>
                </a:solidFill>
                <a:latin typeface="Arial"/>
                <a:ea typeface="Arial"/>
                <a:cs typeface="Arial"/>
              </a:defRPr>
            </a:pPr>
            <a:r>
              <a:rPr sz="4500" b="1">
                <a:solidFill>
                  <a:srgbClr val="38BDF8"/>
                </a:solidFill>
                <a:latin typeface="Arial"/>
                <a:ea typeface="Arial"/>
                <a:cs typeface="Arial"/>
              </a:rPr>
              <a:t>1.9459</a:t>
            </a:r>
          </a:p>
        </p:txBody>
      </p:sp>
      <p:sp>
        <p:nvSpPr>
          <p:cNvPr id="4" name="sB-label">
            <a:extLst>
              <a:ext uri="{FF2B5EF4-FFF2-40B4-BE49-F238E27FC236}">
                <a16:creationId xmlns:a16="http://schemas.microsoft.com/office/drawing/2014/main" id="{8F26577A-2923-4393-9D6C-3583DDFF3A63}"/>
              </a:ext>
            </a:extLst>
          </p:cNvPr>
          <p:cNvSpPr>
            <a:spLocks noGrp="1"/>
          </p:cNvSpPr>
          <p:nvPr/>
        </p:nvSpPr>
        <p:spPr>
          <a:xfrm>
            <a:off x="390525" y="2933700"/>
            <a:ext cx="4476750" cy="8096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111111"/>
                </a:solidFill>
                <a:latin typeface="Arial"/>
                <a:ea typeface="Arial"/>
                <a:cs typeface="Arial"/>
              </a:defRPr>
            </a:pPr>
            <a:r>
              <a:rPr sz="1725" b="1">
                <a:solidFill>
                  <a:srgbClr val="F8FAFC"/>
                </a:solidFill>
                <a:latin typeface="Arial"/>
                <a:ea typeface="Arial"/>
                <a:cs typeface="Arial"/>
              </a:rPr>
              <a:t>ln 7 — the uninformed loss floor</a:t>
            </a:r>
          </a:p>
          <a:p>
            <a:pPr algn="l">
              <a:buNone/>
              <a:defRPr sz="1800" b="1">
                <a:solidFill>
                  <a:srgbClr val="111111"/>
                </a:solidFill>
                <a:latin typeface="Arial"/>
                <a:ea typeface="Arial"/>
                <a:cs typeface="Arial"/>
              </a:defRPr>
            </a:pPr>
            <a:r>
              <a:rPr sz="1725" b="1">
                <a:solidFill>
                  <a:srgbClr val="F8FAFC"/>
                </a:solidFill>
                <a:latin typeface="Arial"/>
                <a:ea typeface="Arial"/>
                <a:cs typeface="Arial"/>
              </a:rPr>
              <a:t>neither architecture leaves it</a:t>
            </a:r>
          </a:p>
        </p:txBody>
      </p:sp>
      <p:sp>
        <p:nvSpPr>
          <p:cNvPr id="5" name="sB-body">
            <a:extLst>
              <a:ext uri="{FF2B5EF4-FFF2-40B4-BE49-F238E27FC236}">
                <a16:creationId xmlns:a16="http://schemas.microsoft.com/office/drawing/2014/main" id="{2714E20E-9B6E-4B0C-9783-A23F2845B908}"/>
              </a:ext>
            </a:extLst>
          </p:cNvPr>
          <p:cNvSpPr>
            <a:spLocks noGrp="1"/>
          </p:cNvSpPr>
          <p:nvPr/>
        </p:nvSpPr>
        <p:spPr>
          <a:xfrm>
            <a:off x="390525" y="4095750"/>
            <a:ext cx="4762500" cy="1524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00" b="0">
                <a:solidFill>
                  <a:srgbClr val="D6E0ED"/>
                </a:solidFill>
                <a:latin typeface="Arial"/>
                <a:ea typeface="Arial"/>
                <a:cs typeface="Arial"/>
              </a:rPr>
              <a:t>Training loss bottoms out at 1.9343 and 1.9393, a movement of 0.01–0.02 nats, and patience of 100 epochs exhausts after 101–168 epochs against GCN’s 315–883.</a:t>
            </a:r>
          </a:p>
          <a:p>
            <a:endParaRPr sz="1500" b="0">
              <a:solidFill>
                <a:srgbClr val="D6E0ED"/>
              </a:solidFill>
              <a:latin typeface="Arial"/>
              <a:ea typeface="Arial"/>
              <a:cs typeface="Arial"/>
            </a:endParaRPr>
          </a:p>
          <a:p>
            <a:pPr algn="l">
              <a:buNone/>
              <a:defRPr sz="1575" b="0">
                <a:solidFill>
                  <a:srgbClr val="5F6368"/>
                </a:solidFill>
                <a:latin typeface="Arial"/>
                <a:ea typeface="Arial"/>
                <a:cs typeface="Arial"/>
              </a:defRPr>
            </a:pPr>
            <a:r>
              <a:rPr sz="1500" b="0">
                <a:solidFill>
                  <a:srgbClr val="D6E0ED"/>
                </a:solidFill>
                <a:latin typeface="Arial"/>
                <a:ea typeface="Arial"/>
                <a:cs typeface="Arial"/>
              </a:rPr>
              <a:t>Their checkpoint MAD is identical to their epoch-0 MAD. Three independently measured quantities agree: at this depth the weights never move.</a:t>
            </a:r>
          </a:p>
        </p:txBody>
      </p:sp>
      <p:sp>
        <p:nvSpPr>
          <p:cNvPr id="6" name="sB-chart-frame">
            <a:extLst>
              <a:ext uri="{FF2B5EF4-FFF2-40B4-BE49-F238E27FC236}">
                <a16:creationId xmlns:a16="http://schemas.microsoft.com/office/drawing/2014/main" id="{CB731F2F-9FF1-41EE-AC58-543B443E31CB}"/>
              </a:ext>
            </a:extLst>
          </p:cNvPr>
          <p:cNvSpPr>
            <a:spLocks noGrp="1"/>
          </p:cNvSpPr>
          <p:nvPr/>
        </p:nvSpPr>
        <p:spPr>
          <a:xfrm>
            <a:off x="5476875" y="1219200"/>
            <a:ext cx="6324600" cy="4762500"/>
          </a:xfrm>
          <a:prstGeom prst="roundRect">
            <a:avLst>
              <a:gd name="adj" fmla="val 1600"/>
            </a:avLst>
          </a:prstGeom>
          <a:solidFill>
            <a:srgbClr val="FFFFFF"/>
          </a:solidFill>
          <a:ln w="14288">
            <a:solidFill>
              <a:srgbClr val="2B3C59"/>
            </a:solidFill>
            <a:prstDash val="solid"/>
          </a:ln>
        </p:spPr>
      </p:sp>
      <p:pic>
        <p:nvPicPr>
          <p:cNvPr id="19" name="Picture 18"/>
          <p:cNvPicPr>
            <a:picLocks noChangeAspect="1"/>
          </p:cNvPicPr>
          <p:nvPr/>
        </p:nvPicPr>
        <p:blipFill>
          <a:blip r:embed="rId3"/>
          <a:stretch/>
        </p:blipFill>
        <p:spPr>
          <a:xfrm>
            <a:off x="5791017" y="1428750"/>
            <a:ext cx="5705841" cy="4238625"/>
          </a:xfrm>
          <a:prstGeom prst="rect">
            <a:avLst/>
          </a:prstGeom>
        </p:spPr>
      </p:pic>
      <p:sp>
        <p:nvSpPr>
          <p:cNvPr id="8" name="footer-rule-11">
            <a:extLst>
              <a:ext uri="{FF2B5EF4-FFF2-40B4-BE49-F238E27FC236}">
                <a16:creationId xmlns:a16="http://schemas.microsoft.com/office/drawing/2014/main" id="{5F4D2D87-CB84-47FB-90C6-DBC69779CA48}"/>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9" name="footer-label-11">
            <a:extLst>
              <a:ext uri="{FF2B5EF4-FFF2-40B4-BE49-F238E27FC236}">
                <a16:creationId xmlns:a16="http://schemas.microsoft.com/office/drawing/2014/main" id="{E85EC065-870B-4042-A314-5466B502783E}"/>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0" name="footer-page-11">
            <a:extLst>
              <a:ext uri="{FF2B5EF4-FFF2-40B4-BE49-F238E27FC236}">
                <a16:creationId xmlns:a16="http://schemas.microsoft.com/office/drawing/2014/main" id="{4A152817-0825-4EF5-A382-23F50DD12997}"/>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9B87F5"/>
                </a:solidFill>
                <a:latin typeface="Arial"/>
                <a:ea typeface="Arial"/>
                <a:cs typeface="Arial"/>
              </a:rPr>
              <a:t>11</a:t>
            </a:r>
          </a:p>
        </p:txBody>
      </p:sp>
    </p:spTree>
    <p:extLst>
      <p:ext uri="{BB962C8B-B14F-4D97-AF65-F5344CB8AC3E}">
        <p14:creationId xmlns:p14="http://schemas.microsoft.com/office/powerpoint/2010/main" val="269756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0" name="title-9">
            <a:extLst>
              <a:ext uri="{FF2B5EF4-FFF2-40B4-BE49-F238E27FC236}">
                <a16:creationId xmlns:a16="http://schemas.microsoft.com/office/drawing/2014/main" id="{87DB01A0-E30E-440F-8EB6-498521625045}"/>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700" b="1">
                <a:solidFill>
                  <a:srgbClr val="F8FAFC"/>
                </a:solidFill>
                <a:latin typeface="Arial"/>
                <a:ea typeface="Arial"/>
                <a:cs typeface="Arial"/>
              </a:rPr>
              <a:t>Result V — Why GraphSAGE’s two metrics disagree</a:t>
            </a:r>
          </a:p>
        </p:txBody>
      </p:sp>
      <p:sp>
        <p:nvSpPr>
          <p:cNvPr id="2" name="accent-9">
            <a:extLst>
              <a:ext uri="{FF2B5EF4-FFF2-40B4-BE49-F238E27FC236}">
                <a16:creationId xmlns:a16="http://schemas.microsoft.com/office/drawing/2014/main" id="{C5F33333-E63A-48D8-9AC6-439D79ADF9DC}"/>
              </a:ext>
            </a:extLst>
          </p:cNvPr>
          <p:cNvSpPr>
            <a:spLocks noGrp="1"/>
          </p:cNvSpPr>
          <p:nvPr/>
        </p:nvSpPr>
        <p:spPr>
          <a:xfrm>
            <a:off x="476250" y="1057275"/>
            <a:ext cx="1200150" cy="47625"/>
          </a:xfrm>
          <a:prstGeom prst="rect">
            <a:avLst/>
          </a:prstGeom>
          <a:solidFill>
            <a:srgbClr val="9B87F5"/>
          </a:solidFill>
          <a:ln w="0">
            <a:solidFill>
              <a:srgbClr val="000000">
                <a:alpha val="0"/>
              </a:srgbClr>
            </a:solidFill>
            <a:prstDash val="solid"/>
          </a:ln>
        </p:spPr>
      </p:sp>
      <p:sp>
        <p:nvSpPr>
          <p:cNvPr id="3" name="sC-left-title">
            <a:extLst>
              <a:ext uri="{FF2B5EF4-FFF2-40B4-BE49-F238E27FC236}">
                <a16:creationId xmlns:a16="http://schemas.microsoft.com/office/drawing/2014/main" id="{1779E983-B9D0-482B-9B93-334097E7A943}"/>
              </a:ext>
            </a:extLst>
          </p:cNvPr>
          <p:cNvSpPr>
            <a:spLocks noGrp="1"/>
          </p:cNvSpPr>
          <p:nvPr/>
        </p:nvSpPr>
        <p:spPr>
          <a:xfrm>
            <a:off x="390525" y="1571625"/>
            <a:ext cx="47625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111111"/>
                </a:solidFill>
                <a:latin typeface="Arial"/>
                <a:ea typeface="Arial"/>
                <a:cs typeface="Arial"/>
              </a:defRPr>
            </a:pPr>
            <a:r>
              <a:rPr sz="2175" b="1">
                <a:solidFill>
                  <a:srgbClr val="38BDF8"/>
                </a:solidFill>
                <a:latin typeface="Arial"/>
                <a:ea typeface="Arial"/>
                <a:cs typeface="Arial"/>
              </a:rPr>
              <a:t>Collapse onto a direction outside the null space</a:t>
            </a:r>
          </a:p>
        </p:txBody>
      </p:sp>
      <p:sp>
        <p:nvSpPr>
          <p:cNvPr id="4" name="sC-left-body">
            <a:extLst>
              <a:ext uri="{FF2B5EF4-FFF2-40B4-BE49-F238E27FC236}">
                <a16:creationId xmlns:a16="http://schemas.microsoft.com/office/drawing/2014/main" id="{880A59A4-A17A-47E2-B4AF-F1394C8999C2}"/>
              </a:ext>
            </a:extLst>
          </p:cNvPr>
          <p:cNvSpPr>
            <a:spLocks noGrp="1"/>
          </p:cNvSpPr>
          <p:nvPr/>
        </p:nvSpPr>
        <p:spPr>
          <a:xfrm>
            <a:off x="390525" y="2238375"/>
            <a:ext cx="4762500" cy="2857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At depth 16 GraphSAGE’s representation is exactly rank-1: the top singular value carries an energy fraction of 1.0000.</a:t>
            </a:r>
          </a:p>
          <a:p>
            <a:endParaRPr sz="1575" b="0">
              <a:solidFill>
                <a:srgbClr val="D6E0ED"/>
              </a:solidFill>
              <a:latin typeface="Arial"/>
              <a:ea typeface="Arial"/>
              <a:cs typeface="Arial"/>
            </a:endParaRPr>
          </a:p>
          <a:p>
            <a:pPr algn="l">
              <a:buNone/>
              <a:defRPr sz="1650" b="0">
                <a:solidFill>
                  <a:srgbClr val="5F6368"/>
                </a:solidFill>
                <a:latin typeface="Arial"/>
                <a:ea typeface="Arial"/>
                <a:cs typeface="Arial"/>
              </a:defRPr>
            </a:pPr>
            <a:r>
              <a:rPr sz="1575" b="0">
                <a:solidFill>
                  <a:srgbClr val="D6E0ED"/>
                </a:solidFill>
                <a:latin typeface="Arial"/>
                <a:ea typeface="Arial"/>
                <a:cs typeface="Arial"/>
              </a:rPr>
              <a:t>Its top singular vector matches the constant direction at cosine 1.0000, against 0.9512 to the √degree direction.</a:t>
            </a:r>
          </a:p>
          <a:p>
            <a:endParaRPr sz="1575" b="0">
              <a:solidFill>
                <a:srgbClr val="D6E0ED"/>
              </a:solidFill>
              <a:latin typeface="Arial"/>
              <a:ea typeface="Arial"/>
              <a:cs typeface="Arial"/>
            </a:endParaRPr>
          </a:p>
          <a:p>
            <a:pPr algn="l">
              <a:buNone/>
              <a:defRPr sz="1650" b="0">
                <a:solidFill>
                  <a:srgbClr val="5F6368"/>
                </a:solidFill>
                <a:latin typeface="Arial"/>
                <a:ea typeface="Arial"/>
                <a:cs typeface="Arial"/>
              </a:defRPr>
            </a:pPr>
            <a:r>
              <a:rPr sz="1575" b="0">
                <a:solidFill>
                  <a:srgbClr val="D6E0ED"/>
                </a:solidFill>
                <a:latin typeface="Arial"/>
                <a:ea typeface="Arial"/>
                <a:cs typeface="Arial"/>
              </a:rPr>
              <a:t>Cora’s degrees run 2–169, so the augmented Laplacian’s null space is √degree, not the constant vector. Energy cannot vanish however completely MAD collapses.</a:t>
            </a:r>
          </a:p>
        </p:txBody>
      </p:sp>
      <p:sp>
        <p:nvSpPr>
          <p:cNvPr id="5" name="sC-chart-frame">
            <a:extLst>
              <a:ext uri="{FF2B5EF4-FFF2-40B4-BE49-F238E27FC236}">
                <a16:creationId xmlns:a16="http://schemas.microsoft.com/office/drawing/2014/main" id="{327F52F5-A5FC-4E03-B30C-0BA3967FB2EC}"/>
              </a:ext>
            </a:extLst>
          </p:cNvPr>
          <p:cNvSpPr>
            <a:spLocks noGrp="1"/>
          </p:cNvSpPr>
          <p:nvPr/>
        </p:nvSpPr>
        <p:spPr>
          <a:xfrm>
            <a:off x="5905500" y="1219200"/>
            <a:ext cx="5895975" cy="4762500"/>
          </a:xfrm>
          <a:prstGeom prst="roundRect">
            <a:avLst>
              <a:gd name="adj" fmla="val 1600"/>
            </a:avLst>
          </a:prstGeom>
          <a:solidFill>
            <a:srgbClr val="FFFFFF"/>
          </a:solidFill>
          <a:ln w="14288">
            <a:solidFill>
              <a:srgbClr val="2B3C59"/>
            </a:solidFill>
            <a:prstDash val="solid"/>
          </a:ln>
        </p:spPr>
      </p:sp>
      <p:pic>
        <p:nvPicPr>
          <p:cNvPr id="17" name="Picture 16"/>
          <p:cNvPicPr>
            <a:picLocks noChangeAspect="1"/>
          </p:cNvPicPr>
          <p:nvPr/>
        </p:nvPicPr>
        <p:blipFill>
          <a:blip r:embed="rId3"/>
          <a:stretch/>
        </p:blipFill>
        <p:spPr>
          <a:xfrm>
            <a:off x="6143625" y="1531484"/>
            <a:ext cx="5429250" cy="4033157"/>
          </a:xfrm>
          <a:prstGeom prst="rect">
            <a:avLst/>
          </a:prstGeom>
        </p:spPr>
      </p:pic>
      <p:sp>
        <p:nvSpPr>
          <p:cNvPr id="7" name="footer-rule-9">
            <a:extLst>
              <a:ext uri="{FF2B5EF4-FFF2-40B4-BE49-F238E27FC236}">
                <a16:creationId xmlns:a16="http://schemas.microsoft.com/office/drawing/2014/main" id="{5AE57040-FC5B-4BAC-980C-D5F89ABEE351}"/>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8" name="footer-label-9">
            <a:extLst>
              <a:ext uri="{FF2B5EF4-FFF2-40B4-BE49-F238E27FC236}">
                <a16:creationId xmlns:a16="http://schemas.microsoft.com/office/drawing/2014/main" id="{8E44BE69-64EC-47A1-AF02-D3ABFD39642C}"/>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9" name="footer-page-9">
            <a:extLst>
              <a:ext uri="{FF2B5EF4-FFF2-40B4-BE49-F238E27FC236}">
                <a16:creationId xmlns:a16="http://schemas.microsoft.com/office/drawing/2014/main" id="{C5BC1A18-232A-43CD-9C02-5B4712A2C12C}"/>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9B87F5"/>
                </a:solidFill>
                <a:latin typeface="Arial"/>
                <a:ea typeface="Arial"/>
                <a:cs typeface="Arial"/>
              </a:rPr>
              <a:t>13</a:t>
            </a:r>
          </a:p>
        </p:txBody>
      </p:sp>
    </p:spTree>
    <p:extLst>
      <p:ext uri="{BB962C8B-B14F-4D97-AF65-F5344CB8AC3E}">
        <p14:creationId xmlns:p14="http://schemas.microsoft.com/office/powerpoint/2010/main" val="1701380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8" name="title-12">
            <a:extLst>
              <a:ext uri="{FF2B5EF4-FFF2-40B4-BE49-F238E27FC236}">
                <a16:creationId xmlns:a16="http://schemas.microsoft.com/office/drawing/2014/main" id="{9DA71D76-2CD5-41D7-9283-CC4EEB197ABD}"/>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700" b="1">
                <a:solidFill>
                  <a:srgbClr val="F8FAFC"/>
                </a:solidFill>
                <a:latin typeface="Arial"/>
                <a:ea typeface="Arial"/>
                <a:cs typeface="Arial"/>
              </a:rPr>
              <a:t>Intervention transfer — the winning mitigation is architecture-dependent</a:t>
            </a:r>
          </a:p>
        </p:txBody>
      </p:sp>
      <p:sp>
        <p:nvSpPr>
          <p:cNvPr id="2" name="accent-12">
            <a:extLst>
              <a:ext uri="{FF2B5EF4-FFF2-40B4-BE49-F238E27FC236}">
                <a16:creationId xmlns:a16="http://schemas.microsoft.com/office/drawing/2014/main" id="{A01256F0-1F07-48ED-8941-98F45F84B122}"/>
              </a:ext>
            </a:extLst>
          </p:cNvPr>
          <p:cNvSpPr>
            <a:spLocks noGrp="1"/>
          </p:cNvSpPr>
          <p:nvPr/>
        </p:nvSpPr>
        <p:spPr>
          <a:xfrm>
            <a:off x="476250" y="1057275"/>
            <a:ext cx="1200150" cy="47625"/>
          </a:xfrm>
          <a:prstGeom prst="rect">
            <a:avLst/>
          </a:prstGeom>
          <a:solidFill>
            <a:srgbClr val="38BDF8"/>
          </a:solidFill>
          <a:ln w="0">
            <a:solidFill>
              <a:srgbClr val="000000">
                <a:alpha val="0"/>
              </a:srgbClr>
            </a:solidFill>
            <a:prstDash val="solid"/>
          </a:ln>
        </p:spPr>
      </p:sp>
      <p:sp>
        <p:nvSpPr>
          <p:cNvPr id="3" name="sD-chart-frame">
            <a:extLst>
              <a:ext uri="{FF2B5EF4-FFF2-40B4-BE49-F238E27FC236}">
                <a16:creationId xmlns:a16="http://schemas.microsoft.com/office/drawing/2014/main" id="{5D916AED-5A8A-4180-BD5C-CD925D6C6965}"/>
              </a:ext>
            </a:extLst>
          </p:cNvPr>
          <p:cNvSpPr>
            <a:spLocks noGrp="1"/>
          </p:cNvSpPr>
          <p:nvPr/>
        </p:nvSpPr>
        <p:spPr>
          <a:xfrm>
            <a:off x="390525" y="1219200"/>
            <a:ext cx="5715000" cy="4762500"/>
          </a:xfrm>
          <a:prstGeom prst="roundRect">
            <a:avLst>
              <a:gd name="adj" fmla="val 1600"/>
            </a:avLst>
          </a:prstGeom>
          <a:solidFill>
            <a:srgbClr val="FFFFFF"/>
          </a:solidFill>
          <a:ln w="14288">
            <a:solidFill>
              <a:srgbClr val="2B3C59"/>
            </a:solidFill>
            <a:prstDash val="solid"/>
          </a:ln>
        </p:spPr>
      </p:sp>
      <p:pic>
        <p:nvPicPr>
          <p:cNvPr id="23" name="Picture 22"/>
          <p:cNvPicPr>
            <a:picLocks noChangeAspect="1"/>
          </p:cNvPicPr>
          <p:nvPr/>
        </p:nvPicPr>
        <p:blipFill>
          <a:blip r:embed="rId3"/>
          <a:stretch/>
        </p:blipFill>
        <p:spPr>
          <a:xfrm>
            <a:off x="552450" y="1540873"/>
            <a:ext cx="5391150" cy="4004854"/>
          </a:xfrm>
          <a:prstGeom prst="rect">
            <a:avLst/>
          </a:prstGeom>
        </p:spPr>
      </p:pic>
      <p:sp>
        <p:nvSpPr>
          <p:cNvPr id="5" name="sD-panel-0">
            <a:extLst>
              <a:ext uri="{FF2B5EF4-FFF2-40B4-BE49-F238E27FC236}">
                <a16:creationId xmlns:a16="http://schemas.microsoft.com/office/drawing/2014/main" id="{5D0BFA81-662F-45A7-9DDB-53D963CE2C5D}"/>
              </a:ext>
            </a:extLst>
          </p:cNvPr>
          <p:cNvSpPr>
            <a:spLocks noGrp="1"/>
          </p:cNvSpPr>
          <p:nvPr/>
        </p:nvSpPr>
        <p:spPr>
          <a:xfrm>
            <a:off x="6477000" y="1219200"/>
            <a:ext cx="5324475" cy="1381125"/>
          </a:xfrm>
          <a:prstGeom prst="roundRect">
            <a:avLst>
              <a:gd name="adj" fmla="val 5517"/>
            </a:avLst>
          </a:prstGeom>
          <a:solidFill>
            <a:srgbClr val="102D46"/>
          </a:solidFill>
          <a:ln w="16193">
            <a:solidFill>
              <a:srgbClr val="38BDF8"/>
            </a:solidFill>
            <a:prstDash val="solid"/>
          </a:ln>
        </p:spPr>
      </p:sp>
      <p:sp>
        <p:nvSpPr>
          <p:cNvPr id="6" name="sD-stat-0">
            <a:extLst>
              <a:ext uri="{FF2B5EF4-FFF2-40B4-BE49-F238E27FC236}">
                <a16:creationId xmlns:a16="http://schemas.microsoft.com/office/drawing/2014/main" id="{3342E3F4-1D61-4B1A-9F79-9BE613BA8DC7}"/>
              </a:ext>
            </a:extLst>
          </p:cNvPr>
          <p:cNvSpPr>
            <a:spLocks noGrp="1"/>
          </p:cNvSpPr>
          <p:nvPr/>
        </p:nvSpPr>
        <p:spPr>
          <a:xfrm>
            <a:off x="6762750" y="1409700"/>
            <a:ext cx="2095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925" b="1">
                <a:solidFill>
                  <a:srgbClr val="3D8DFF"/>
                </a:solidFill>
                <a:latin typeface="Arial"/>
                <a:ea typeface="Arial"/>
                <a:cs typeface="Arial"/>
              </a:defRPr>
            </a:pPr>
            <a:r>
              <a:rPr sz="3000" b="1">
                <a:solidFill>
                  <a:srgbClr val="38BDF8"/>
                </a:solidFill>
                <a:latin typeface="Arial"/>
                <a:ea typeface="Arial"/>
                <a:cs typeface="Arial"/>
              </a:rPr>
              <a:t>73.13%</a:t>
            </a:r>
          </a:p>
        </p:txBody>
      </p:sp>
      <p:sp>
        <p:nvSpPr>
          <p:cNvPr id="7" name="sD-label-0">
            <a:extLst>
              <a:ext uri="{FF2B5EF4-FFF2-40B4-BE49-F238E27FC236}">
                <a16:creationId xmlns:a16="http://schemas.microsoft.com/office/drawing/2014/main" id="{9AC6DB6B-9595-4755-AFF7-E6946C6E753F}"/>
              </a:ext>
            </a:extLst>
          </p:cNvPr>
          <p:cNvSpPr>
            <a:spLocks noGrp="1"/>
          </p:cNvSpPr>
          <p:nvPr/>
        </p:nvSpPr>
        <p:spPr>
          <a:xfrm>
            <a:off x="9048750" y="1543050"/>
            <a:ext cx="2333625"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1425" b="0">
                <a:solidFill>
                  <a:srgbClr val="5F6368"/>
                </a:solidFill>
                <a:latin typeface="Arial"/>
                <a:ea typeface="Arial"/>
                <a:cs typeface="Arial"/>
              </a:defRPr>
            </a:pPr>
            <a:r>
              <a:rPr sz="1350" b="0">
                <a:solidFill>
                  <a:srgbClr val="D6E0ED"/>
                </a:solidFill>
                <a:latin typeface="Arial"/>
                <a:ea typeface="Arial"/>
                <a:cs typeface="Arial"/>
              </a:rPr>
              <a:t>GCN + JK · macro-F1 0.7249</a:t>
            </a:r>
          </a:p>
        </p:txBody>
      </p:sp>
      <p:sp>
        <p:nvSpPr>
          <p:cNvPr id="8" name="sD-win">
            <a:extLst>
              <a:ext uri="{FF2B5EF4-FFF2-40B4-BE49-F238E27FC236}">
                <a16:creationId xmlns:a16="http://schemas.microsoft.com/office/drawing/2014/main" id="{A2963CF7-93F0-424A-8091-B0AEFAB6741F}"/>
              </a:ext>
            </a:extLst>
          </p:cNvPr>
          <p:cNvSpPr>
            <a:spLocks noGrp="1"/>
          </p:cNvSpPr>
          <p:nvPr/>
        </p:nvSpPr>
        <p:spPr>
          <a:xfrm>
            <a:off x="6762750" y="2095500"/>
            <a:ext cx="2857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3D8DFF"/>
                </a:solidFill>
                <a:latin typeface="Arial"/>
                <a:ea typeface="Arial"/>
                <a:cs typeface="Arial"/>
              </a:defRPr>
            </a:pPr>
            <a:r>
              <a:rPr sz="1200" b="1">
                <a:solidFill>
                  <a:srgbClr val="38BDF8"/>
                </a:solidFill>
                <a:latin typeface="Arial"/>
                <a:ea typeface="Arial"/>
                <a:cs typeface="Arial"/>
              </a:rPr>
              <a:t>JK transfers to GAT, not to GraphSAGE</a:t>
            </a:r>
          </a:p>
        </p:txBody>
      </p:sp>
      <p:sp>
        <p:nvSpPr>
          <p:cNvPr id="9" name="sD-panel-1">
            <a:extLst>
              <a:ext uri="{FF2B5EF4-FFF2-40B4-BE49-F238E27FC236}">
                <a16:creationId xmlns:a16="http://schemas.microsoft.com/office/drawing/2014/main" id="{1ACBF6A6-FCA4-4016-A9BD-76CE8FC8BE54}"/>
              </a:ext>
            </a:extLst>
          </p:cNvPr>
          <p:cNvSpPr>
            <a:spLocks noGrp="1"/>
          </p:cNvSpPr>
          <p:nvPr/>
        </p:nvSpPr>
        <p:spPr>
          <a:xfrm>
            <a:off x="6477000" y="2895600"/>
            <a:ext cx="5324475" cy="1381125"/>
          </a:xfrm>
          <a:prstGeom prst="roundRect">
            <a:avLst>
              <a:gd name="adj" fmla="val 5517"/>
            </a:avLst>
          </a:prstGeom>
          <a:solidFill>
            <a:srgbClr val="13243B"/>
          </a:solidFill>
          <a:ln w="11906">
            <a:solidFill>
              <a:srgbClr val="9B87F5"/>
            </a:solidFill>
            <a:prstDash val="solid"/>
          </a:ln>
        </p:spPr>
      </p:sp>
      <p:sp>
        <p:nvSpPr>
          <p:cNvPr id="10" name="sD-stat-1">
            <a:extLst>
              <a:ext uri="{FF2B5EF4-FFF2-40B4-BE49-F238E27FC236}">
                <a16:creationId xmlns:a16="http://schemas.microsoft.com/office/drawing/2014/main" id="{9AEAE7D2-A43A-484E-A555-04C5207F6801}"/>
              </a:ext>
            </a:extLst>
          </p:cNvPr>
          <p:cNvSpPr>
            <a:spLocks noGrp="1"/>
          </p:cNvSpPr>
          <p:nvPr/>
        </p:nvSpPr>
        <p:spPr>
          <a:xfrm>
            <a:off x="6762750" y="3086100"/>
            <a:ext cx="2095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925" b="1">
                <a:solidFill>
                  <a:srgbClr val="111111"/>
                </a:solidFill>
                <a:latin typeface="Arial"/>
                <a:ea typeface="Arial"/>
                <a:cs typeface="Arial"/>
              </a:defRPr>
            </a:pPr>
            <a:r>
              <a:rPr sz="3000" b="1">
                <a:solidFill>
                  <a:srgbClr val="9B87F5"/>
                </a:solidFill>
                <a:latin typeface="Arial"/>
                <a:ea typeface="Arial"/>
                <a:cs typeface="Arial"/>
              </a:rPr>
              <a:t>72.09%</a:t>
            </a:r>
          </a:p>
        </p:txBody>
      </p:sp>
      <p:sp>
        <p:nvSpPr>
          <p:cNvPr id="11" name="sD-label-1">
            <a:extLst>
              <a:ext uri="{FF2B5EF4-FFF2-40B4-BE49-F238E27FC236}">
                <a16:creationId xmlns:a16="http://schemas.microsoft.com/office/drawing/2014/main" id="{29B14939-8764-4278-8E9E-B083C69D3566}"/>
              </a:ext>
            </a:extLst>
          </p:cNvPr>
          <p:cNvSpPr>
            <a:spLocks noGrp="1"/>
          </p:cNvSpPr>
          <p:nvPr/>
        </p:nvSpPr>
        <p:spPr>
          <a:xfrm>
            <a:off x="9048750" y="3219450"/>
            <a:ext cx="2333625"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1425" b="0">
                <a:solidFill>
                  <a:srgbClr val="5F6368"/>
                </a:solidFill>
                <a:latin typeface="Arial"/>
                <a:ea typeface="Arial"/>
                <a:cs typeface="Arial"/>
              </a:defRPr>
            </a:pPr>
            <a:r>
              <a:rPr sz="1350" b="0">
                <a:solidFill>
                  <a:srgbClr val="D6E0ED"/>
                </a:solidFill>
                <a:latin typeface="Arial"/>
                <a:ea typeface="Arial"/>
                <a:cs typeface="Arial"/>
              </a:rPr>
              <a:t>GAT + JK · macro-F1 0.7252</a:t>
            </a:r>
          </a:p>
        </p:txBody>
      </p:sp>
      <p:sp>
        <p:nvSpPr>
          <p:cNvPr id="12" name="sD-panel-2">
            <a:extLst>
              <a:ext uri="{FF2B5EF4-FFF2-40B4-BE49-F238E27FC236}">
                <a16:creationId xmlns:a16="http://schemas.microsoft.com/office/drawing/2014/main" id="{82E971F3-CCD3-40ED-B2C0-3916129CA463}"/>
              </a:ext>
            </a:extLst>
          </p:cNvPr>
          <p:cNvSpPr>
            <a:spLocks noGrp="1"/>
          </p:cNvSpPr>
          <p:nvPr/>
        </p:nvSpPr>
        <p:spPr>
          <a:xfrm>
            <a:off x="6477000" y="4572000"/>
            <a:ext cx="5324475" cy="1381125"/>
          </a:xfrm>
          <a:prstGeom prst="roundRect">
            <a:avLst>
              <a:gd name="adj" fmla="val 5517"/>
            </a:avLst>
          </a:prstGeom>
          <a:solidFill>
            <a:srgbClr val="13243B"/>
          </a:solidFill>
          <a:ln w="11906">
            <a:solidFill>
              <a:srgbClr val="F4C15D"/>
            </a:solidFill>
            <a:prstDash val="solid"/>
          </a:ln>
        </p:spPr>
      </p:sp>
      <p:sp>
        <p:nvSpPr>
          <p:cNvPr id="13" name="sD-stat-2">
            <a:extLst>
              <a:ext uri="{FF2B5EF4-FFF2-40B4-BE49-F238E27FC236}">
                <a16:creationId xmlns:a16="http://schemas.microsoft.com/office/drawing/2014/main" id="{94F80BAC-A360-4CE7-94B0-1697339EF65C}"/>
              </a:ext>
            </a:extLst>
          </p:cNvPr>
          <p:cNvSpPr>
            <a:spLocks noGrp="1"/>
          </p:cNvSpPr>
          <p:nvPr/>
        </p:nvSpPr>
        <p:spPr>
          <a:xfrm>
            <a:off x="6762750" y="4762500"/>
            <a:ext cx="2095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925" b="1">
                <a:solidFill>
                  <a:srgbClr val="111111"/>
                </a:solidFill>
                <a:latin typeface="Arial"/>
                <a:ea typeface="Arial"/>
                <a:cs typeface="Arial"/>
              </a:defRPr>
            </a:pPr>
            <a:r>
              <a:rPr sz="3000" b="1">
                <a:solidFill>
                  <a:srgbClr val="F4C15D"/>
                </a:solidFill>
                <a:latin typeface="Arial"/>
                <a:ea typeface="Arial"/>
                <a:cs typeface="Arial"/>
              </a:rPr>
              <a:t>40.47%</a:t>
            </a:r>
          </a:p>
        </p:txBody>
      </p:sp>
      <p:sp>
        <p:nvSpPr>
          <p:cNvPr id="14" name="sD-label-2">
            <a:extLst>
              <a:ext uri="{FF2B5EF4-FFF2-40B4-BE49-F238E27FC236}">
                <a16:creationId xmlns:a16="http://schemas.microsoft.com/office/drawing/2014/main" id="{A3C755AB-9654-4D9D-BA59-FE7E23BB9068}"/>
              </a:ext>
            </a:extLst>
          </p:cNvPr>
          <p:cNvSpPr>
            <a:spLocks noGrp="1"/>
          </p:cNvSpPr>
          <p:nvPr/>
        </p:nvSpPr>
        <p:spPr>
          <a:xfrm>
            <a:off x="9048750" y="4895850"/>
            <a:ext cx="2333625"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1425" b="0">
                <a:solidFill>
                  <a:srgbClr val="5F6368"/>
                </a:solidFill>
                <a:latin typeface="Arial"/>
                <a:ea typeface="Arial"/>
                <a:cs typeface="Arial"/>
              </a:defRPr>
            </a:pPr>
            <a:r>
              <a:rPr sz="1350" b="0">
                <a:solidFill>
                  <a:srgbClr val="D6E0ED"/>
                </a:solidFill>
                <a:latin typeface="Arial"/>
                <a:ea typeface="Arial"/>
                <a:cs typeface="Arial"/>
              </a:rPr>
              <a:t>GraphSAGE + JK · macro-F1 0.2611</a:t>
            </a:r>
          </a:p>
        </p:txBody>
      </p:sp>
      <p:sp>
        <p:nvSpPr>
          <p:cNvPr id="15" name="footer-rule-12">
            <a:extLst>
              <a:ext uri="{FF2B5EF4-FFF2-40B4-BE49-F238E27FC236}">
                <a16:creationId xmlns:a16="http://schemas.microsoft.com/office/drawing/2014/main" id="{4C17A744-7019-49A7-BFB7-03528B0F770D}"/>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6" name="footer-label-12">
            <a:extLst>
              <a:ext uri="{FF2B5EF4-FFF2-40B4-BE49-F238E27FC236}">
                <a16:creationId xmlns:a16="http://schemas.microsoft.com/office/drawing/2014/main" id="{39CA8573-2E0C-4F50-9C37-659E7334F5B4}"/>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7" name="footer-page-12">
            <a:extLst>
              <a:ext uri="{FF2B5EF4-FFF2-40B4-BE49-F238E27FC236}">
                <a16:creationId xmlns:a16="http://schemas.microsoft.com/office/drawing/2014/main" id="{8E46B01D-53AF-4D7B-BADC-C5D2CAC0DEAA}"/>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38BDF8"/>
                </a:solidFill>
                <a:latin typeface="Arial"/>
                <a:ea typeface="Arial"/>
                <a:cs typeface="Arial"/>
              </a:rPr>
              <a:t>16</a:t>
            </a:r>
          </a:p>
        </p:txBody>
      </p:sp>
    </p:spTree>
    <p:extLst>
      <p:ext uri="{BB962C8B-B14F-4D97-AF65-F5344CB8AC3E}">
        <p14:creationId xmlns:p14="http://schemas.microsoft.com/office/powerpoint/2010/main" val="2497575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1803</Words>
  <Application>Microsoft Office PowerPoint</Application>
  <DocSecurity>0</DocSecurity>
  <PresentationFormat>Widescreen</PresentationFormat>
  <Paragraphs>193</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Yiheng Wu</cp:lastModifiedBy>
  <cp:revision>1</cp:revision>
  <dcterms:created xsi:type="dcterms:W3CDTF">2026-08-01T20:11:46Z</dcterms:created>
  <dcterms:modified xsi:type="dcterms:W3CDTF">2026-08-01T20:24:54Z</dcterms:modified>
</cp:coreProperties>
</file>